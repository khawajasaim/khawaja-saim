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Default Extension="fntdata" ContentType="application/x-fontdata"/>
</Types>
</file>

<file path=_rels/.rels>&#65279;<?xml version="1.0" encoding="utf-8"?><Relationships xmlns="http://schemas.openxmlformats.org/package/2006/relationships"><Relationship Type="http://schemas.openxmlformats.org/package/2006/relationships/metadata/core-properties" Target="/docProps/core.xml" Id="Ra1fa95b5be3545fb" /><Relationship Type="http://schemas.openxmlformats.org/officeDocument/2006/relationships/extended-properties" Target="/docProps/app.xml" Id="R1b22d62725024bac" /><Relationship Type="http://schemas.openxmlformats.org/officeDocument/2006/relationships/officeDocument" Target="/ppt/presentation.xml" Id="R776f1c8de423481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e194e9b03a8497d"/>
  </p:sldMasterIdLst>
  <p:notesMasterIdLst>
    <p:notesMasterId xmlns:r="http://schemas.openxmlformats.org/officeDocument/2006/relationships" r:id="R67ceeb192e0043a3"/>
  </p:notesMasterIdLst>
  <p:sldIdLst>
    <p:sldId xmlns:r="http://schemas.openxmlformats.org/officeDocument/2006/relationships" id="256" r:id="R702147119f1f4da4"/>
    <p:sldId xmlns:r="http://schemas.openxmlformats.org/officeDocument/2006/relationships" id="257" r:id="R3351fba2bde94928"/>
    <p:sldId xmlns:r="http://schemas.openxmlformats.org/officeDocument/2006/relationships" id="258" r:id="Rd4da48a468ff4dae"/>
    <p:sldId xmlns:r="http://schemas.openxmlformats.org/officeDocument/2006/relationships" id="259" r:id="R51ecbfe9f91e42a7"/>
    <p:sldId xmlns:r="http://schemas.openxmlformats.org/officeDocument/2006/relationships" id="260" r:id="R9e70858e8b564922"/>
    <p:sldId xmlns:r="http://schemas.openxmlformats.org/officeDocument/2006/relationships" id="261" r:id="R82e4cabae0d44675"/>
    <p:sldId xmlns:r="http://schemas.openxmlformats.org/officeDocument/2006/relationships" id="262" r:id="R44c2a7146c5d44dc"/>
    <p:sldId xmlns:r="http://schemas.openxmlformats.org/officeDocument/2006/relationships" id="263" r:id="R1c86559553ef4ca4"/>
    <p:sldId xmlns:r="http://schemas.openxmlformats.org/officeDocument/2006/relationships" id="264" r:id="R3f409de7e48c4090"/>
    <p:sldId xmlns:r="http://schemas.openxmlformats.org/officeDocument/2006/relationships" id="265" r:id="R9afadff2a0cf407a"/>
    <p:sldId xmlns:r="http://schemas.openxmlformats.org/officeDocument/2006/relationships" id="266" r:id="R1dd0082a83944fe6"/>
    <p:sldId xmlns:r="http://schemas.openxmlformats.org/officeDocument/2006/relationships" id="267" r:id="R3b7aab8c2ce04573"/>
    <p:sldId xmlns:r="http://schemas.openxmlformats.org/officeDocument/2006/relationships" id="268" r:id="R1751cf8c8b7641c8"/>
    <p:sldId xmlns:r="http://schemas.openxmlformats.org/officeDocument/2006/relationships" id="269" r:id="Ra8887302eb2944a6"/>
    <p:sldId xmlns:r="http://schemas.openxmlformats.org/officeDocument/2006/relationships" id="270" r:id="R3882cf85a9e74aee"/>
    <p:sldId xmlns:r="http://schemas.openxmlformats.org/officeDocument/2006/relationships" id="271" r:id="Ra84450e8da2b48e1"/>
    <p:sldId xmlns:r="http://schemas.openxmlformats.org/officeDocument/2006/relationships" id="272" r:id="R5bdc7a0d26df4fc0"/>
    <p:sldId xmlns:r="http://schemas.openxmlformats.org/officeDocument/2006/relationships" id="273" r:id="R62a98b850d704c1e"/>
    <p:sldId xmlns:r="http://schemas.openxmlformats.org/officeDocument/2006/relationships" id="274" r:id="Ra84a31519f224dd3"/>
    <p:sldId xmlns:r="http://schemas.openxmlformats.org/officeDocument/2006/relationships" id="275" r:id="R3362c5a7a4f448b5"/>
    <p:sldId xmlns:r="http://schemas.openxmlformats.org/officeDocument/2006/relationships" id="276" r:id="Rd959a7e36c54441b"/>
  </p:sldIdLst>
  <p:sldSz cx="12192000" cy="6858000"/>
  <p:notesSz cx="6858000" cy="9144000"/>
  <p:embeddedFontLst>
    <p:embeddedFont>
      <p:font typeface="Sora"/>
      <p:regular xmlns:ns0="http://schemas.openxmlformats.org/officeDocument/2006/relationships" ns0:id="rIdEmbeddedFont1"/>
      <p:bold xmlns:ns1="http://schemas.openxmlformats.org/officeDocument/2006/relationships" ns1:id="rIdEmbeddedFont2"/>
    </p:embeddedFont>
    <p:embeddedFont>
      <p:font typeface="Manrope"/>
      <p:regular xmlns:ns2="http://schemas.openxmlformats.org/officeDocument/2006/relationships" ns2:id="rIdEmbeddedFont3"/>
      <p:bold xmlns:ns3="http://schemas.openxmlformats.org/officeDocument/2006/relationships" ns3:id="rIdEmbeddedFont4"/>
    </p:embeddedFont>
    <p:embeddedFont>
      <p:font typeface="Caveat"/>
      <p:regular xmlns:ns4="http://schemas.openxmlformats.org/officeDocument/2006/relationships" ns4:id="rIdEmbeddedFont5"/>
      <p:bold xmlns:ns5="http://schemas.openxmlformats.org/officeDocument/2006/relationships" ns5:id="rIdEmbeddedFont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734b6f27e5494159"/><Relationship Type="http://schemas.openxmlformats.org/officeDocument/2006/relationships/slideMaster" Target="/ppt/slideMasters/slideMaster1.xml" Id="R3e194e9b03a8497d"/><Relationship Type="http://schemas.openxmlformats.org/officeDocument/2006/relationships/notesMaster" Target="/ppt/notesMasters/notesMaster1.xml" Id="R67ceeb192e0043a3"/><Relationship Type="http://schemas.openxmlformats.org/officeDocument/2006/relationships/presProps" Target="/ppt/presProps.xml" Id="R465db4e16f0e4df8"/><Relationship Type="http://schemas.openxmlformats.org/officeDocument/2006/relationships/tableStyles" Target="/ppt/tableStyles.xml" Id="R4581f46a9c1045b1"/><Relationship Type="http://schemas.openxmlformats.org/officeDocument/2006/relationships/slide" Target="/ppt/slides/slide1.xml" Id="R702147119f1f4da4"/><Relationship Type="http://schemas.openxmlformats.org/officeDocument/2006/relationships/slide" Target="/ppt/slides/slide2.xml" Id="R3351fba2bde94928"/><Relationship Type="http://schemas.openxmlformats.org/officeDocument/2006/relationships/slide" Target="/ppt/slides/slide3.xml" Id="Rd4da48a468ff4dae"/><Relationship Type="http://schemas.openxmlformats.org/officeDocument/2006/relationships/slide" Target="/ppt/slides/slide4.xml" Id="R51ecbfe9f91e42a7"/><Relationship Type="http://schemas.openxmlformats.org/officeDocument/2006/relationships/slide" Target="/ppt/slides/slide5.xml" Id="R9e70858e8b564922"/><Relationship Type="http://schemas.openxmlformats.org/officeDocument/2006/relationships/slide" Target="/ppt/slides/slide6.xml" Id="R82e4cabae0d44675"/><Relationship Type="http://schemas.openxmlformats.org/officeDocument/2006/relationships/slide" Target="/ppt/slides/slide7.xml" Id="R44c2a7146c5d44dc"/><Relationship Type="http://schemas.openxmlformats.org/officeDocument/2006/relationships/slide" Target="/ppt/slides/slide8.xml" Id="R1c86559553ef4ca4"/><Relationship Type="http://schemas.openxmlformats.org/officeDocument/2006/relationships/slide" Target="/ppt/slides/slide9.xml" Id="R3f409de7e48c4090"/><Relationship Type="http://schemas.openxmlformats.org/officeDocument/2006/relationships/slide" Target="/ppt/slides/slide10.xml" Id="R9afadff2a0cf407a"/><Relationship Type="http://schemas.openxmlformats.org/officeDocument/2006/relationships/slide" Target="/ppt/slides/slide11.xml" Id="R1dd0082a83944fe6"/><Relationship Type="http://schemas.openxmlformats.org/officeDocument/2006/relationships/slide" Target="/ppt/slides/slide12.xml" Id="R3b7aab8c2ce04573"/><Relationship Type="http://schemas.openxmlformats.org/officeDocument/2006/relationships/slide" Target="/ppt/slides/slide13.xml" Id="R1751cf8c8b7641c8"/><Relationship Type="http://schemas.openxmlformats.org/officeDocument/2006/relationships/slide" Target="/ppt/slides/slide14.xml" Id="Ra8887302eb2944a6"/><Relationship Type="http://schemas.openxmlformats.org/officeDocument/2006/relationships/slide" Target="/ppt/slides/slide15.xml" Id="R3882cf85a9e74aee"/><Relationship Type="http://schemas.openxmlformats.org/officeDocument/2006/relationships/slide" Target="/ppt/slides/slide16.xml" Id="Ra84450e8da2b48e1"/><Relationship Type="http://schemas.openxmlformats.org/officeDocument/2006/relationships/slide" Target="/ppt/slides/slide17.xml" Id="R5bdc7a0d26df4fc0"/><Relationship Type="http://schemas.openxmlformats.org/officeDocument/2006/relationships/slide" Target="/ppt/slides/slide18.xml" Id="R62a98b850d704c1e"/><Relationship Type="http://schemas.openxmlformats.org/officeDocument/2006/relationships/slide" Target="/ppt/slides/slide19.xml" Id="Ra84a31519f224dd3"/><Relationship Type="http://schemas.openxmlformats.org/officeDocument/2006/relationships/slide" Target="/ppt/slides/slide20.xml" Id="R3362c5a7a4f448b5"/><Relationship Type="http://schemas.openxmlformats.org/officeDocument/2006/relationships/slide" Target="/ppt/slides/slide21.xml" Id="Rd959a7e36c54441b"/><Relationship Id="rIdEmbeddedFont1" Type="http://schemas.openxmlformats.org/officeDocument/2006/relationships/font" Target="fonts/font1.fntdata"/><Relationship Id="rIdEmbeddedFont2" Type="http://schemas.openxmlformats.org/officeDocument/2006/relationships/font" Target="fonts/font2.fntdata"/><Relationship Id="rIdEmbeddedFont3" Type="http://schemas.openxmlformats.org/officeDocument/2006/relationships/font" Target="fonts/font3.fntdata"/><Relationship Id="rIdEmbeddedFont4" Type="http://schemas.openxmlformats.org/officeDocument/2006/relationships/font" Target="fonts/font4.fntdata"/><Relationship Id="rIdEmbeddedFont5" Type="http://schemas.openxmlformats.org/officeDocument/2006/relationships/font" Target="fonts/font5.fntdata"/><Relationship Id="rIdEmbeddedFont6" Type="http://schemas.openxmlformats.org/officeDocument/2006/relationships/font" Target="fonts/font6.fntdata"/></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b6ff313fdf4c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nrope"/>
        <a:ea typeface=""/>
        <a:cs typeface=""/>
      </a:majorFont>
      <a:minorFont>
        <a:latin typeface="Manrop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6671e69d184239" /><Relationship Type="http://schemas.openxmlformats.org/officeDocument/2006/relationships/notesMaster" Target="/ppt/notesMasters/notesMaster1.xml" Id="R598d6e8957d44b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40807951d341d9" /><Relationship Type="http://schemas.openxmlformats.org/officeDocument/2006/relationships/notesMaster" Target="/ppt/notesMasters/notesMaster1.xml" Id="R1c3abc59a4d944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1bb10462734f79" /><Relationship Type="http://schemas.openxmlformats.org/officeDocument/2006/relationships/notesMaster" Target="/ppt/notesMasters/notesMaster1.xml" Id="R08c18e56f6ba4b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0b582603cb4873" /><Relationship Type="http://schemas.openxmlformats.org/officeDocument/2006/relationships/notesMaster" Target="/ppt/notesMasters/notesMaster1.xml" Id="R0f4a2c3aa6c443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71922d7ec54553" /><Relationship Type="http://schemas.openxmlformats.org/officeDocument/2006/relationships/notesMaster" Target="/ppt/notesMasters/notesMaster1.xml" Id="R977d2dc1bbd940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0a563fbe384de9" /><Relationship Type="http://schemas.openxmlformats.org/officeDocument/2006/relationships/notesMaster" Target="/ppt/notesMasters/notesMaster1.xml" Id="R3f0f46f453694a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4e5773d74c42ae" /><Relationship Type="http://schemas.openxmlformats.org/officeDocument/2006/relationships/notesMaster" Target="/ppt/notesMasters/notesMaster1.xml" Id="Rb1a1c5bcf3cb42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7dbca13b964e68" /><Relationship Type="http://schemas.openxmlformats.org/officeDocument/2006/relationships/notesMaster" Target="/ppt/notesMasters/notesMaster1.xml" Id="R82412fdf1d6c43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5598ddd27e4838" /><Relationship Type="http://schemas.openxmlformats.org/officeDocument/2006/relationships/notesMaster" Target="/ppt/notesMasters/notesMaster1.xml" Id="Rf80a8b8bb3624b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da26bfbe4845a9" /><Relationship Type="http://schemas.openxmlformats.org/officeDocument/2006/relationships/notesMaster" Target="/ppt/notesMasters/notesMaster1.xml" Id="Re0e78ff6802145c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cbef362ac54274" /><Relationship Type="http://schemas.openxmlformats.org/officeDocument/2006/relationships/notesMaster" Target="/ppt/notesMasters/notesMaster1.xml" Id="Rccddfaaa26cf4f9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ae2f7916ff4001" /><Relationship Type="http://schemas.openxmlformats.org/officeDocument/2006/relationships/notesMaster" Target="/ppt/notesMasters/notesMaster1.xml" Id="R55ffb6d3b93f4d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4326cfb55641e3" /><Relationship Type="http://schemas.openxmlformats.org/officeDocument/2006/relationships/notesMaster" Target="/ppt/notesMasters/notesMaster1.xml" Id="Rdf58b774d6f447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10d67caea614bfe" /><Relationship Type="http://schemas.openxmlformats.org/officeDocument/2006/relationships/notesMaster" Target="/ppt/notesMasters/notesMaster1.xml" Id="R72bb547c38294d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c1d51269994ea1" /><Relationship Type="http://schemas.openxmlformats.org/officeDocument/2006/relationships/notesMaster" Target="/ppt/notesMasters/notesMaster1.xml" Id="R6c15115f856546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acbe2b0d584055" /><Relationship Type="http://schemas.openxmlformats.org/officeDocument/2006/relationships/notesMaster" Target="/ppt/notesMasters/notesMaster1.xml" Id="R4b71c409abdf48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46589980534282" /><Relationship Type="http://schemas.openxmlformats.org/officeDocument/2006/relationships/notesMaster" Target="/ppt/notesMasters/notesMaster1.xml" Id="Rbd146264679a475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27f718d01d44ba" /><Relationship Type="http://schemas.openxmlformats.org/officeDocument/2006/relationships/notesMaster" Target="/ppt/notesMasters/notesMaster1.xml" Id="R1bdd6b8d0cc84a4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5e3c48e5ba74bae" /><Relationship Type="http://schemas.openxmlformats.org/officeDocument/2006/relationships/notesMaster" Target="/ppt/notesMasters/notesMaster1.xml" Id="R05d7ba744f81415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ddd2de873014b10" /><Relationship Type="http://schemas.openxmlformats.org/officeDocument/2006/relationships/notesMaster" Target="/ppt/notesMasters/notesMaster1.xml" Id="R8135af153c2a440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5790749ac724fd1" /><Relationship Type="http://schemas.openxmlformats.org/officeDocument/2006/relationships/notesMaster" Target="/ppt/notesMasters/notesMaster1.xml" Id="Rd700b90ef84b48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 Independent concept project. No simulated campaign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 Independent concept project. Strategy and testing framework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Khawaja Saim Paid Ads Portfolio Final v8 and user-approved portfolio website content. This conversation confirms 59 TrendElite orders and five additional advertising campaigns. Decorative Meta, apparel, home decor and skincare imagery is illustrative, not campaign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8a09f7515942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2b94f555e52436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d3485d161c4a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e2683b68a7464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2206c77e4224e6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16ba38e5a84e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02025F-6489-4A9B-BB49-795E8929CBF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6956E0C-C39F-4854-AB5D-A6109094916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0F65A2-E03A-4F97-97FA-2BEF59675CA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09154A-9F75-47F8-A3A0-F66315F478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F016322-6550-4DCF-8816-6259ED9ECF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454567C-8DA6-4AB3-B225-B8FA5B7B53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D0E0A1-AE95-45F7-9FCC-41C1E6559BA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98ED974-6E66-4F23-AF22-7B5153D3D5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645354-F2DF-44DF-91C0-061A6C0EC6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D3D182-268F-4D29-A19D-42F7D540C0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0a283423d14ca8" /><Relationship Type="http://schemas.openxmlformats.org/officeDocument/2006/relationships/slideLayout" Target="/ppt/slideLayouts/slideLayout1.xml" Id="Rf6e66c0696424fcf" /><Relationship Type="http://schemas.openxmlformats.org/officeDocument/2006/relationships/slideLayout" Target="/ppt/slideLayouts/slideLayout2.xml" Id="R4605581f57074e1f" /><Relationship Type="http://schemas.openxmlformats.org/officeDocument/2006/relationships/slideLayout" Target="/ppt/slideLayouts/slideLayout3.xml" Id="R1253759312a84b52" /><Relationship Type="http://schemas.openxmlformats.org/officeDocument/2006/relationships/slideLayout" Target="/ppt/slideLayouts/slideLayout4.xml" Id="R99be2919bac941f4" /><Relationship Type="http://schemas.openxmlformats.org/officeDocument/2006/relationships/slideLayout" Target="/ppt/slideLayouts/slideLayout5.xml" Id="R873dfcef020347db" /><Relationship Type="http://schemas.openxmlformats.org/officeDocument/2006/relationships/slideLayout" Target="/ppt/slideLayouts/slideLayout6.xml" Id="Ra60e52e93d9a45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e66c0696424fcf"/>
    <p:sldLayoutId xmlns:r="http://schemas.openxmlformats.org/officeDocument/2006/relationships" id="2147483650" r:id="R4605581f57074e1f"/>
    <p:sldLayoutId xmlns:r="http://schemas.openxmlformats.org/officeDocument/2006/relationships" id="2147483651" r:id="R1253759312a84b52"/>
    <p:sldLayoutId xmlns:r="http://schemas.openxmlformats.org/officeDocument/2006/relationships" id="2147483652" r:id="R99be2919bac941f4"/>
    <p:sldLayoutId xmlns:r="http://schemas.openxmlformats.org/officeDocument/2006/relationships" id="2147483653" r:id="R873dfcef020347db"/>
    <p:sldLayoutId xmlns:r="http://schemas.openxmlformats.org/officeDocument/2006/relationships" id="2147483654" r:id="Ra60e52e93d9a45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nrope"/>
        <a:ea typeface=""/>
        <a:cs typeface=""/>
      </a:majorFont>
      <a:minorFont>
        <a:latin typeface="Manrop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1ac3fd6e3c514a6e"/><Relationship Type="http://schemas.openxmlformats.org/officeDocument/2006/relationships/image" Target="../media/banner-image.png" Id="R8e1da9fad5f342fc"/><Relationship Type="http://schemas.openxmlformats.org/officeDocument/2006/relationships/image" Target="../media/banner-image2.png" Id="Rf4f5025993944305"/><Relationship Type="http://schemas.openxmlformats.org/officeDocument/2006/relationships/hyperlink" Target="https://khawajasaim.github.io/Khawaja-Saim/" TargetMode="External" Id="R45f1a4c7655e4d5d"/><Relationship Type="http://schemas.openxmlformats.org/officeDocument/2006/relationships/notesSlide" Target="/ppt/notesSlides/notesSlide1.xml" Id="R5fdd4eb5e6754c9c"/></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c3ed69f84024461" /><Relationship Type="http://schemas.openxmlformats.org/officeDocument/2006/relationships/image" Target="/ppt/media/image3.png" Id="R4151ea20885d44bb" /><Relationship Type="http://schemas.openxmlformats.org/officeDocument/2006/relationships/notesSlide" Target="/ppt/notesSlides/notesSlide2.xml" Id="R4be65290d8bd4a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b14ec24f85b4da6" /><Relationship Type="http://schemas.openxmlformats.org/officeDocument/2006/relationships/image" Target="/ppt/media/image4.png" Id="Rc66fb3c12e8c40b9" /><Relationship Type="http://schemas.openxmlformats.org/officeDocument/2006/relationships/notesSlide" Target="/ppt/notesSlides/notesSlide3.xml" Id="Re8b14e31817045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1cc371354640d8" /><Relationship Type="http://schemas.openxmlformats.org/officeDocument/2006/relationships/chart" Target="/ppt/slides/charts/chart1.xml" Id="R41e55b9330c44289" /><Relationship Type="http://schemas.openxmlformats.org/officeDocument/2006/relationships/notesSlide" Target="/ppt/notesSlides/notesSlide4.xml" Id="Rc8381a24cc6544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c56a4d9a6b4b86" /><Relationship Type="http://schemas.openxmlformats.org/officeDocument/2006/relationships/image" Target="/ppt/media/image5.png" Id="R23b625f94d68475c" /><Relationship Type="http://schemas.openxmlformats.org/officeDocument/2006/relationships/notesSlide" Target="/ppt/notesSlides/notesSlide5.xml" Id="Ra3c62e557c7f4b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bf1877af1494de3" /><Relationship Type="http://schemas.openxmlformats.org/officeDocument/2006/relationships/image" Target="/ppt/media/image6.png" Id="R40a1ac50d4894e3b" /><Relationship Type="http://schemas.openxmlformats.org/officeDocument/2006/relationships/image" Target="/ppt/media/image.jpeg" Id="R1df933b4535340a6" /><Relationship Type="http://schemas.openxmlformats.org/officeDocument/2006/relationships/notesSlide" Target="/ppt/notesSlides/notesSlide6.xml" Id="Rb7ac90e1abc34c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dc35552c0a407f" /><Relationship Type="http://schemas.openxmlformats.org/officeDocument/2006/relationships/notesSlide" Target="/ppt/notesSlides/notesSlide7.xml" Id="R64c83181605347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ec08da385b048fd" /><Relationship Type="http://schemas.openxmlformats.org/officeDocument/2006/relationships/image" Target="/ppt/media/image7.png" Id="R93a582764458401b" /><Relationship Type="http://schemas.openxmlformats.org/officeDocument/2006/relationships/notesSlide" Target="/ppt/notesSlides/notesSlide8.xml" Id="Re29c94b03e5c4c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423695dfb724a47" /><Relationship Type="http://schemas.openxmlformats.org/officeDocument/2006/relationships/notesSlide" Target="/ppt/notesSlides/notesSlide9.xml" Id="Rb375b972d26340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b9aa25618c14f5b" /><Relationship Type="http://schemas.openxmlformats.org/officeDocument/2006/relationships/image" Target="/ppt/media/image8.png" Id="Rd5885261e820485d" /><Relationship Type="http://schemas.openxmlformats.org/officeDocument/2006/relationships/notesSlide" Target="/ppt/notesSlides/notesSlide10.xml" Id="Rf8ad9262b9f447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7c12f417d87411d" /><Relationship Type="http://schemas.openxmlformats.org/officeDocument/2006/relationships/image" Target="/ppt/media/image9.png" Id="R2040c94ab0c647ef" /><Relationship Type="http://schemas.openxmlformats.org/officeDocument/2006/relationships/notesSlide" Target="/ppt/notesSlides/notesSlide11.xml" Id="R3d807430149445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2d32e2c96574333" /><Relationship Type="http://schemas.openxmlformats.org/officeDocument/2006/relationships/notesSlide" Target="/ppt/notesSlides/notesSlide12.xml" Id="Ra6bf3942991540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cb52989e4304300" /><Relationship Type="http://schemas.openxmlformats.org/officeDocument/2006/relationships/image" Target="/ppt/media/image10.png" Id="R891991d099e34723" /><Relationship Type="http://schemas.openxmlformats.org/officeDocument/2006/relationships/notesSlide" Target="/ppt/notesSlides/notesSlide13.xml" Id="Rbaddc6582f8b42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299f84ac5e3444d" /><Relationship Type="http://schemas.openxmlformats.org/officeDocument/2006/relationships/notesSlide" Target="/ppt/notesSlides/notesSlide14.xml" Id="Rf4437bddd0c247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4e27aac9e634521" /><Relationship Type="http://schemas.openxmlformats.org/officeDocument/2006/relationships/image" Target="/ppt/media/image11.png" Id="Rcdc86393b8e04daf" /><Relationship Type="http://schemas.openxmlformats.org/officeDocument/2006/relationships/notesSlide" Target="/ppt/notesSlides/notesSlide15.xml" Id="R87dc3b33da4a4a4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4cbc8dcbe6149f6" /><Relationship Type="http://schemas.openxmlformats.org/officeDocument/2006/relationships/image" Target="/ppt/media/image12.png" Id="R0f912c3341e14e8f" /><Relationship Type="http://schemas.openxmlformats.org/officeDocument/2006/relationships/image" Target="/ppt/media/image2.jpeg" Id="Reb6cdfb409ff476c" /><Relationship Type="http://schemas.openxmlformats.org/officeDocument/2006/relationships/notesSlide" Target="/ppt/notesSlides/notesSlide16.xml" Id="R29e97b46bbd74e3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13f90259bf54047" /><Relationship Type="http://schemas.openxmlformats.org/officeDocument/2006/relationships/notesSlide" Target="/ppt/notesSlides/notesSlide17.xml" Id="R0bdd2245ec4c4d4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431a7b7e3ca4150" /><Relationship Type="http://schemas.openxmlformats.org/officeDocument/2006/relationships/image" Target="/ppt/media/image13.png" Id="R0b0e2bceb543460d" /><Relationship Type="http://schemas.openxmlformats.org/officeDocument/2006/relationships/notesSlide" Target="/ppt/notesSlides/notesSlide18.xml" Id="R76794de392714ca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557d44d5b704b38" /><Relationship Type="http://schemas.openxmlformats.org/officeDocument/2006/relationships/image" Target="/ppt/media/image14.png" Id="R9fddc54dcb3d435c" /><Relationship Type="http://schemas.openxmlformats.org/officeDocument/2006/relationships/notesSlide" Target="/ppt/notesSlides/notesSlide19.xml" Id="R4f8e5cfd49dc4e6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c23cc6015734101" /><Relationship Type="http://schemas.openxmlformats.org/officeDocument/2006/relationships/notesSlide" Target="/ppt/notesSlides/notesSlide20.xml" Id="Rb079695970f6442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862508782884bee" /><Relationship Type="http://schemas.openxmlformats.org/officeDocument/2006/relationships/image" Target="/ppt/media/image15.png" Id="R2a97c9e2307d4fd8" /><Relationship Type="http://schemas.openxmlformats.org/officeDocument/2006/relationships/hyperlink" Target="mailto:khawajas245@gmail.com" TargetMode="External" Id="R28886c85673348e4" /><Relationship Type="http://schemas.openxmlformats.org/officeDocument/2006/relationships/hyperlink" Target="https://wa.me/923044828634" TargetMode="External" Id="Ra7bbac6157f34391" /><Relationship Type="http://schemas.openxmlformats.org/officeDocument/2006/relationships/notesSlide" Target="/ppt/notesSlides/notesSlide21.xml" Id="R36922f7cc6e84dd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PKR</c:v>
          </c:tx>
          <c:spPr>
            <a:solidFill xmlns:a="http://schemas.openxmlformats.org/drawingml/2006/main">
              <a:srgbClr val="15375B"/>
            </a:solidFill>
          </c:spPr>
          <c:dPt>
            <c:idx val="0"/>
            <c:invertIfNegative val="0"/>
            <c:spPr>
              <a:solidFill xmlns:a="http://schemas.openxmlformats.org/drawingml/2006/main">
                <a:srgbClr val="6F98C0"/>
              </a:solidFill>
            </c:spPr>
          </c:dPt>
          <c:dPt>
            <c:idx val="1"/>
            <c:invertIfNegative val="0"/>
            <c:spPr>
              <a:solidFill xmlns:a="http://schemas.openxmlformats.org/drawingml/2006/main">
                <a:srgbClr val="15375B"/>
              </a:solidFill>
            </c:spPr>
          </c:dPt>
          <c:cat>
            <c:strRef>
              <c:f>'Chart Data'!$A$2:$A$3</c:f>
              <c:strCache>
                <c:ptCount val="2"/>
                <c:pt idx="0">
                  <c:v>Ad spend</c:v>
                </c:pt>
                <c:pt idx="1">
                  <c:v>Attributed revenue</c:v>
                </c:pt>
              </c:strCache>
            </c:strRef>
          </c:cat>
          <c:val>
            <c:numRef>
              <c:f>'Chart Data'!$B$2:$B$3</c:f>
              <c:numCache>
                <c:formatCode>General</c:formatCode>
                <c:ptCount val="2"/>
                <c:pt idx="0">
                  <c:v>20000</c:v>
                </c:pt>
                <c:pt idx="1">
                  <c:v>500000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080D15"/>
                  </a:solidFill>
                  <a:latin typeface="Manrope"/>
                  <a:ea typeface="Manrope"/>
                  <a:cs typeface="Manrop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CC8D4"/>
            </a:solidFill>
          </a:ln>
        </c:spPr>
        <c:txPr>
          <a:bodyPr xmlns:a="http://schemas.openxmlformats.org/drawingml/2006/main" anchorCtr="1"/>
          <a:lstStyle xmlns:a="http://schemas.openxmlformats.org/drawingml/2006/main"/>
          <a:p xmlns:a="http://schemas.openxmlformats.org/drawingml/2006/main">
            <a:pPr>
              <a:defRPr sz="1275">
                <a:solidFill>
                  <a:srgbClr val="506079"/>
                </a:solidFill>
                <a:latin typeface="Manrope"/>
                <a:ea typeface="Manrope"/>
                <a:cs typeface="Manrope"/>
              </a:defRPr>
            </a:pPr>
          </a:p>
        </c:txPr>
        <c:crossAx val="48672768"/>
      </c:catAx>
      <c:valAx>
        <c:axId val="48672768"/>
        <c:scaling>
          <c:orientation val="minMax"/>
          <c:max val="60000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nrope"/>
                <a:ea typeface="Manrope"/>
                <a:cs typeface="Manrop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35E1B6A-1D05-49F8-AC01-EDDE73C77F73}"/>
              </a:ext>
            </a:extLst>
          </p:cNvPr>
          <p:cNvPicPr>
            <a:picLocks xmlns:a="http://schemas.openxmlformats.org/drawingml/2006/main" noChangeAspect="1"/>
          </p:cNvPicPr>
          <p:nvPr/>
        </p:nvPicPr>
        <p:blipFill>
          <a:blip xmlns:r="http://schemas.openxmlformats.org/officeDocument/2006/relationships" xmlns:a="http://schemas.openxmlformats.org/drawingml/2006/main" r:embed="R8e1da9fad5f342f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B521C98-22F2-4D12-BAD6-B27DFA0F6C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D15">
              <a:alpha val="62000"/>
            </a:srgbClr>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FD0FB653-AD94-4C8C-B3A1-40C4BB840307}"/>
              </a:ext>
            </a:extLst>
          </p:cNvPr>
          <p:cNvPicPr>
            <a:picLocks xmlns:a="http://schemas.openxmlformats.org/drawingml/2006/main" noChangeAspect="1"/>
          </p:cNvPicPr>
          <p:nvPr/>
        </p:nvPicPr>
        <p:blipFill>
          <a:blip xmlns:r="http://schemas.openxmlformats.org/officeDocument/2006/relationships" xmlns:a="http://schemas.openxmlformats.org/drawingml/2006/main" r:embed="Rf4f5025993944305"/>
          <a:stretch xmlns:a="http://schemas.openxmlformats.org/drawingml/2006/main"/>
        </p:blipFill>
        <p:spPr>
          <a:xfrm xmlns:a="http://schemas.openxmlformats.org/drawingml/2006/main">
            <a:off x="7981950" y="2393794"/>
            <a:ext cx="3695700" cy="2079936"/>
          </a:xfrm>
          <a:prstGeom xmlns:a="http://schemas.openxmlformats.org/drawingml/2006/main" prst="rect">
            <a:avLst/>
          </a:prstGeom>
        </p:spPr>
      </p:pic>
      <p:sp>
        <p:nvSpPr>
          <p:cNvPr id="4" name="PAID ADS &amp; SOCIAL MEDIA PORTFOLIO">
            <a:extLst xmlns:a="http://schemas.openxmlformats.org/drawingml/2006/main">
              <a:ext uri="{FF2B5EF4-FFF2-40B4-BE49-F238E27FC236}">
                <a16:creationId xmlns:a16="http://schemas.microsoft.com/office/drawing/2014/main" id="{560AEABD-3515-4268-AD25-4DBD7FC811C8}"/>
              </a:ext>
            </a:extLst>
          </p:cNvPr>
          <p:cNvSpPr>
            <a:spLocks xmlns:a="http://schemas.openxmlformats.org/drawingml/2006/main" noGrp="1"/>
          </p:cNvSpPr>
          <p:nvPr/>
        </p:nvSpPr>
        <p:spPr>
          <a:xfrm xmlns:a="http://schemas.openxmlformats.org/drawingml/2006/main">
            <a:off x="647700" y="4381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1">
                <a:solidFill>
                  <a:srgbClr val="9CB1CA"/>
                </a:solidFill>
                <a:latin typeface="Manrope"/>
                <a:ea typeface="Manrope"/>
                <a:cs typeface="Manrope"/>
              </a:defRPr>
            </a:defPPr>
          </a:lstStyle>
          <a:p xmlns:a="http://schemas.openxmlformats.org/drawingml/2006/main">
            <a:pPr>
              <a:lnSpc>
                <a:spcPct val="104000"/>
              </a:lnSpc>
              <a:buNone/>
              <a:defRPr sz="1125" b="1">
                <a:solidFill>
                  <a:srgbClr val="9CB1CA"/>
                </a:solidFill>
                <a:latin typeface="Manrope"/>
                <a:ea typeface="Manrope"/>
                <a:cs typeface="Manrope"/>
              </a:defRPr>
            </a:pPr>
            <a:r>
              <a:rPr sz="1125" b="1">
                <a:solidFill>
                  <a:srgbClr val="9CB1CA"/>
                </a:solidFill>
                <a:latin typeface="Manrope"/>
                <a:ea typeface="Manrope"/>
                <a:cs typeface="Manrope"/>
              </a:rPr>
              <a:t>PAID ADS &amp; SOCIAL MEDIA PORTFOLIO</a:t>
            </a:r>
          </a:p>
        </p:txBody>
      </p:sp>
      <p:sp>
        <p:nvSpPr>
          <p:cNvPr id="5" name="Khawaja Saim">
            <a:extLst xmlns:a="http://schemas.openxmlformats.org/drawingml/2006/main">
              <a:ext uri="{FF2B5EF4-FFF2-40B4-BE49-F238E27FC236}">
                <a16:creationId xmlns:a16="http://schemas.microsoft.com/office/drawing/2014/main" id="{3A4B5594-DAA7-40C6-A39A-DD51ED5D22D5}"/>
              </a:ext>
            </a:extLst>
          </p:cNvPr>
          <p:cNvSpPr>
            <a:spLocks xmlns:a="http://schemas.openxmlformats.org/drawingml/2006/main" noGrp="1"/>
          </p:cNvSpPr>
          <p:nvPr/>
        </p:nvSpPr>
        <p:spPr>
          <a:xfrm xmlns:a="http://schemas.openxmlformats.org/drawingml/2006/main">
            <a:off x="628650" y="981075"/>
            <a:ext cx="704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0">
                <a:solidFill>
                  <a:srgbClr val="B8DCFF"/>
                </a:solidFill>
                <a:latin typeface="Caveat"/>
                <a:ea typeface="Caveat"/>
                <a:cs typeface="Caveat"/>
              </a:defRPr>
            </a:defPPr>
          </a:lstStyle>
          <a:p xmlns:a="http://schemas.openxmlformats.org/drawingml/2006/main">
            <a:pPr>
              <a:lnSpc>
                <a:spcPct val="104000"/>
              </a:lnSpc>
              <a:buNone/>
              <a:defRPr sz="3450" b="0">
                <a:solidFill>
                  <a:srgbClr val="B8DCFF"/>
                </a:solidFill>
                <a:latin typeface="Caveat"/>
                <a:ea typeface="Caveat"/>
                <a:cs typeface="Caveat"/>
              </a:defRPr>
            </a:pPr>
            <a:r>
              <a:rPr sz="3450" b="0" spc="-30">
                <a:solidFill>
                  <a:srgbClr val="B8DCFF"/>
                </a:solidFill>
                <a:latin typeface="Caveat"/>
                <a:ea typeface="Caveat"/>
                <a:cs typeface="Caveat"/>
              </a:rPr>
              <a:t>Khawaja Saim</a:t>
            </a:r>
          </a:p>
        </p:txBody>
      </p:sp>
      <p:sp>
        <p:nvSpPr>
          <p:cNvPr id="6" name="Turning attention&#10;into measurable&#10;growth.">
            <a:extLst xmlns:a="http://schemas.openxmlformats.org/drawingml/2006/main">
              <a:ext uri="{FF2B5EF4-FFF2-40B4-BE49-F238E27FC236}">
                <a16:creationId xmlns:a16="http://schemas.microsoft.com/office/drawing/2014/main" id="{F6D35DF9-DCD9-49AF-8A6A-92EA0A4FB66E}"/>
              </a:ext>
            </a:extLst>
          </p:cNvPr>
          <p:cNvSpPr>
            <a:spLocks xmlns:a="http://schemas.openxmlformats.org/drawingml/2006/main" noGrp="1"/>
          </p:cNvSpPr>
          <p:nvPr/>
        </p:nvSpPr>
        <p:spPr>
          <a:xfrm xmlns:a="http://schemas.openxmlformats.org/drawingml/2006/main">
            <a:off x="619125" y="2009775"/>
            <a:ext cx="733425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250" b="1">
                <a:gradFill>
                  <a:gsLst>
                    <a:gs pos="0">
                      <a:srgbClr val="F4F8FF"/>
                    </a:gs>
                    <a:gs pos="65000">
                      <a:srgbClr val="B1DBFF"/>
                    </a:gs>
                    <a:gs pos="100000">
                      <a:srgbClr val="73A4E6"/>
                    </a:gs>
                  </a:gsLst>
                  <a:lin ang="0"/>
                </a:gradFill>
                <a:latin typeface="Sora"/>
                <a:ea typeface="Sora"/>
                <a:cs typeface="Sora"/>
              </a:defRPr>
            </a:defPPr>
          </a:lstStyle>
          <a:p xmlns:a="http://schemas.openxmlformats.org/drawingml/2006/main">
            <a:pPr>
              <a:lnSpc>
                <a:spcPct val="104000"/>
              </a:lnSpc>
              <a:buNone/>
              <a:defRPr sz="5250" b="1">
                <a:solidFill>
                  <a:srgbClr val="F3F7FD"/>
                </a:solidFill>
                <a:latin typeface="Sora"/>
                <a:ea typeface="Sora"/>
                <a:cs typeface="Sora"/>
              </a:defRPr>
            </a:pPr>
            <a:r>
              <a:rPr sz="5250" b="1" spc="-30">
                <a:gradFill>
                  <a:gsLst>
                    <a:gs pos="0">
                      <a:srgbClr val="F4F8FF"/>
                    </a:gs>
                    <a:gs pos="65000">
                      <a:srgbClr val="B1DBFF"/>
                    </a:gs>
                    <a:gs pos="100000">
                      <a:srgbClr val="73A4E6"/>
                    </a:gs>
                  </a:gsLst>
                  <a:lin ang="0"/>
                </a:gradFill>
                <a:latin typeface="Sora"/>
                <a:ea typeface="Sora"/>
                <a:cs typeface="Sora"/>
              </a:rPr>
              <a:t>Turning attention</a:t>
            </a:r>
          </a:p>
          <a:p xmlns:a="http://schemas.openxmlformats.org/drawingml/2006/main">
            <a:pPr>
              <a:lnSpc>
                <a:spcPct val="104000"/>
              </a:lnSpc>
              <a:buNone/>
              <a:defRPr sz="5250" b="1">
                <a:solidFill>
                  <a:srgbClr val="F3F7FD"/>
                </a:solidFill>
                <a:latin typeface="Sora"/>
                <a:ea typeface="Sora"/>
                <a:cs typeface="Sora"/>
              </a:defRPr>
            </a:pPr>
            <a:r>
              <a:rPr sz="5250" b="1" spc="-30">
                <a:gradFill>
                  <a:gsLst>
                    <a:gs pos="0">
                      <a:srgbClr val="F4F8FF"/>
                    </a:gs>
                    <a:gs pos="65000">
                      <a:srgbClr val="B1DBFF"/>
                    </a:gs>
                    <a:gs pos="100000">
                      <a:srgbClr val="73A4E6"/>
                    </a:gs>
                  </a:gsLst>
                  <a:lin ang="0"/>
                </a:gradFill>
                <a:latin typeface="Sora"/>
                <a:ea typeface="Sora"/>
                <a:cs typeface="Sora"/>
              </a:rPr>
              <a:t>into measurable</a:t>
            </a:r>
          </a:p>
          <a:p xmlns:a="http://schemas.openxmlformats.org/drawingml/2006/main">
            <a:pPr>
              <a:lnSpc>
                <a:spcPct val="104000"/>
              </a:lnSpc>
              <a:buNone/>
              <a:defRPr sz="5250" b="1">
                <a:solidFill>
                  <a:srgbClr val="F3F7FD"/>
                </a:solidFill>
                <a:latin typeface="Sora"/>
                <a:ea typeface="Sora"/>
                <a:cs typeface="Sora"/>
              </a:defRPr>
            </a:pPr>
            <a:r>
              <a:rPr sz="5250" b="1" spc="-30">
                <a:gradFill>
                  <a:gsLst>
                    <a:gs pos="0">
                      <a:srgbClr val="F4F8FF"/>
                    </a:gs>
                    <a:gs pos="65000">
                      <a:srgbClr val="B1DBFF"/>
                    </a:gs>
                    <a:gs pos="100000">
                      <a:srgbClr val="73A4E6"/>
                    </a:gs>
                  </a:gsLst>
                  <a:lin ang="0"/>
                </a:gradFill>
                <a:latin typeface="Sora"/>
                <a:ea typeface="Sora"/>
                <a:cs typeface="Sora"/>
              </a:rPr>
              <a:t>growth.</a:t>
            </a:r>
          </a:p>
        </p:txBody>
      </p:sp>
      <p:sp>
        <p:nvSpPr>
          <p:cNvPr id="7" name="Paid Ads &amp; Social Media Specialist">
            <a:extLst xmlns:a="http://schemas.openxmlformats.org/drawingml/2006/main">
              <a:ext uri="{FF2B5EF4-FFF2-40B4-BE49-F238E27FC236}">
                <a16:creationId xmlns:a16="http://schemas.microsoft.com/office/drawing/2014/main" id="{6E2851D6-A063-40D7-A19E-733EA4A27ECA}"/>
              </a:ext>
            </a:extLst>
          </p:cNvPr>
          <p:cNvSpPr>
            <a:spLocks xmlns:a="http://schemas.openxmlformats.org/drawingml/2006/main" noGrp="1"/>
          </p:cNvSpPr>
          <p:nvPr/>
        </p:nvSpPr>
        <p:spPr>
          <a:xfrm xmlns:a="http://schemas.openxmlformats.org/drawingml/2006/main">
            <a:off x="657225" y="4905375"/>
            <a:ext cx="714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B8C6D8"/>
                </a:solidFill>
                <a:latin typeface="Manrope"/>
                <a:ea typeface="Manrope"/>
                <a:cs typeface="Manrope"/>
              </a:defRPr>
            </a:defPPr>
          </a:lstStyle>
          <a:p xmlns:a="http://schemas.openxmlformats.org/drawingml/2006/main">
            <a:pPr>
              <a:lnSpc>
                <a:spcPct val="104000"/>
              </a:lnSpc>
              <a:buNone/>
              <a:defRPr sz="1800" b="0">
                <a:solidFill>
                  <a:srgbClr val="B8C6D8"/>
                </a:solidFill>
                <a:latin typeface="Manrope"/>
                <a:ea typeface="Manrope"/>
                <a:cs typeface="Manrope"/>
              </a:defRPr>
            </a:pPr>
            <a:r>
              <a:rPr sz="1800" b="0" spc="0">
                <a:solidFill>
                  <a:srgbClr val="B8C6D8"/>
                </a:solidFill>
                <a:latin typeface="Manrope"/>
                <a:ea typeface="Manrope"/>
                <a:cs typeface="Manrope"/>
              </a:rPr>
              <a:t>Paid Ads &amp; Social Media Specialist</a:t>
            </a:r>
          </a:p>
        </p:txBody>
      </p:sp>
      <p:sp>
        <p:nvSpPr>
          <p:cNvPr id="8" name="Based in Lahore. Open to global projects.">
            <a:extLst xmlns:a="http://schemas.openxmlformats.org/drawingml/2006/main">
              <a:ext uri="{FF2B5EF4-FFF2-40B4-BE49-F238E27FC236}">
                <a16:creationId xmlns:a16="http://schemas.microsoft.com/office/drawing/2014/main" id="{832A3AD7-9230-4251-A45E-7F3B59A8F6F1}"/>
              </a:ext>
            </a:extLst>
          </p:cNvPr>
          <p:cNvSpPr>
            <a:spLocks xmlns:a="http://schemas.openxmlformats.org/drawingml/2006/main" noGrp="1"/>
          </p:cNvSpPr>
          <p:nvPr/>
        </p:nvSpPr>
        <p:spPr>
          <a:xfrm xmlns:a="http://schemas.openxmlformats.org/drawingml/2006/main">
            <a:off x="657225" y="5381625"/>
            <a:ext cx="7286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8DA4C1"/>
                </a:solidFill>
                <a:latin typeface="Manrope"/>
                <a:ea typeface="Manrope"/>
                <a:cs typeface="Manrope"/>
              </a:defRPr>
            </a:defPPr>
          </a:lstStyle>
          <a:p xmlns:a="http://schemas.openxmlformats.org/drawingml/2006/main">
            <a:pPr>
              <a:lnSpc>
                <a:spcPct val="104000"/>
              </a:lnSpc>
              <a:buNone/>
              <a:defRPr sz="1500" b="0">
                <a:solidFill>
                  <a:srgbClr val="8DA4C1"/>
                </a:solidFill>
                <a:latin typeface="Manrope"/>
                <a:ea typeface="Manrope"/>
                <a:cs typeface="Manrope"/>
              </a:defRPr>
            </a:pPr>
            <a:r>
              <a:rPr sz="1500" b="0" spc="70">
                <a:solidFill>
                  <a:srgbClr val="8DA4C1"/>
                </a:solidFill>
                <a:latin typeface="Manrope"/>
                <a:ea typeface="Manrope"/>
                <a:cs typeface="Manrope"/>
              </a:rPr>
              <a:t>Based in Lahore. Open to global projects.</a:t>
            </a:r>
          </a:p>
        </p:txBody>
      </p:sp>
      <p:sp>
        <p:nvSpPr>
          <p:cNvPr id="9" name="khawajasaim.github.io/Khawaja-Saim">
            <a:extLst xmlns:a="http://schemas.openxmlformats.org/drawingml/2006/main">
              <a:ext uri="{FF2B5EF4-FFF2-40B4-BE49-F238E27FC236}">
                <a16:creationId xmlns:a16="http://schemas.microsoft.com/office/drawing/2014/main" id="{37CA4C2A-0D63-4A76-8295-E6B03CB81853}"/>
              </a:ext>
            </a:extLst>
          </p:cNvPr>
          <p:cNvSpPr>
            <a:spLocks xmlns:a="http://schemas.openxmlformats.org/drawingml/2006/main" noGrp="1"/>
          </p:cNvSpPr>
          <p:nvPr/>
        </p:nvSpPr>
        <p:spPr>
          <a:xfrm xmlns:a="http://schemas.openxmlformats.org/drawingml/2006/main">
            <a:off x="657225" y="6248400"/>
            <a:ext cx="933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9CB1CA"/>
                </a:solidFill>
                <a:latin typeface="Manrope"/>
                <a:ea typeface="Manrope"/>
                <a:cs typeface="Manrope"/>
              </a:defRPr>
            </a:defPPr>
          </a:lstStyle>
          <a:p xmlns:a="http://schemas.openxmlformats.org/drawingml/2006/main">
            <a:pPr>
              <a:lnSpc>
                <a:spcPct val="104000"/>
              </a:lnSpc>
              <a:buNone/>
              <a:defRPr sz="1275" b="0">
                <a:solidFill>
                  <a:srgbClr val="9CB1CA"/>
                </a:solidFill>
                <a:latin typeface="Manrope"/>
                <a:ea typeface="Manrope"/>
                <a:cs typeface="Manrope"/>
              </a:defRPr>
            </a:pPr>
            <a:r>
              <a:rPr sz="1275" b="0">
                <a:solidFill>
                  <a:srgbClr val="9CB1CA"/>
                </a:solidFill>
                <a:latin typeface="Manrope"/>
                <a:ea typeface="Manrope"/>
                <a:cs typeface="Manrope"/>
                <a:hlinkClick xmlns:r="http://schemas.openxmlformats.org/officeDocument/2006/relationships" r:id="R45f1a4c7655e4d5d"/>
              </a:rPr>
              <a:t>khawajasaim.github.io/Khawaja-Saim</a:t>
            </a:r>
          </a:p>
        </p:txBody>
      </p:sp>
      <p:sp>
        <p:nvSpPr>
          <p:cNvPr id="10" name="2026">
            <a:extLst xmlns:a="http://schemas.openxmlformats.org/drawingml/2006/main">
              <a:ext uri="{FF2B5EF4-FFF2-40B4-BE49-F238E27FC236}">
                <a16:creationId xmlns:a16="http://schemas.microsoft.com/office/drawing/2014/main" id="{F1CD6CA4-14C4-4102-9AAE-23B9CD790EC4}"/>
              </a:ext>
            </a:extLst>
          </p:cNvPr>
          <p:cNvSpPr>
            <a:spLocks xmlns:a="http://schemas.openxmlformats.org/drawingml/2006/main" noGrp="1"/>
          </p:cNvSpPr>
          <p:nvPr/>
        </p:nvSpPr>
        <p:spPr>
          <a:xfrm xmlns:a="http://schemas.openxmlformats.org/drawingml/2006/main">
            <a:off x="10848975" y="6248400"/>
            <a:ext cx="8858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A7BCD5"/>
                </a:solidFill>
                <a:latin typeface="Manrope"/>
                <a:ea typeface="Manrope"/>
                <a:cs typeface="Manrope"/>
              </a:defRPr>
            </a:defPPr>
          </a:lstStyle>
          <a:p xmlns:a="http://schemas.openxmlformats.org/drawingml/2006/main">
            <a:pPr>
              <a:lnSpc>
                <a:spcPct val="104000"/>
              </a:lnSpc>
              <a:buNone/>
              <a:defRPr sz="1350" b="0">
                <a:solidFill>
                  <a:srgbClr val="A7BCD5"/>
                </a:solidFill>
                <a:latin typeface="Manrope"/>
                <a:ea typeface="Manrope"/>
                <a:cs typeface="Manrope"/>
              </a:defRPr>
            </a:pPr>
            <a:r>
              <a:rPr sz="1350" b="0">
                <a:solidFill>
                  <a:srgbClr val="A7BCD5"/>
                </a:solidFill>
                <a:latin typeface="Manrope"/>
                <a:ea typeface="Manrope"/>
                <a:cs typeface="Manrope"/>
              </a:rPr>
              <a:t>2026</a:t>
            </a:r>
          </a:p>
        </p:txBody>
      </p:sp>
    </p:spTree>
    <p:extLst>
      <p:ext uri="{BB962C8B-B14F-4D97-AF65-F5344CB8AC3E}">
        <p14:creationId xmlns:p14="http://schemas.microsoft.com/office/powerpoint/2010/main" val="1482673745"/>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fill="hold"/>
                                  <p:tgtEl>
                                    <p:spTgt spid="5"/>
                                  </p:tgtEl>
                                </p:cBhvr>
                              </p:animEffect>
                              <p:anim calcmode="lin" valueType="num">
                                <p:cBhvr additive="base">
                                  <p:cTn id="7" dur="550" fill="hold" decel="60000"/>
                                  <p:tgtEl>
                                    <p:spTgt spid="5"/>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720" fill="hold"/>
                                  <p:tgtEl>
                                    <p:spTgt spid="6"/>
                                  </p:tgtEl>
                                </p:cBhvr>
                              </p:animEffect>
                              <p:anim calcmode="lin" valueType="num">
                                <p:cBhvr additive="base">
                                  <p:cTn id="11" dur="720" fill="hold" decel="60000"/>
                                  <p:tgtEl>
                                    <p:spTgt spid="6"/>
                                  </p:tgtEl>
                                  <p:attrNameLst>
                                    <p:attrName>ppt_y</p:attrName>
                                  </p:attrNameLst>
                                </p:cBhvr>
                                <p:tavLst>
                                  <p:tav tm="0">
                                    <p:val>
                                      <p:strVal val="#ppt_y+0.025"/>
                                    </p:val>
                                  </p:tav>
                                  <p:tav tm="100000">
                                    <p:val>
                                      <p:strVal val="#ppt_y"/>
                                    </p:val>
                                  </p:tav>
                                </p:tavLst>
                              </p:anim>
                            </p:childTnLst>
                          </p:cTn>
                        </p:par>
                        <p:par>
                          <p:cTn id="12" presetID="10" presetClass="entr" presetSubtype="0" fill="hold" grpId="0" nodeType="withEffect">
                            <p:stCondLst>
                              <p:cond delay="38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50" fill="hold"/>
                                  <p:tgtEl>
                                    <p:spTgt spid="7"/>
                                  </p:tgtEl>
                                </p:cBhvr>
                              </p:animEffect>
                            </p:childTnLst>
                          </p:cTn>
                        </p:par>
                        <p:par>
                          <p:cTn id="15" presetID="10" presetClass="entr" presetSubtype="0" fill="hold" grpId="0" nodeType="withEffect">
                            <p:stCondLst>
                              <p:cond delay="495"/>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50" fill="hold"/>
                                  <p:tgtEl>
                                    <p:spTgt spid="8"/>
                                  </p:tgtEl>
                                </p:cBhvr>
                              </p:animEffect>
                            </p:childTnLst>
                          </p:cTn>
                        </p:par>
                        <p:par>
                          <p:cTn id="18" presetID="10" presetClass="entr" presetSubtype="0" fill="hold" grpId="0" nodeType="withEffect">
                            <p:stCondLst>
                              <p:cond delay="61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720" fill="hold"/>
                                  <p:tgtEl>
                                    <p:spTgt spid="3"/>
                                  </p:tgtEl>
                                </p:cBhvr>
                              </p:animEffect>
                              <p:animScale>
                                <p:cBhvr additive="base">
                                  <p:cTn id="21" dur="720" fill="hold" accel="0" decel="60000"/>
                                  <p:tgtEl>
                                    <p:spTgt spid="3"/>
                                  </p:tgtEl>
                                </p:cBhvr>
                                <p:from x="94000" y="94000"/>
                                <p:to x="100000" y="100000"/>
                              </p:animScale>
                              <p:anim calcmode="lin" valueType="num">
                                <p:cBhvr additive="base">
                                  <p:cTn id="22" dur="720" fill="hold" decel="60000"/>
                                  <p:tgtEl>
                                    <p:spTgt spid="3"/>
                                  </p:tgtEl>
                                  <p:attrNameLst>
                                    <p:attrName>ppt_y</p:attrName>
                                  </p:attrNameLst>
                                </p:cBhvr>
                                <p:tavLst>
                                  <p:tav tm="0">
                                    <p:val>
                                      <p:strVal val="#ppt_y+0.025"/>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7" grpId="0" build="allAtOnce"/>
      <p:bldP spid="8" grpId="0" build="allAtOnce"/>
      <p:bldP spid="3" grpId="0" build="allAtOnce"/>
    </p:bldLst>
  </p:timing>
</p:sld>
</file>

<file path=ppt/slides/slide2.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67D754EA-9765-4B2B-BE42-66A944110216}"/>
              </a:ext>
            </a:extLst>
          </p:cNvPr>
          <p:cNvPicPr>
            <a:picLocks xmlns:a="http://schemas.openxmlformats.org/drawingml/2006/main" noChangeAspect="1"/>
          </p:cNvPicPr>
          <p:nvPr/>
        </p:nvPicPr>
        <p:blipFill>
          <a:blip xmlns:r="http://schemas.openxmlformats.org/officeDocument/2006/relationships" xmlns:a="http://schemas.openxmlformats.org/drawingml/2006/main" r:embed="R4151ea20885d44b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2BDA5E5-EF0D-44EE-A4F8-9D4F145EC7A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D15">
              <a:alpha val="45000"/>
            </a:srgbClr>
          </a:solidFill>
          <a:ln xmlns:a="http://schemas.openxmlformats.org/drawingml/2006/main" w="0">
            <a:noFill/>
          </a:ln>
        </p:spPr>
      </p:sp>
      <p:sp>
        <p:nvSpPr>
          <p:cNvPr id="3" name="01 / SELECTED RESULTS">
            <a:extLst xmlns:a="http://schemas.openxmlformats.org/drawingml/2006/main">
              <a:ext uri="{FF2B5EF4-FFF2-40B4-BE49-F238E27FC236}">
                <a16:creationId xmlns:a16="http://schemas.microsoft.com/office/drawing/2014/main" id="{C84885FB-32CC-46D0-917D-6BEFBFB6C0CF}"/>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01 / SELECTED RESULTS</a:t>
            </a:r>
          </a:p>
        </p:txBody>
      </p:sp>
      <p:sp>
        <p:nvSpPr>
          <p:cNvPr id="4" name="KHAWAJA SAIM">
            <a:extLst xmlns:a="http://schemas.openxmlformats.org/drawingml/2006/main">
              <a:ext uri="{FF2B5EF4-FFF2-40B4-BE49-F238E27FC236}">
                <a16:creationId xmlns:a16="http://schemas.microsoft.com/office/drawing/2014/main" id="{74FA9ECB-AD29-43AC-9290-A769A31C044D}"/>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5" name="02">
            <a:extLst xmlns:a="http://schemas.openxmlformats.org/drawingml/2006/main">
              <a:ext uri="{FF2B5EF4-FFF2-40B4-BE49-F238E27FC236}">
                <a16:creationId xmlns:a16="http://schemas.microsoft.com/office/drawing/2014/main" id="{761BBF52-B2BC-4F4C-ADB0-932796103D6B}"/>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02</a:t>
            </a:r>
          </a:p>
        </p:txBody>
      </p:sp>
      <p:sp>
        <p:nvSpPr>
          <p:cNvPr id="6" name="Results that&#10;lead the story">
            <a:extLst xmlns:a="http://schemas.openxmlformats.org/drawingml/2006/main">
              <a:ext uri="{FF2B5EF4-FFF2-40B4-BE49-F238E27FC236}">
                <a16:creationId xmlns:a16="http://schemas.microsoft.com/office/drawing/2014/main" id="{B20547E0-1911-4770-AE43-F91098B2D56C}"/>
              </a:ext>
            </a:extLst>
          </p:cNvPr>
          <p:cNvSpPr>
            <a:spLocks xmlns:a="http://schemas.openxmlformats.org/drawingml/2006/main" noGrp="1"/>
          </p:cNvSpPr>
          <p:nvPr/>
        </p:nvSpPr>
        <p:spPr>
          <a:xfrm xmlns:a="http://schemas.openxmlformats.org/drawingml/2006/main">
            <a:off x="609600" y="971550"/>
            <a:ext cx="5429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4200" b="1">
                <a:solidFill>
                  <a:srgbClr val="F3F5F7"/>
                </a:solidFill>
                <a:latin typeface="Sora"/>
                <a:ea typeface="Sora"/>
                <a:cs typeface="Sora"/>
              </a:defRPr>
            </a:pPr>
            <a:r>
              <a:rPr sz="4200" b="1" spc="-30">
                <a:gradFill>
                  <a:gsLst>
                    <a:gs pos="0">
                      <a:srgbClr val="F4F8FF"/>
                    </a:gs>
                    <a:gs pos="55000">
                      <a:srgbClr val="B2DFFF"/>
                    </a:gs>
                    <a:gs pos="100000">
                      <a:srgbClr val="548EE1"/>
                    </a:gs>
                  </a:gsLst>
                  <a:lin ang="0"/>
                </a:gradFill>
                <a:latin typeface="Sora"/>
                <a:ea typeface="Sora"/>
                <a:cs typeface="Sora"/>
              </a:rPr>
              <a:t>Results that</a:t>
            </a:r>
          </a:p>
          <a:p xmlns:a="http://schemas.openxmlformats.org/drawingml/2006/main">
            <a:pPr>
              <a:lnSpc>
                <a:spcPct val="105000"/>
              </a:lnSpc>
              <a:buNone/>
              <a:defRPr sz="4200" b="1">
                <a:solidFill>
                  <a:srgbClr val="F3F5F7"/>
                </a:solidFill>
                <a:latin typeface="Sora"/>
                <a:ea typeface="Sora"/>
                <a:cs typeface="Sora"/>
              </a:defRPr>
            </a:pPr>
            <a:r>
              <a:rPr sz="4200" b="1" spc="-30">
                <a:gradFill>
                  <a:gsLst>
                    <a:gs pos="0">
                      <a:srgbClr val="F4F8FF"/>
                    </a:gs>
                    <a:gs pos="55000">
                      <a:srgbClr val="B2DFFF"/>
                    </a:gs>
                    <a:gs pos="100000">
                      <a:srgbClr val="548EE1"/>
                    </a:gs>
                  </a:gsLst>
                  <a:lin ang="0"/>
                </a:gradFill>
                <a:latin typeface="Sora"/>
                <a:ea typeface="Sora"/>
                <a:cs typeface="Sora"/>
              </a:rPr>
              <a:t>lead the story</a:t>
            </a:r>
          </a:p>
        </p:txBody>
      </p:sp>
      <p:sp>
        <p:nvSpPr>
          <p:cNvPr id="7" name="PKR">
            <a:extLst xmlns:a="http://schemas.openxmlformats.org/drawingml/2006/main">
              <a:ext uri="{FF2B5EF4-FFF2-40B4-BE49-F238E27FC236}">
                <a16:creationId xmlns:a16="http://schemas.microsoft.com/office/drawing/2014/main" id="{AC737022-9089-47FD-9608-C3FEE990A604}"/>
              </a:ext>
            </a:extLst>
          </p:cNvPr>
          <p:cNvSpPr>
            <a:spLocks xmlns:a="http://schemas.openxmlformats.org/drawingml/2006/main" noGrp="1"/>
          </p:cNvSpPr>
          <p:nvPr/>
        </p:nvSpPr>
        <p:spPr>
          <a:xfrm xmlns:a="http://schemas.openxmlformats.org/drawingml/2006/main">
            <a:off x="6286500" y="10191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A8D4FF"/>
                </a:solidFill>
                <a:latin typeface="Manrope"/>
                <a:ea typeface="Manrope"/>
                <a:cs typeface="Manrope"/>
              </a:defRPr>
            </a:defPPr>
          </a:lstStyle>
          <a:p xmlns:a="http://schemas.openxmlformats.org/drawingml/2006/main">
            <a:pPr>
              <a:lnSpc>
                <a:spcPct val="105000"/>
              </a:lnSpc>
              <a:buNone/>
              <a:defRPr sz="1800" b="1">
                <a:solidFill>
                  <a:srgbClr val="A8D4FF"/>
                </a:solidFill>
                <a:latin typeface="Manrope"/>
                <a:ea typeface="Manrope"/>
                <a:cs typeface="Manrope"/>
              </a:defRPr>
            </a:pPr>
            <a:r>
              <a:rPr sz="1800" b="1" spc="0">
                <a:solidFill>
                  <a:srgbClr val="A8D4FF"/>
                </a:solidFill>
                <a:latin typeface="Manrope"/>
                <a:ea typeface="Manrope"/>
                <a:cs typeface="Manrope"/>
              </a:rPr>
              <a:t>PKR</a:t>
            </a:r>
          </a:p>
        </p:txBody>
      </p:sp>
      <p:sp>
        <p:nvSpPr>
          <p:cNvPr id="8" name="1.65M+">
            <a:extLst xmlns:a="http://schemas.openxmlformats.org/drawingml/2006/main">
              <a:ext uri="{FF2B5EF4-FFF2-40B4-BE49-F238E27FC236}">
                <a16:creationId xmlns:a16="http://schemas.microsoft.com/office/drawing/2014/main" id="{F608DAE3-7937-4DC4-BB22-919ED4168A06}"/>
              </a:ext>
            </a:extLst>
          </p:cNvPr>
          <p:cNvSpPr>
            <a:spLocks xmlns:a="http://schemas.openxmlformats.org/drawingml/2006/main" noGrp="1"/>
          </p:cNvSpPr>
          <p:nvPr/>
        </p:nvSpPr>
        <p:spPr>
          <a:xfrm xmlns:a="http://schemas.openxmlformats.org/drawingml/2006/main">
            <a:off x="6172200" y="1409700"/>
            <a:ext cx="542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05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7050" b="1">
                <a:solidFill>
                  <a:srgbClr val="A8D4FF"/>
                </a:solidFill>
                <a:latin typeface="Sora"/>
                <a:ea typeface="Sora"/>
                <a:cs typeface="Sora"/>
              </a:defRPr>
            </a:pPr>
            <a:r>
              <a:rPr sz="7050" b="1" spc="-30">
                <a:gradFill>
                  <a:gsLst>
                    <a:gs pos="0">
                      <a:srgbClr val="F4F8FF"/>
                    </a:gs>
                    <a:gs pos="55000">
                      <a:srgbClr val="B2DFFF"/>
                    </a:gs>
                    <a:gs pos="100000">
                      <a:srgbClr val="548EE1"/>
                    </a:gs>
                  </a:gsLst>
                  <a:lin ang="0"/>
                </a:gradFill>
                <a:latin typeface="Sora"/>
                <a:ea typeface="Sora"/>
                <a:cs typeface="Sora"/>
              </a:rPr>
              <a:t>1.65M+</a:t>
            </a:r>
          </a:p>
        </p:txBody>
      </p:sp>
      <p:sp>
        <p:nvSpPr>
          <p:cNvPr id="9" name="Paid revenue across campaigns">
            <a:extLst xmlns:a="http://schemas.openxmlformats.org/drawingml/2006/main">
              <a:ext uri="{FF2B5EF4-FFF2-40B4-BE49-F238E27FC236}">
                <a16:creationId xmlns:a16="http://schemas.microsoft.com/office/drawing/2014/main" id="{A69940D0-76AB-480F-B135-94799F98A613}"/>
              </a:ext>
            </a:extLst>
          </p:cNvPr>
          <p:cNvSpPr>
            <a:spLocks xmlns:a="http://schemas.openxmlformats.org/drawingml/2006/main" noGrp="1"/>
          </p:cNvSpPr>
          <p:nvPr/>
        </p:nvSpPr>
        <p:spPr>
          <a:xfrm xmlns:a="http://schemas.openxmlformats.org/drawingml/2006/main">
            <a:off x="6286500" y="29241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A9B8CA"/>
                </a:solidFill>
                <a:latin typeface="Manrope"/>
                <a:ea typeface="Manrope"/>
                <a:cs typeface="Manrope"/>
              </a:defRPr>
            </a:defPPr>
          </a:lstStyle>
          <a:p xmlns:a="http://schemas.openxmlformats.org/drawingml/2006/main">
            <a:pPr>
              <a:lnSpc>
                <a:spcPct val="105000"/>
              </a:lnSpc>
              <a:buNone/>
              <a:defRPr sz="1650" b="0">
                <a:solidFill>
                  <a:srgbClr val="A9B8CA"/>
                </a:solidFill>
                <a:latin typeface="Manrope"/>
                <a:ea typeface="Manrope"/>
                <a:cs typeface="Manrope"/>
              </a:defRPr>
            </a:pPr>
            <a:r>
              <a:rPr sz="1650" b="0" spc="70">
                <a:solidFill>
                  <a:srgbClr val="A9B8CA"/>
                </a:solidFill>
                <a:latin typeface="Manrope"/>
                <a:ea typeface="Manrope"/>
                <a:cs typeface="Manrope"/>
              </a:rPr>
              <a:t>Paid revenue across campaigns</a:t>
            </a:r>
          </a:p>
        </p:txBody>
      </p:sp>
      <p:sp>
        <p:nvSpPr>
          <p:cNvPr id="10" name="Metric panel Best reported ROAS">
            <a:extLst xmlns:a="http://schemas.openxmlformats.org/drawingml/2006/main">
              <a:ext uri="{FF2B5EF4-FFF2-40B4-BE49-F238E27FC236}">
                <a16:creationId xmlns:a16="http://schemas.microsoft.com/office/drawing/2014/main" id="{91EACD94-CD34-4060-91AD-171B95C64CE0}"/>
              </a:ext>
            </a:extLst>
          </p:cNvPr>
          <p:cNvSpPr>
            <a:spLocks xmlns:a="http://schemas.openxmlformats.org/drawingml/2006/main" noGrp="1"/>
          </p:cNvSpPr>
          <p:nvPr/>
        </p:nvSpPr>
        <p:spPr>
          <a:xfrm xmlns:a="http://schemas.openxmlformats.org/drawingml/2006/main">
            <a:off x="495300" y="3686175"/>
            <a:ext cx="2486025" cy="1685925"/>
          </a:xfrm>
          <a:prstGeom xmlns:a="http://schemas.openxmlformats.org/drawingml/2006/main" prst="roundRect">
            <a:avLst>
              <a:gd name="adj" fmla="val 6780"/>
            </a:avLst>
          </a:prstGeom>
          <a:gradFill xmlns:a="http://schemas.openxmlformats.org/drawingml/2006/main">
            <a:gsLst>
              <a:gs pos="0">
                <a:srgbClr val="143252">
                  <a:alpha val="84000"/>
                </a:srgbClr>
              </a:gs>
              <a:gs pos="100000">
                <a:srgbClr val="081524">
                  <a:alpha val="94000"/>
                </a:srgbClr>
              </a:gs>
            </a:gsLst>
            <a:lin ang="8100000"/>
          </a:gradFill>
          <a:ln xmlns:a="http://schemas.openxmlformats.org/drawingml/2006/main" w="9525">
            <a:solidFill>
              <a:srgbClr val="4D719A">
                <a:alpha val="60000"/>
              </a:srgbClr>
            </a:solidFill>
          </a:ln>
        </p:spPr>
      </p:sp>
      <p:sp>
        <p:nvSpPr>
          <p:cNvPr id="11" name="57x">
            <a:extLst xmlns:a="http://schemas.openxmlformats.org/drawingml/2006/main">
              <a:ext uri="{FF2B5EF4-FFF2-40B4-BE49-F238E27FC236}">
                <a16:creationId xmlns:a16="http://schemas.microsoft.com/office/drawing/2014/main" id="{360C1BE6-A036-4938-9E6C-C0BBA85C7109}"/>
              </a:ext>
            </a:extLst>
          </p:cNvPr>
          <p:cNvSpPr>
            <a:spLocks xmlns:a="http://schemas.openxmlformats.org/drawingml/2006/main" noGrp="1"/>
          </p:cNvSpPr>
          <p:nvPr/>
        </p:nvSpPr>
        <p:spPr>
          <a:xfrm xmlns:a="http://schemas.openxmlformats.org/drawingml/2006/main">
            <a:off x="609600" y="3800475"/>
            <a:ext cx="2524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25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5250" b="1">
                <a:solidFill>
                  <a:srgbClr val="A8D4FF"/>
                </a:solidFill>
                <a:latin typeface="Sora"/>
                <a:ea typeface="Sora"/>
                <a:cs typeface="Sora"/>
              </a:defRPr>
            </a:pPr>
            <a:r>
              <a:rPr sz="5250" b="1" spc="-30">
                <a:gradFill>
                  <a:gsLst>
                    <a:gs pos="0">
                      <a:srgbClr val="F4F8FF"/>
                    </a:gs>
                    <a:gs pos="55000">
                      <a:srgbClr val="B2DFFF"/>
                    </a:gs>
                    <a:gs pos="100000">
                      <a:srgbClr val="548EE1"/>
                    </a:gs>
                  </a:gsLst>
                  <a:lin ang="0"/>
                </a:gradFill>
                <a:latin typeface="Sora"/>
                <a:ea typeface="Sora"/>
                <a:cs typeface="Sora"/>
              </a:rPr>
              <a:t>57x</a:t>
            </a:r>
          </a:p>
        </p:txBody>
      </p:sp>
      <p:sp>
        <p:nvSpPr>
          <p:cNvPr id="12" name="Best reported ROAS">
            <a:extLst xmlns:a="http://schemas.openxmlformats.org/drawingml/2006/main">
              <a:ext uri="{FF2B5EF4-FFF2-40B4-BE49-F238E27FC236}">
                <a16:creationId xmlns:a16="http://schemas.microsoft.com/office/drawing/2014/main" id="{ADFD0EF6-8AF2-4C77-8F23-2B8419FDD5AE}"/>
              </a:ext>
            </a:extLst>
          </p:cNvPr>
          <p:cNvSpPr>
            <a:spLocks xmlns:a="http://schemas.openxmlformats.org/drawingml/2006/main" noGrp="1"/>
          </p:cNvSpPr>
          <p:nvPr/>
        </p:nvSpPr>
        <p:spPr>
          <a:xfrm xmlns:a="http://schemas.openxmlformats.org/drawingml/2006/main">
            <a:off x="609600" y="4752975"/>
            <a:ext cx="2257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A9B8CA"/>
                </a:solidFill>
                <a:latin typeface="Manrope"/>
                <a:ea typeface="Manrope"/>
                <a:cs typeface="Manrope"/>
              </a:defRPr>
            </a:defPPr>
          </a:lstStyle>
          <a:p xmlns:a="http://schemas.openxmlformats.org/drawingml/2006/main">
            <a:pPr>
              <a:lnSpc>
                <a:spcPct val="105000"/>
              </a:lnSpc>
              <a:buNone/>
              <a:defRPr sz="1275" b="0">
                <a:solidFill>
                  <a:srgbClr val="A9B8CA"/>
                </a:solidFill>
                <a:latin typeface="Manrope"/>
                <a:ea typeface="Manrope"/>
                <a:cs typeface="Manrope"/>
              </a:defRPr>
            </a:pPr>
            <a:r>
              <a:rPr sz="1275" b="0">
                <a:solidFill>
                  <a:srgbClr val="A9B8CA"/>
                </a:solidFill>
                <a:latin typeface="Manrope"/>
                <a:ea typeface="Manrope"/>
                <a:cs typeface="Manrope"/>
              </a:rPr>
              <a:t>Best reported ROAS</a:t>
            </a:r>
          </a:p>
        </p:txBody>
      </p:sp>
      <p:sp>
        <p:nvSpPr>
          <p:cNvPr id="13" name="Metric panel Second recruitment campaign">
            <a:extLst xmlns:a="http://schemas.openxmlformats.org/drawingml/2006/main">
              <a:ext uri="{FF2B5EF4-FFF2-40B4-BE49-F238E27FC236}">
                <a16:creationId xmlns:a16="http://schemas.microsoft.com/office/drawing/2014/main" id="{6C88B394-0F40-466E-84BE-29478F5EBD2E}"/>
              </a:ext>
            </a:extLst>
          </p:cNvPr>
          <p:cNvSpPr>
            <a:spLocks xmlns:a="http://schemas.openxmlformats.org/drawingml/2006/main" noGrp="1"/>
          </p:cNvSpPr>
          <p:nvPr/>
        </p:nvSpPr>
        <p:spPr>
          <a:xfrm xmlns:a="http://schemas.openxmlformats.org/drawingml/2006/main">
            <a:off x="3228975" y="3686175"/>
            <a:ext cx="2486025" cy="1685925"/>
          </a:xfrm>
          <a:prstGeom xmlns:a="http://schemas.openxmlformats.org/drawingml/2006/main" prst="roundRect">
            <a:avLst>
              <a:gd name="adj" fmla="val 6780"/>
            </a:avLst>
          </a:prstGeom>
          <a:gradFill xmlns:a="http://schemas.openxmlformats.org/drawingml/2006/main">
            <a:gsLst>
              <a:gs pos="0">
                <a:srgbClr val="143252">
                  <a:alpha val="84000"/>
                </a:srgbClr>
              </a:gs>
              <a:gs pos="100000">
                <a:srgbClr val="081524">
                  <a:alpha val="94000"/>
                </a:srgbClr>
              </a:gs>
            </a:gsLst>
            <a:lin ang="8100000"/>
          </a:gradFill>
          <a:ln xmlns:a="http://schemas.openxmlformats.org/drawingml/2006/main" w="9525">
            <a:solidFill>
              <a:srgbClr val="4D719A">
                <a:alpha val="60000"/>
              </a:srgbClr>
            </a:solidFill>
          </a:ln>
        </p:spPr>
      </p:sp>
      <p:sp>
        <p:nvSpPr>
          <p:cNvPr id="14" name="25x">
            <a:extLst xmlns:a="http://schemas.openxmlformats.org/drawingml/2006/main">
              <a:ext uri="{FF2B5EF4-FFF2-40B4-BE49-F238E27FC236}">
                <a16:creationId xmlns:a16="http://schemas.microsoft.com/office/drawing/2014/main" id="{6DD4811A-7E48-4748-B704-60070599F2E4}"/>
              </a:ext>
            </a:extLst>
          </p:cNvPr>
          <p:cNvSpPr>
            <a:spLocks xmlns:a="http://schemas.openxmlformats.org/drawingml/2006/main" noGrp="1"/>
          </p:cNvSpPr>
          <p:nvPr/>
        </p:nvSpPr>
        <p:spPr>
          <a:xfrm xmlns:a="http://schemas.openxmlformats.org/drawingml/2006/main">
            <a:off x="3343275" y="3800475"/>
            <a:ext cx="2524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25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5250" b="1">
                <a:solidFill>
                  <a:srgbClr val="A8D4FF"/>
                </a:solidFill>
                <a:latin typeface="Sora"/>
                <a:ea typeface="Sora"/>
                <a:cs typeface="Sora"/>
              </a:defRPr>
            </a:pPr>
            <a:r>
              <a:rPr sz="5250" b="1" spc="-30">
                <a:gradFill>
                  <a:gsLst>
                    <a:gs pos="0">
                      <a:srgbClr val="F4F8FF"/>
                    </a:gs>
                    <a:gs pos="55000">
                      <a:srgbClr val="B2DFFF"/>
                    </a:gs>
                    <a:gs pos="100000">
                      <a:srgbClr val="548EE1"/>
                    </a:gs>
                  </a:gsLst>
                  <a:lin ang="0"/>
                </a:gradFill>
                <a:latin typeface="Sora"/>
                <a:ea typeface="Sora"/>
                <a:cs typeface="Sora"/>
              </a:rPr>
              <a:t>25x</a:t>
            </a:r>
          </a:p>
        </p:txBody>
      </p:sp>
      <p:sp>
        <p:nvSpPr>
          <p:cNvPr id="15" name="Second recruitment campaign">
            <a:extLst xmlns:a="http://schemas.openxmlformats.org/drawingml/2006/main">
              <a:ext uri="{FF2B5EF4-FFF2-40B4-BE49-F238E27FC236}">
                <a16:creationId xmlns:a16="http://schemas.microsoft.com/office/drawing/2014/main" id="{1F4AA483-DFFC-470A-A8B9-5B2DB18C0747}"/>
              </a:ext>
            </a:extLst>
          </p:cNvPr>
          <p:cNvSpPr>
            <a:spLocks xmlns:a="http://schemas.openxmlformats.org/drawingml/2006/main" noGrp="1"/>
          </p:cNvSpPr>
          <p:nvPr/>
        </p:nvSpPr>
        <p:spPr>
          <a:xfrm xmlns:a="http://schemas.openxmlformats.org/drawingml/2006/main">
            <a:off x="3343275" y="4752975"/>
            <a:ext cx="2257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A9B8CA"/>
                </a:solidFill>
                <a:latin typeface="Manrope"/>
                <a:ea typeface="Manrope"/>
                <a:cs typeface="Manrope"/>
              </a:defRPr>
            </a:defPPr>
          </a:lstStyle>
          <a:p xmlns:a="http://schemas.openxmlformats.org/drawingml/2006/main">
            <a:pPr>
              <a:lnSpc>
                <a:spcPct val="105000"/>
              </a:lnSpc>
              <a:buNone/>
              <a:defRPr sz="1275" b="0">
                <a:solidFill>
                  <a:srgbClr val="A9B8CA"/>
                </a:solidFill>
                <a:latin typeface="Manrope"/>
                <a:ea typeface="Manrope"/>
                <a:cs typeface="Manrope"/>
              </a:defRPr>
            </a:pPr>
            <a:r>
              <a:rPr sz="1275" b="0">
                <a:solidFill>
                  <a:srgbClr val="A9B8CA"/>
                </a:solidFill>
                <a:latin typeface="Manrope"/>
                <a:ea typeface="Manrope"/>
                <a:cs typeface="Manrope"/>
              </a:rPr>
              <a:t>Second recruitment campaign</a:t>
            </a:r>
          </a:p>
        </p:txBody>
      </p:sp>
      <p:sp>
        <p:nvSpPr>
          <p:cNvPr id="16" name="Metric panel Confirmed ecommerce orders">
            <a:extLst xmlns:a="http://schemas.openxmlformats.org/drawingml/2006/main">
              <a:ext uri="{FF2B5EF4-FFF2-40B4-BE49-F238E27FC236}">
                <a16:creationId xmlns:a16="http://schemas.microsoft.com/office/drawing/2014/main" id="{A6D77A1E-C42B-4BDE-8E25-5C5E0C97178B}"/>
              </a:ext>
            </a:extLst>
          </p:cNvPr>
          <p:cNvSpPr>
            <a:spLocks xmlns:a="http://schemas.openxmlformats.org/drawingml/2006/main" noGrp="1"/>
          </p:cNvSpPr>
          <p:nvPr/>
        </p:nvSpPr>
        <p:spPr>
          <a:xfrm xmlns:a="http://schemas.openxmlformats.org/drawingml/2006/main">
            <a:off x="6057900" y="3686175"/>
            <a:ext cx="2486025" cy="1685925"/>
          </a:xfrm>
          <a:prstGeom xmlns:a="http://schemas.openxmlformats.org/drawingml/2006/main" prst="roundRect">
            <a:avLst>
              <a:gd name="adj" fmla="val 6780"/>
            </a:avLst>
          </a:prstGeom>
          <a:gradFill xmlns:a="http://schemas.openxmlformats.org/drawingml/2006/main">
            <a:gsLst>
              <a:gs pos="0">
                <a:srgbClr val="143252">
                  <a:alpha val="84000"/>
                </a:srgbClr>
              </a:gs>
              <a:gs pos="100000">
                <a:srgbClr val="081524">
                  <a:alpha val="94000"/>
                </a:srgbClr>
              </a:gs>
            </a:gsLst>
            <a:lin ang="8100000"/>
          </a:gradFill>
          <a:ln xmlns:a="http://schemas.openxmlformats.org/drawingml/2006/main" w="9525">
            <a:solidFill>
              <a:srgbClr val="4D719A">
                <a:alpha val="60000"/>
              </a:srgbClr>
            </a:solidFill>
          </a:ln>
        </p:spPr>
      </p:sp>
      <p:sp>
        <p:nvSpPr>
          <p:cNvPr id="17" name="59">
            <a:extLst xmlns:a="http://schemas.openxmlformats.org/drawingml/2006/main">
              <a:ext uri="{FF2B5EF4-FFF2-40B4-BE49-F238E27FC236}">
                <a16:creationId xmlns:a16="http://schemas.microsoft.com/office/drawing/2014/main" id="{83B8DED0-392C-4943-8CCD-A8397149EBD4}"/>
              </a:ext>
            </a:extLst>
          </p:cNvPr>
          <p:cNvSpPr>
            <a:spLocks xmlns:a="http://schemas.openxmlformats.org/drawingml/2006/main" noGrp="1"/>
          </p:cNvSpPr>
          <p:nvPr/>
        </p:nvSpPr>
        <p:spPr>
          <a:xfrm xmlns:a="http://schemas.openxmlformats.org/drawingml/2006/main">
            <a:off x="6172200" y="3800475"/>
            <a:ext cx="2524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25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5250" b="1">
                <a:solidFill>
                  <a:srgbClr val="A8D4FF"/>
                </a:solidFill>
                <a:latin typeface="Sora"/>
                <a:ea typeface="Sora"/>
                <a:cs typeface="Sora"/>
              </a:defRPr>
            </a:pPr>
            <a:r>
              <a:rPr sz="5250" b="1" spc="-30">
                <a:gradFill>
                  <a:gsLst>
                    <a:gs pos="0">
                      <a:srgbClr val="F4F8FF"/>
                    </a:gs>
                    <a:gs pos="55000">
                      <a:srgbClr val="B2DFFF"/>
                    </a:gs>
                    <a:gs pos="100000">
                      <a:srgbClr val="548EE1"/>
                    </a:gs>
                  </a:gsLst>
                  <a:lin ang="0"/>
                </a:gradFill>
                <a:latin typeface="Sora"/>
                <a:ea typeface="Sora"/>
                <a:cs typeface="Sora"/>
              </a:rPr>
              <a:t>59</a:t>
            </a:r>
          </a:p>
        </p:txBody>
      </p:sp>
      <p:sp>
        <p:nvSpPr>
          <p:cNvPr id="18" name="Confirmed ecommerce orders">
            <a:extLst xmlns:a="http://schemas.openxmlformats.org/drawingml/2006/main">
              <a:ext uri="{FF2B5EF4-FFF2-40B4-BE49-F238E27FC236}">
                <a16:creationId xmlns:a16="http://schemas.microsoft.com/office/drawing/2014/main" id="{C03D2953-ED43-4A1E-9369-EE5412CDCC97}"/>
              </a:ext>
            </a:extLst>
          </p:cNvPr>
          <p:cNvSpPr>
            <a:spLocks xmlns:a="http://schemas.openxmlformats.org/drawingml/2006/main" noGrp="1"/>
          </p:cNvSpPr>
          <p:nvPr/>
        </p:nvSpPr>
        <p:spPr>
          <a:xfrm xmlns:a="http://schemas.openxmlformats.org/drawingml/2006/main">
            <a:off x="6172200" y="4752975"/>
            <a:ext cx="2257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A9B8CA"/>
                </a:solidFill>
                <a:latin typeface="Manrope"/>
                <a:ea typeface="Manrope"/>
                <a:cs typeface="Manrope"/>
              </a:defRPr>
            </a:defPPr>
          </a:lstStyle>
          <a:p xmlns:a="http://schemas.openxmlformats.org/drawingml/2006/main">
            <a:pPr>
              <a:lnSpc>
                <a:spcPct val="105000"/>
              </a:lnSpc>
              <a:buNone/>
              <a:defRPr sz="1275" b="0">
                <a:solidFill>
                  <a:srgbClr val="A9B8CA"/>
                </a:solidFill>
                <a:latin typeface="Manrope"/>
                <a:ea typeface="Manrope"/>
                <a:cs typeface="Manrope"/>
              </a:defRPr>
            </a:pPr>
            <a:r>
              <a:rPr sz="1275" b="0">
                <a:solidFill>
                  <a:srgbClr val="A9B8CA"/>
                </a:solidFill>
                <a:latin typeface="Manrope"/>
                <a:ea typeface="Manrope"/>
                <a:cs typeface="Manrope"/>
              </a:rPr>
              <a:t>Confirmed ecommerce orders</a:t>
            </a:r>
          </a:p>
        </p:txBody>
      </p:sp>
      <p:sp>
        <p:nvSpPr>
          <p:cNvPr id="19" name="Metric panel Organic content views">
            <a:extLst xmlns:a="http://schemas.openxmlformats.org/drawingml/2006/main">
              <a:ext uri="{FF2B5EF4-FFF2-40B4-BE49-F238E27FC236}">
                <a16:creationId xmlns:a16="http://schemas.microsoft.com/office/drawing/2014/main" id="{DED1C9B8-A31B-45CC-862C-32962C49FADD}"/>
              </a:ext>
            </a:extLst>
          </p:cNvPr>
          <p:cNvSpPr>
            <a:spLocks xmlns:a="http://schemas.openxmlformats.org/drawingml/2006/main" noGrp="1"/>
          </p:cNvSpPr>
          <p:nvPr/>
        </p:nvSpPr>
        <p:spPr>
          <a:xfrm xmlns:a="http://schemas.openxmlformats.org/drawingml/2006/main">
            <a:off x="8782050" y="3686175"/>
            <a:ext cx="2647950" cy="1685925"/>
          </a:xfrm>
          <a:prstGeom xmlns:a="http://schemas.openxmlformats.org/drawingml/2006/main" prst="roundRect">
            <a:avLst>
              <a:gd name="adj" fmla="val 6780"/>
            </a:avLst>
          </a:prstGeom>
          <a:gradFill xmlns:a="http://schemas.openxmlformats.org/drawingml/2006/main">
            <a:gsLst>
              <a:gs pos="0">
                <a:srgbClr val="143252">
                  <a:alpha val="84000"/>
                </a:srgbClr>
              </a:gs>
              <a:gs pos="100000">
                <a:srgbClr val="081524">
                  <a:alpha val="94000"/>
                </a:srgbClr>
              </a:gs>
            </a:gsLst>
            <a:lin ang="8100000"/>
          </a:gradFill>
          <a:ln xmlns:a="http://schemas.openxmlformats.org/drawingml/2006/main" w="9525">
            <a:solidFill>
              <a:srgbClr val="4D719A">
                <a:alpha val="60000"/>
              </a:srgbClr>
            </a:solidFill>
          </a:ln>
        </p:spPr>
      </p:sp>
      <p:sp>
        <p:nvSpPr>
          <p:cNvPr id="20" name="50K+">
            <a:extLst xmlns:a="http://schemas.openxmlformats.org/drawingml/2006/main">
              <a:ext uri="{FF2B5EF4-FFF2-40B4-BE49-F238E27FC236}">
                <a16:creationId xmlns:a16="http://schemas.microsoft.com/office/drawing/2014/main" id="{92912B17-E31A-4C95-AB07-C030E7736D02}"/>
              </a:ext>
            </a:extLst>
          </p:cNvPr>
          <p:cNvSpPr>
            <a:spLocks xmlns:a="http://schemas.openxmlformats.org/drawingml/2006/main" noGrp="1"/>
          </p:cNvSpPr>
          <p:nvPr/>
        </p:nvSpPr>
        <p:spPr>
          <a:xfrm xmlns:a="http://schemas.openxmlformats.org/drawingml/2006/main">
            <a:off x="8896350" y="3800475"/>
            <a:ext cx="26860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25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5250" b="1">
                <a:solidFill>
                  <a:srgbClr val="A8D4FF"/>
                </a:solidFill>
                <a:latin typeface="Sora"/>
                <a:ea typeface="Sora"/>
                <a:cs typeface="Sora"/>
              </a:defRPr>
            </a:pPr>
            <a:r>
              <a:rPr sz="5250" b="1" spc="-30">
                <a:gradFill>
                  <a:gsLst>
                    <a:gs pos="0">
                      <a:srgbClr val="F4F8FF"/>
                    </a:gs>
                    <a:gs pos="55000">
                      <a:srgbClr val="B2DFFF"/>
                    </a:gs>
                    <a:gs pos="100000">
                      <a:srgbClr val="548EE1"/>
                    </a:gs>
                  </a:gsLst>
                  <a:lin ang="0"/>
                </a:gradFill>
                <a:latin typeface="Sora"/>
                <a:ea typeface="Sora"/>
                <a:cs typeface="Sora"/>
              </a:rPr>
              <a:t>50K+</a:t>
            </a:r>
          </a:p>
        </p:txBody>
      </p:sp>
      <p:sp>
        <p:nvSpPr>
          <p:cNvPr id="21" name="Organic content views">
            <a:extLst xmlns:a="http://schemas.openxmlformats.org/drawingml/2006/main">
              <a:ext uri="{FF2B5EF4-FFF2-40B4-BE49-F238E27FC236}">
                <a16:creationId xmlns:a16="http://schemas.microsoft.com/office/drawing/2014/main" id="{265C448B-81AF-483C-AFD2-4197A24EBD65}"/>
              </a:ext>
            </a:extLst>
          </p:cNvPr>
          <p:cNvSpPr>
            <a:spLocks xmlns:a="http://schemas.openxmlformats.org/drawingml/2006/main" noGrp="1"/>
          </p:cNvSpPr>
          <p:nvPr/>
        </p:nvSpPr>
        <p:spPr>
          <a:xfrm xmlns:a="http://schemas.openxmlformats.org/drawingml/2006/main">
            <a:off x="8896350" y="4752975"/>
            <a:ext cx="2419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A9B8CA"/>
                </a:solidFill>
                <a:latin typeface="Manrope"/>
                <a:ea typeface="Manrope"/>
                <a:cs typeface="Manrope"/>
              </a:defRPr>
            </a:defPPr>
          </a:lstStyle>
          <a:p xmlns:a="http://schemas.openxmlformats.org/drawingml/2006/main">
            <a:pPr>
              <a:lnSpc>
                <a:spcPct val="105000"/>
              </a:lnSpc>
              <a:buNone/>
              <a:defRPr sz="1275" b="0">
                <a:solidFill>
                  <a:srgbClr val="A9B8CA"/>
                </a:solidFill>
                <a:latin typeface="Manrope"/>
                <a:ea typeface="Manrope"/>
                <a:cs typeface="Manrope"/>
              </a:defRPr>
            </a:pPr>
            <a:r>
              <a:rPr sz="1275" b="0">
                <a:solidFill>
                  <a:srgbClr val="A9B8CA"/>
                </a:solidFill>
                <a:latin typeface="Manrope"/>
                <a:ea typeface="Manrope"/>
                <a:cs typeface="Manrope"/>
              </a:rPr>
              <a:t>Organic content views</a:t>
            </a:r>
          </a:p>
        </p:txBody>
      </p:sp>
      <p:sp>
        <p:nvSpPr>
          <p:cNvPr id="22" name="Selected recruitment, app acquisition, ecommerce and B2B campaigns">
            <a:extLst xmlns:a="http://schemas.openxmlformats.org/drawingml/2006/main">
              <a:ext uri="{FF2B5EF4-FFF2-40B4-BE49-F238E27FC236}">
                <a16:creationId xmlns:a16="http://schemas.microsoft.com/office/drawing/2014/main" id="{52D82398-4CD7-4A0C-BA1A-0AF0DE16DE62}"/>
              </a:ext>
            </a:extLst>
          </p:cNvPr>
          <p:cNvSpPr>
            <a:spLocks xmlns:a="http://schemas.openxmlformats.org/drawingml/2006/main" noGrp="1"/>
          </p:cNvSpPr>
          <p:nvPr/>
        </p:nvSpPr>
        <p:spPr>
          <a:xfrm xmlns:a="http://schemas.openxmlformats.org/drawingml/2006/main">
            <a:off x="609600" y="5838825"/>
            <a:ext cx="1071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Selected recruitment, app acquisition, ecommerce and B2B campaigns</a:t>
            </a:r>
          </a:p>
        </p:txBody>
      </p:sp>
    </p:spTree>
    <p:extLst>
      <p:ext uri="{BB962C8B-B14F-4D97-AF65-F5344CB8AC3E}">
        <p14:creationId xmlns:p14="http://schemas.microsoft.com/office/powerpoint/2010/main" val="1353868934"/>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fill="hold"/>
                                  <p:tgtEl>
                                    <p:spTgt spid="6"/>
                                  </p:tgtEl>
                                </p:cBhvr>
                              </p:animEffect>
                              <p:anim calcmode="lin" valueType="num">
                                <p:cBhvr additive="base">
                                  <p:cTn id="7" dur="550" fill="hold" decel="60000"/>
                                  <p:tgtEl>
                                    <p:spTgt spid="6"/>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50" fill="hold"/>
                                  <p:tgtEl>
                                    <p:spTgt spid="7"/>
                                  </p:tgtEl>
                                </p:cBhvr>
                              </p:animEffect>
                            </p:childTnLst>
                          </p:cTn>
                        </p:par>
                        <p:par>
                          <p:cTn id="11" presetID="10" presetClass="entr" presetSubtype="0" fill="hold" grpId="0" nodeType="withEffect">
                            <p:stCondLst>
                              <p:cond delay="38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720" fill="hold"/>
                                  <p:tgtEl>
                                    <p:spTgt spid="8"/>
                                  </p:tgtEl>
                                </p:cBhvr>
                              </p:animEffect>
                              <p:animScale>
                                <p:cBhvr additive="base">
                                  <p:cTn id="14" dur="720" fill="hold" accel="0" decel="60000"/>
                                  <p:tgtEl>
                                    <p:spTgt spid="8"/>
                                  </p:tgtEl>
                                </p:cBhvr>
                                <p:from x="94000" y="94000"/>
                                <p:to x="100000" y="100000"/>
                              </p:animScale>
                              <p:anim calcmode="lin" valueType="num">
                                <p:cBhvr additive="base">
                                  <p:cTn id="15" dur="720" fill="hold" decel="60000"/>
                                  <p:tgtEl>
                                    <p:spTgt spid="8"/>
                                  </p:tgtEl>
                                  <p:attrNameLst>
                                    <p:attrName>ppt_y</p:attrName>
                                  </p:attrNameLst>
                                </p:cBhvr>
                                <p:tavLst>
                                  <p:tav tm="0">
                                    <p:val>
                                      <p:strVal val="#ppt_y+0.025"/>
                                    </p:val>
                                  </p:tav>
                                  <p:tav tm="100000">
                                    <p:val>
                                      <p:strVal val="#ppt_y"/>
                                    </p:val>
                                  </p:tav>
                                </p:tavLst>
                              </p:anim>
                            </p:childTnLst>
                          </p:cTn>
                        </p:par>
                        <p:par>
                          <p:cTn id="16" presetID="10" presetClass="entr" presetSubtype="0" fill="hold" grpId="0" nodeType="withEffect">
                            <p:stCondLst>
                              <p:cond delay="495"/>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50" fill="hold"/>
                                  <p:tgtEl>
                                    <p:spTgt spid="9"/>
                                  </p:tgtEl>
                                </p:cBhvr>
                              </p:animEffect>
                            </p:childTnLst>
                          </p:cTn>
                        </p:par>
                        <p:par>
                          <p:cTn id="19" presetID="10" presetClass="entr" presetSubtype="0" fill="hold" grpId="0" nodeType="withEffect">
                            <p:stCondLst>
                              <p:cond delay="61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720" fill="hold"/>
                                  <p:tgtEl>
                                    <p:spTgt spid="11"/>
                                  </p:tgtEl>
                                </p:cBhvr>
                              </p:animEffect>
                              <p:anim calcmode="lin" valueType="num">
                                <p:cBhvr additive="base">
                                  <p:cTn id="22" dur="720" fill="hold" decel="60000"/>
                                  <p:tgtEl>
                                    <p:spTgt spid="11"/>
                                  </p:tgtEl>
                                  <p:attrNameLst>
                                    <p:attrName>ppt_y</p:attrName>
                                  </p:attrNameLst>
                                </p:cBhvr>
                                <p:tavLst>
                                  <p:tav tm="0">
                                    <p:val>
                                      <p:strVal val="#ppt_y+0.025"/>
                                    </p:val>
                                  </p:tav>
                                  <p:tav tm="100000">
                                    <p:val>
                                      <p:strVal val="#ppt_y"/>
                                    </p:val>
                                  </p:tav>
                                </p:tavLst>
                              </p:anim>
                            </p:childTnLst>
                          </p:cTn>
                        </p:par>
                        <p:par>
                          <p:cTn id="23" presetID="10" presetClass="entr" presetSubtype="0" fill="hold" grpId="0" nodeType="withEffect">
                            <p:stCondLst>
                              <p:cond delay="725"/>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720" fill="hold"/>
                                  <p:tgtEl>
                                    <p:spTgt spid="14"/>
                                  </p:tgtEl>
                                </p:cBhvr>
                              </p:animEffect>
                              <p:anim calcmode="lin" valueType="num">
                                <p:cBhvr additive="base">
                                  <p:cTn id="26" dur="720" fill="hold" decel="60000"/>
                                  <p:tgtEl>
                                    <p:spTgt spid="14"/>
                                  </p:tgtEl>
                                  <p:attrNameLst>
                                    <p:attrName>ppt_y</p:attrName>
                                  </p:attrNameLst>
                                </p:cBhvr>
                                <p:tavLst>
                                  <p:tav tm="0">
                                    <p:val>
                                      <p:strVal val="#ppt_y+0.025"/>
                                    </p:val>
                                  </p:tav>
                                  <p:tav tm="100000">
                                    <p:val>
                                      <p:strVal val="#ppt_y"/>
                                    </p:val>
                                  </p:tav>
                                </p:tavLst>
                              </p:anim>
                            </p:childTnLst>
                          </p:cTn>
                        </p:par>
                        <p:par>
                          <p:cTn id="27" presetID="10" presetClass="entr" presetSubtype="0" fill="hold" grpId="0" nodeType="withEffect">
                            <p:stCondLst>
                              <p:cond delay="84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720" fill="hold"/>
                                  <p:tgtEl>
                                    <p:spTgt spid="17"/>
                                  </p:tgtEl>
                                </p:cBhvr>
                              </p:animEffect>
                              <p:anim calcmode="lin" valueType="num">
                                <p:cBhvr additive="base">
                                  <p:cTn id="30" dur="720" fill="hold" decel="60000"/>
                                  <p:tgtEl>
                                    <p:spTgt spid="17"/>
                                  </p:tgtEl>
                                  <p:attrNameLst>
                                    <p:attrName>ppt_y</p:attrName>
                                  </p:attrNameLst>
                                </p:cBhvr>
                                <p:tavLst>
                                  <p:tav tm="0">
                                    <p:val>
                                      <p:strVal val="#ppt_y+0.025"/>
                                    </p:val>
                                  </p:tav>
                                  <p:tav tm="100000">
                                    <p:val>
                                      <p:strVal val="#ppt_y"/>
                                    </p:val>
                                  </p:tav>
                                </p:tavLst>
                              </p:anim>
                            </p:childTnLst>
                          </p:cTn>
                        </p:par>
                        <p:par>
                          <p:cTn id="31" presetID="10" presetClass="entr" presetSubtype="0" fill="hold" grpId="0" nodeType="withEffect">
                            <p:stCondLst>
                              <p:cond delay="955"/>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720" fill="hold"/>
                                  <p:tgtEl>
                                    <p:spTgt spid="20"/>
                                  </p:tgtEl>
                                </p:cBhvr>
                              </p:animEffect>
                              <p:anim calcmode="lin" valueType="num">
                                <p:cBhvr additive="base">
                                  <p:cTn id="34" dur="720" fill="hold" decel="60000"/>
                                  <p:tgtEl>
                                    <p:spTgt spid="20"/>
                                  </p:tgtEl>
                                  <p:attrNameLst>
                                    <p:attrName>ppt_y</p:attrName>
                                  </p:attrNameLst>
                                </p:cBhvr>
                                <p:tavLst>
                                  <p:tav tm="0">
                                    <p:val>
                                      <p:strVal val="#ppt_y+0.025"/>
                                    </p:val>
                                  </p:tav>
                                  <p:tav tm="100000">
                                    <p:val>
                                      <p:strVal val="#ppt_y"/>
                                    </p:val>
                                  </p:tav>
                                </p:tavLst>
                              </p:anim>
                            </p:childTnLst>
                          </p:cTn>
                        </p:par>
                        <p:par>
                          <p:cTn id="35" presetID="10" presetClass="entr" presetSubtype="0" fill="hold" grpId="0" nodeType="withEffect">
                            <p:stCondLst>
                              <p:cond delay="107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50" fill="hold"/>
                                  <p:tgtEl>
                                    <p:spTgt spid="2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P spid="9" grpId="0" build="allAtOnce"/>
      <p:bldP spid="11" grpId="0" build="allAtOnce"/>
      <p:bldP spid="14" grpId="0" build="allAtOnce"/>
      <p:bldP spid="17" grpId="0" build="allAtOnce"/>
      <p:bldP spid="20" grpId="0" build="allAtOnce"/>
      <p:bldP spid="22" grpId="0" build="allAtOnce"/>
    </p:bldLst>
  </p:timing>
</p:sld>
</file>

<file path=ppt/slides/slide3.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2A7884E0-D90D-4A70-A60A-3D7FB0E95A99}"/>
              </a:ext>
            </a:extLst>
          </p:cNvPr>
          <p:cNvPicPr>
            <a:picLocks xmlns:a="http://schemas.openxmlformats.org/drawingml/2006/main" noChangeAspect="1"/>
          </p:cNvPicPr>
          <p:nvPr/>
        </p:nvPicPr>
        <p:blipFill>
          <a:blip xmlns:r="http://schemas.openxmlformats.org/officeDocument/2006/relationships" xmlns:a="http://schemas.openxmlformats.org/drawingml/2006/main" r:embed="Rc66fb3c12e8c40b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6C2718-DF48-45E8-8039-155613D825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D15">
              <a:alpha val="45000"/>
            </a:srgbClr>
          </a:solidFill>
          <a:ln xmlns:a="http://schemas.openxmlformats.org/drawingml/2006/main" w="0">
            <a:noFill/>
          </a:ln>
        </p:spPr>
      </p:sp>
      <p:sp>
        <p:nvSpPr>
          <p:cNvPr id="3" name="02 / THE HIRING / PAKISTAN">
            <a:extLst xmlns:a="http://schemas.openxmlformats.org/drawingml/2006/main">
              <a:ext uri="{FF2B5EF4-FFF2-40B4-BE49-F238E27FC236}">
                <a16:creationId xmlns:a16="http://schemas.microsoft.com/office/drawing/2014/main" id="{7A48AC8C-8BE2-4169-88B3-472D41006808}"/>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02 / THE HIRING / PAKISTAN</a:t>
            </a:r>
          </a:p>
        </p:txBody>
      </p:sp>
      <p:sp>
        <p:nvSpPr>
          <p:cNvPr id="4" name="KHAWAJA SAIM">
            <a:extLst xmlns:a="http://schemas.openxmlformats.org/drawingml/2006/main">
              <a:ext uri="{FF2B5EF4-FFF2-40B4-BE49-F238E27FC236}">
                <a16:creationId xmlns:a16="http://schemas.microsoft.com/office/drawing/2014/main" id="{90640424-C6D0-4357-A2D8-567295C00E7E}"/>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5" name="03">
            <a:extLst xmlns:a="http://schemas.openxmlformats.org/drawingml/2006/main">
              <a:ext uri="{FF2B5EF4-FFF2-40B4-BE49-F238E27FC236}">
                <a16:creationId xmlns:a16="http://schemas.microsoft.com/office/drawing/2014/main" id="{C1CA9CCD-F838-413B-BA23-9E4C23BA25B2}"/>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03</a:t>
            </a:r>
          </a:p>
        </p:txBody>
      </p:sp>
      <p:sp>
        <p:nvSpPr>
          <p:cNvPr id="6" name="57x">
            <a:extLst xmlns:a="http://schemas.openxmlformats.org/drawingml/2006/main">
              <a:ext uri="{FF2B5EF4-FFF2-40B4-BE49-F238E27FC236}">
                <a16:creationId xmlns:a16="http://schemas.microsoft.com/office/drawing/2014/main" id="{AE4AF7BC-593F-40D3-A44E-583175500421}"/>
              </a:ext>
            </a:extLst>
          </p:cNvPr>
          <p:cNvSpPr>
            <a:spLocks xmlns:a="http://schemas.openxmlformats.org/drawingml/2006/main" noGrp="1"/>
          </p:cNvSpPr>
          <p:nvPr/>
        </p:nvSpPr>
        <p:spPr>
          <a:xfrm xmlns:a="http://schemas.openxmlformats.org/drawingml/2006/main">
            <a:off x="523875" y="1000125"/>
            <a:ext cx="5429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5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13050" b="1">
                <a:solidFill>
                  <a:srgbClr val="A8D4FF"/>
                </a:solidFill>
                <a:latin typeface="Sora"/>
                <a:ea typeface="Sora"/>
                <a:cs typeface="Sora"/>
              </a:defRPr>
            </a:pPr>
            <a:r>
              <a:rPr sz="13050" b="1" spc="-30">
                <a:gradFill>
                  <a:gsLst>
                    <a:gs pos="0">
                      <a:srgbClr val="F4F8FF"/>
                    </a:gs>
                    <a:gs pos="55000">
                      <a:srgbClr val="B2DFFF"/>
                    </a:gs>
                    <a:gs pos="100000">
                      <a:srgbClr val="548EE1"/>
                    </a:gs>
                  </a:gsLst>
                  <a:lin ang="0"/>
                </a:gradFill>
                <a:latin typeface="Sora"/>
                <a:ea typeface="Sora"/>
                <a:cs typeface="Sora"/>
              </a:rPr>
              <a:t>57x</a:t>
            </a:r>
          </a:p>
        </p:txBody>
      </p:sp>
      <p:sp>
        <p:nvSpPr>
          <p:cNvPr id="7" name="Reported return on ad spend">
            <a:extLst xmlns:a="http://schemas.openxmlformats.org/drawingml/2006/main">
              <a:ext uri="{FF2B5EF4-FFF2-40B4-BE49-F238E27FC236}">
                <a16:creationId xmlns:a16="http://schemas.microsoft.com/office/drawing/2014/main" id="{990F35F3-E66F-4251-A760-69B223266E6E}"/>
              </a:ext>
            </a:extLst>
          </p:cNvPr>
          <p:cNvSpPr>
            <a:spLocks xmlns:a="http://schemas.openxmlformats.org/drawingml/2006/main" noGrp="1"/>
          </p:cNvSpPr>
          <p:nvPr/>
        </p:nvSpPr>
        <p:spPr>
          <a:xfrm xmlns:a="http://schemas.openxmlformats.org/drawingml/2006/main">
            <a:off x="647700" y="34004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A9B8CA"/>
                </a:solidFill>
                <a:latin typeface="Manrope"/>
                <a:ea typeface="Manrope"/>
                <a:cs typeface="Manrope"/>
              </a:defRPr>
            </a:defPPr>
          </a:lstStyle>
          <a:p xmlns:a="http://schemas.openxmlformats.org/drawingml/2006/main">
            <a:pPr>
              <a:lnSpc>
                <a:spcPct val="105000"/>
              </a:lnSpc>
              <a:buNone/>
              <a:defRPr sz="1800" b="0">
                <a:solidFill>
                  <a:srgbClr val="A9B8CA"/>
                </a:solidFill>
                <a:latin typeface="Manrope"/>
                <a:ea typeface="Manrope"/>
                <a:cs typeface="Manrope"/>
              </a:defRPr>
            </a:pPr>
            <a:r>
              <a:rPr sz="1800" b="0" spc="0">
                <a:solidFill>
                  <a:srgbClr val="A9B8CA"/>
                </a:solidFill>
                <a:latin typeface="Manrope"/>
                <a:ea typeface="Manrope"/>
                <a:cs typeface="Manrope"/>
              </a:rPr>
              <a:t>Reported return on ad spend</a:t>
            </a:r>
          </a:p>
        </p:txBody>
      </p:sp>
      <p:sp>
        <p:nvSpPr>
          <p:cNvPr id="8" name="Recruitment&#10;lead generation">
            <a:extLst xmlns:a="http://schemas.openxmlformats.org/drawingml/2006/main">
              <a:ext uri="{FF2B5EF4-FFF2-40B4-BE49-F238E27FC236}">
                <a16:creationId xmlns:a16="http://schemas.microsoft.com/office/drawing/2014/main" id="{F82F6A0C-DD39-46EE-A772-5C63982D09B5}"/>
              </a:ext>
            </a:extLst>
          </p:cNvPr>
          <p:cNvSpPr>
            <a:spLocks xmlns:a="http://schemas.openxmlformats.org/drawingml/2006/main" noGrp="1"/>
          </p:cNvSpPr>
          <p:nvPr/>
        </p:nvSpPr>
        <p:spPr>
          <a:xfrm xmlns:a="http://schemas.openxmlformats.org/drawingml/2006/main">
            <a:off x="6667500" y="1095375"/>
            <a:ext cx="4857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75"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3375" b="1">
                <a:solidFill>
                  <a:srgbClr val="F3F5F7"/>
                </a:solidFill>
                <a:latin typeface="Sora"/>
                <a:ea typeface="Sora"/>
                <a:cs typeface="Sora"/>
              </a:defRPr>
            </a:pPr>
            <a:r>
              <a:rPr sz="3375" b="1" spc="-30">
                <a:gradFill>
                  <a:gsLst>
                    <a:gs pos="0">
                      <a:srgbClr val="F4F8FF"/>
                    </a:gs>
                    <a:gs pos="55000">
                      <a:srgbClr val="B2DFFF"/>
                    </a:gs>
                    <a:gs pos="100000">
                      <a:srgbClr val="548EE1"/>
                    </a:gs>
                  </a:gsLst>
                  <a:lin ang="0"/>
                </a:gradFill>
                <a:latin typeface="Sora"/>
                <a:ea typeface="Sora"/>
                <a:cs typeface="Sora"/>
              </a:rPr>
              <a:t>Recruitment</a:t>
            </a:r>
          </a:p>
          <a:p xmlns:a="http://schemas.openxmlformats.org/drawingml/2006/main">
            <a:pPr>
              <a:lnSpc>
                <a:spcPct val="105000"/>
              </a:lnSpc>
              <a:buNone/>
              <a:defRPr sz="3375" b="1">
                <a:solidFill>
                  <a:srgbClr val="F3F5F7"/>
                </a:solidFill>
                <a:latin typeface="Sora"/>
                <a:ea typeface="Sora"/>
                <a:cs typeface="Sora"/>
              </a:defRPr>
            </a:pPr>
            <a:r>
              <a:rPr sz="3375" b="1" spc="-30">
                <a:gradFill>
                  <a:gsLst>
                    <a:gs pos="0">
                      <a:srgbClr val="F4F8FF"/>
                    </a:gs>
                    <a:gs pos="55000">
                      <a:srgbClr val="B2DFFF"/>
                    </a:gs>
                    <a:gs pos="100000">
                      <a:srgbClr val="548EE1"/>
                    </a:gs>
                  </a:gsLst>
                  <a:lin ang="0"/>
                </a:gradFill>
                <a:latin typeface="Sora"/>
                <a:ea typeface="Sora"/>
                <a:cs typeface="Sora"/>
              </a:rPr>
              <a:t>lead generation</a:t>
            </a:r>
          </a:p>
        </p:txBody>
      </p:sp>
      <p:sp>
        <p:nvSpPr>
          <p:cNvPr id="9" name="The approach">
            <a:extLst xmlns:a="http://schemas.openxmlformats.org/drawingml/2006/main">
              <a:ext uri="{FF2B5EF4-FFF2-40B4-BE49-F238E27FC236}">
                <a16:creationId xmlns:a16="http://schemas.microsoft.com/office/drawing/2014/main" id="{CBD49955-971E-4D71-BADB-CABBABB3C38B}"/>
              </a:ext>
            </a:extLst>
          </p:cNvPr>
          <p:cNvSpPr>
            <a:spLocks xmlns:a="http://schemas.openxmlformats.org/drawingml/2006/main" noGrp="1"/>
          </p:cNvSpPr>
          <p:nvPr/>
        </p:nvSpPr>
        <p:spPr>
          <a:xfrm xmlns:a="http://schemas.openxmlformats.org/drawingml/2006/main">
            <a:off x="6667500" y="30480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F3F5F7"/>
                </a:solidFill>
                <a:latin typeface="Manrope"/>
                <a:ea typeface="Manrope"/>
                <a:cs typeface="Manrope"/>
              </a:defRPr>
            </a:defPPr>
          </a:lstStyle>
          <a:p xmlns:a="http://schemas.openxmlformats.org/drawingml/2006/main">
            <a:pPr>
              <a:lnSpc>
                <a:spcPct val="105000"/>
              </a:lnSpc>
              <a:buNone/>
              <a:defRPr sz="1875" b="1">
                <a:solidFill>
                  <a:srgbClr val="F3F5F7"/>
                </a:solidFill>
                <a:latin typeface="Manrope"/>
                <a:ea typeface="Manrope"/>
                <a:cs typeface="Manrope"/>
              </a:defRPr>
            </a:pPr>
            <a:r>
              <a:rPr sz="1875" b="1" spc="0">
                <a:solidFill>
                  <a:srgbClr val="F3F5F7"/>
                </a:solidFill>
                <a:latin typeface="Manrope"/>
                <a:ea typeface="Manrope"/>
                <a:cs typeface="Manrope"/>
              </a:rPr>
              <a:t>The approach</a:t>
            </a:r>
          </a:p>
        </p:txBody>
      </p:sp>
      <p:sp>
        <p:nvSpPr>
          <p:cNvPr id="10" name="IT audience segmentation, lookalikes and Meta Instant Forms. Tested ad">
            <a:extLst xmlns:a="http://schemas.openxmlformats.org/drawingml/2006/main">
              <a:ext uri="{FF2B5EF4-FFF2-40B4-BE49-F238E27FC236}">
                <a16:creationId xmlns:a16="http://schemas.microsoft.com/office/drawing/2014/main" id="{AEB5DE90-8B29-4177-BF0B-D2696DFA2FB2}"/>
              </a:ext>
            </a:extLst>
          </p:cNvPr>
          <p:cNvSpPr>
            <a:spLocks xmlns:a="http://schemas.openxmlformats.org/drawingml/2006/main" noGrp="1"/>
          </p:cNvSpPr>
          <p:nvPr/>
        </p:nvSpPr>
        <p:spPr>
          <a:xfrm xmlns:a="http://schemas.openxmlformats.org/drawingml/2006/main">
            <a:off x="6667500" y="3562350"/>
            <a:ext cx="4572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A9B8CA"/>
                </a:solidFill>
                <a:latin typeface="Manrope"/>
                <a:ea typeface="Manrope"/>
                <a:cs typeface="Manrope"/>
              </a:defRPr>
            </a:defPPr>
          </a:lstStyle>
          <a:p xmlns:a="http://schemas.openxmlformats.org/drawingml/2006/main">
            <a:pPr>
              <a:lnSpc>
                <a:spcPct val="105000"/>
              </a:lnSpc>
              <a:buNone/>
              <a:defRPr sz="1650" b="0">
                <a:solidFill>
                  <a:srgbClr val="A9B8CA"/>
                </a:solidFill>
                <a:latin typeface="Manrope"/>
                <a:ea typeface="Manrope"/>
                <a:cs typeface="Manrope"/>
              </a:defRPr>
            </a:pPr>
            <a:r>
              <a:rPr sz="1650" b="0" spc="70">
                <a:solidFill>
                  <a:srgbClr val="A9B8CA"/>
                </a:solidFill>
                <a:latin typeface="Manrope"/>
                <a:ea typeface="Manrope"/>
                <a:cs typeface="Manrope"/>
              </a:rPr>
              <a:t>IT audience segmentation, lookalikes and Meta Instant Forms. Tested ad copy, creative and form questions.</a:t>
            </a:r>
          </a:p>
        </p:txBody>
      </p:sp>
      <p:sp>
        <p:nvSpPr>
          <p:cNvPr id="11" name="Metric panel Ad spend">
            <a:extLst xmlns:a="http://schemas.openxmlformats.org/drawingml/2006/main">
              <a:ext uri="{FF2B5EF4-FFF2-40B4-BE49-F238E27FC236}">
                <a16:creationId xmlns:a16="http://schemas.microsoft.com/office/drawing/2014/main" id="{EB1238E6-3EC3-4BCE-B386-CF23FC96689F}"/>
              </a:ext>
            </a:extLst>
          </p:cNvPr>
          <p:cNvSpPr>
            <a:spLocks xmlns:a="http://schemas.openxmlformats.org/drawingml/2006/main" noGrp="1"/>
          </p:cNvSpPr>
          <p:nvPr/>
        </p:nvSpPr>
        <p:spPr>
          <a:xfrm xmlns:a="http://schemas.openxmlformats.org/drawingml/2006/main">
            <a:off x="533400" y="4429125"/>
            <a:ext cx="2562225" cy="1685925"/>
          </a:xfrm>
          <a:prstGeom xmlns:a="http://schemas.openxmlformats.org/drawingml/2006/main" prst="roundRect">
            <a:avLst>
              <a:gd name="adj" fmla="val 6780"/>
            </a:avLst>
          </a:prstGeom>
          <a:gradFill xmlns:a="http://schemas.openxmlformats.org/drawingml/2006/main">
            <a:gsLst>
              <a:gs pos="0">
                <a:srgbClr val="143252">
                  <a:alpha val="84000"/>
                </a:srgbClr>
              </a:gs>
              <a:gs pos="100000">
                <a:srgbClr val="081524">
                  <a:alpha val="94000"/>
                </a:srgbClr>
              </a:gs>
            </a:gsLst>
            <a:lin ang="8100000"/>
          </a:gradFill>
          <a:ln xmlns:a="http://schemas.openxmlformats.org/drawingml/2006/main" w="9525">
            <a:solidFill>
              <a:srgbClr val="4D719A">
                <a:alpha val="60000"/>
              </a:srgbClr>
            </a:solidFill>
          </a:ln>
        </p:spPr>
      </p:sp>
      <p:sp>
        <p:nvSpPr>
          <p:cNvPr id="12" name="PKR 9K">
            <a:extLst xmlns:a="http://schemas.openxmlformats.org/drawingml/2006/main">
              <a:ext uri="{FF2B5EF4-FFF2-40B4-BE49-F238E27FC236}">
                <a16:creationId xmlns:a16="http://schemas.microsoft.com/office/drawing/2014/main" id="{1F9A11B4-ED64-4AF6-9216-B81DB6EE8615}"/>
              </a:ext>
            </a:extLst>
          </p:cNvPr>
          <p:cNvSpPr>
            <a:spLocks xmlns:a="http://schemas.openxmlformats.org/drawingml/2006/main" noGrp="1"/>
          </p:cNvSpPr>
          <p:nvPr/>
        </p:nvSpPr>
        <p:spPr>
          <a:xfrm xmlns:a="http://schemas.openxmlformats.org/drawingml/2006/main">
            <a:off x="647700" y="4543425"/>
            <a:ext cx="26003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75"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3375" b="1">
                <a:solidFill>
                  <a:srgbClr val="A8D4FF"/>
                </a:solidFill>
                <a:latin typeface="Sora"/>
                <a:ea typeface="Sora"/>
                <a:cs typeface="Sora"/>
              </a:defRPr>
            </a:pPr>
            <a:r>
              <a:rPr sz="3375" b="1" spc="-30">
                <a:gradFill>
                  <a:gsLst>
                    <a:gs pos="0">
                      <a:srgbClr val="F4F8FF"/>
                    </a:gs>
                    <a:gs pos="55000">
                      <a:srgbClr val="B2DFFF"/>
                    </a:gs>
                    <a:gs pos="100000">
                      <a:srgbClr val="548EE1"/>
                    </a:gs>
                  </a:gsLst>
                  <a:lin ang="0"/>
                </a:gradFill>
                <a:latin typeface="Sora"/>
                <a:ea typeface="Sora"/>
                <a:cs typeface="Sora"/>
              </a:rPr>
              <a:t>PKR 9K</a:t>
            </a:r>
          </a:p>
        </p:txBody>
      </p:sp>
      <p:sp>
        <p:nvSpPr>
          <p:cNvPr id="13" name="Ad spend">
            <a:extLst xmlns:a="http://schemas.openxmlformats.org/drawingml/2006/main">
              <a:ext uri="{FF2B5EF4-FFF2-40B4-BE49-F238E27FC236}">
                <a16:creationId xmlns:a16="http://schemas.microsoft.com/office/drawing/2014/main" id="{AE2C602C-33ED-487D-A097-E28121F6FC3F}"/>
              </a:ext>
            </a:extLst>
          </p:cNvPr>
          <p:cNvSpPr>
            <a:spLocks xmlns:a="http://schemas.openxmlformats.org/drawingml/2006/main" noGrp="1"/>
          </p:cNvSpPr>
          <p:nvPr/>
        </p:nvSpPr>
        <p:spPr>
          <a:xfrm xmlns:a="http://schemas.openxmlformats.org/drawingml/2006/main">
            <a:off x="647700" y="5495925"/>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A9B8CA"/>
                </a:solidFill>
                <a:latin typeface="Manrope"/>
                <a:ea typeface="Manrope"/>
                <a:cs typeface="Manrope"/>
              </a:defRPr>
            </a:defPPr>
          </a:lstStyle>
          <a:p xmlns:a="http://schemas.openxmlformats.org/drawingml/2006/main">
            <a:pPr>
              <a:lnSpc>
                <a:spcPct val="105000"/>
              </a:lnSpc>
              <a:buNone/>
              <a:defRPr sz="1275" b="0">
                <a:solidFill>
                  <a:srgbClr val="A9B8CA"/>
                </a:solidFill>
                <a:latin typeface="Manrope"/>
                <a:ea typeface="Manrope"/>
                <a:cs typeface="Manrope"/>
              </a:defRPr>
            </a:pPr>
            <a:r>
              <a:rPr sz="1275" b="0">
                <a:solidFill>
                  <a:srgbClr val="A9B8CA"/>
                </a:solidFill>
                <a:latin typeface="Manrope"/>
                <a:ea typeface="Manrope"/>
                <a:cs typeface="Manrope"/>
              </a:rPr>
              <a:t>Ad spend</a:t>
            </a:r>
          </a:p>
        </p:txBody>
      </p:sp>
      <p:sp>
        <p:nvSpPr>
          <p:cNvPr id="14" name="Metric panel Attributed revenue">
            <a:extLst xmlns:a="http://schemas.openxmlformats.org/drawingml/2006/main">
              <a:ext uri="{FF2B5EF4-FFF2-40B4-BE49-F238E27FC236}">
                <a16:creationId xmlns:a16="http://schemas.microsoft.com/office/drawing/2014/main" id="{BC3126EC-F047-4CB7-AD0B-7A7CB5A9A727}"/>
              </a:ext>
            </a:extLst>
          </p:cNvPr>
          <p:cNvSpPr>
            <a:spLocks xmlns:a="http://schemas.openxmlformats.org/drawingml/2006/main" noGrp="1"/>
          </p:cNvSpPr>
          <p:nvPr/>
        </p:nvSpPr>
        <p:spPr>
          <a:xfrm xmlns:a="http://schemas.openxmlformats.org/drawingml/2006/main">
            <a:off x="3495675" y="4429125"/>
            <a:ext cx="3238500" cy="1685925"/>
          </a:xfrm>
          <a:prstGeom xmlns:a="http://schemas.openxmlformats.org/drawingml/2006/main" prst="roundRect">
            <a:avLst>
              <a:gd name="adj" fmla="val 6780"/>
            </a:avLst>
          </a:prstGeom>
          <a:gradFill xmlns:a="http://schemas.openxmlformats.org/drawingml/2006/main">
            <a:gsLst>
              <a:gs pos="0">
                <a:srgbClr val="143252">
                  <a:alpha val="84000"/>
                </a:srgbClr>
              </a:gs>
              <a:gs pos="100000">
                <a:srgbClr val="081524">
                  <a:alpha val="94000"/>
                </a:srgbClr>
              </a:gs>
            </a:gsLst>
            <a:lin ang="8100000"/>
          </a:gradFill>
          <a:ln xmlns:a="http://schemas.openxmlformats.org/drawingml/2006/main" w="9525">
            <a:solidFill>
              <a:srgbClr val="4D719A">
                <a:alpha val="60000"/>
              </a:srgbClr>
            </a:solidFill>
          </a:ln>
        </p:spPr>
      </p:sp>
      <p:sp>
        <p:nvSpPr>
          <p:cNvPr id="15" name="PKR 520K">
            <a:extLst xmlns:a="http://schemas.openxmlformats.org/drawingml/2006/main">
              <a:ext uri="{FF2B5EF4-FFF2-40B4-BE49-F238E27FC236}">
                <a16:creationId xmlns:a16="http://schemas.microsoft.com/office/drawing/2014/main" id="{A65FCF5C-1018-4F5D-95AD-63B34731F5A6}"/>
              </a:ext>
            </a:extLst>
          </p:cNvPr>
          <p:cNvSpPr>
            <a:spLocks xmlns:a="http://schemas.openxmlformats.org/drawingml/2006/main" noGrp="1"/>
          </p:cNvSpPr>
          <p:nvPr/>
        </p:nvSpPr>
        <p:spPr>
          <a:xfrm xmlns:a="http://schemas.openxmlformats.org/drawingml/2006/main">
            <a:off x="3609975" y="4543425"/>
            <a:ext cx="3276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75"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3375" b="1">
                <a:solidFill>
                  <a:srgbClr val="A8D4FF"/>
                </a:solidFill>
                <a:latin typeface="Sora"/>
                <a:ea typeface="Sora"/>
                <a:cs typeface="Sora"/>
              </a:defRPr>
            </a:pPr>
            <a:r>
              <a:rPr sz="3375" b="1" spc="-30">
                <a:gradFill>
                  <a:gsLst>
                    <a:gs pos="0">
                      <a:srgbClr val="F4F8FF"/>
                    </a:gs>
                    <a:gs pos="55000">
                      <a:srgbClr val="B2DFFF"/>
                    </a:gs>
                    <a:gs pos="100000">
                      <a:srgbClr val="548EE1"/>
                    </a:gs>
                  </a:gsLst>
                  <a:lin ang="0"/>
                </a:gradFill>
                <a:latin typeface="Sora"/>
                <a:ea typeface="Sora"/>
                <a:cs typeface="Sora"/>
              </a:rPr>
              <a:t>PKR 520K</a:t>
            </a:r>
          </a:p>
        </p:txBody>
      </p:sp>
      <p:sp>
        <p:nvSpPr>
          <p:cNvPr id="16" name="Attributed revenue">
            <a:extLst xmlns:a="http://schemas.openxmlformats.org/drawingml/2006/main">
              <a:ext uri="{FF2B5EF4-FFF2-40B4-BE49-F238E27FC236}">
                <a16:creationId xmlns:a16="http://schemas.microsoft.com/office/drawing/2014/main" id="{C2E968CF-4CE7-4F34-BC42-593A415A72AB}"/>
              </a:ext>
            </a:extLst>
          </p:cNvPr>
          <p:cNvSpPr>
            <a:spLocks xmlns:a="http://schemas.openxmlformats.org/drawingml/2006/main" noGrp="1"/>
          </p:cNvSpPr>
          <p:nvPr/>
        </p:nvSpPr>
        <p:spPr>
          <a:xfrm xmlns:a="http://schemas.openxmlformats.org/drawingml/2006/main">
            <a:off x="3609975" y="5495925"/>
            <a:ext cx="3009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A9B8CA"/>
                </a:solidFill>
                <a:latin typeface="Manrope"/>
                <a:ea typeface="Manrope"/>
                <a:cs typeface="Manrope"/>
              </a:defRPr>
            </a:defPPr>
          </a:lstStyle>
          <a:p xmlns:a="http://schemas.openxmlformats.org/drawingml/2006/main">
            <a:pPr>
              <a:lnSpc>
                <a:spcPct val="105000"/>
              </a:lnSpc>
              <a:buNone/>
              <a:defRPr sz="1275" b="0">
                <a:solidFill>
                  <a:srgbClr val="A9B8CA"/>
                </a:solidFill>
                <a:latin typeface="Manrope"/>
                <a:ea typeface="Manrope"/>
                <a:cs typeface="Manrope"/>
              </a:defRPr>
            </a:pPr>
            <a:r>
              <a:rPr sz="1275" b="0">
                <a:solidFill>
                  <a:srgbClr val="A9B8CA"/>
                </a:solidFill>
                <a:latin typeface="Manrope"/>
                <a:ea typeface="Manrope"/>
                <a:cs typeface="Manrope"/>
              </a:rPr>
              <a:t>Attributed revenue</a:t>
            </a:r>
          </a:p>
        </p:txBody>
      </p:sp>
      <p:sp>
        <p:nvSpPr>
          <p:cNvPr id="17" name="Metric panel Leads generated">
            <a:extLst xmlns:a="http://schemas.openxmlformats.org/drawingml/2006/main">
              <a:ext uri="{FF2B5EF4-FFF2-40B4-BE49-F238E27FC236}">
                <a16:creationId xmlns:a16="http://schemas.microsoft.com/office/drawing/2014/main" id="{CF12D09C-60E4-48DA-97B7-D5DAAE8C2393}"/>
              </a:ext>
            </a:extLst>
          </p:cNvPr>
          <p:cNvSpPr>
            <a:spLocks xmlns:a="http://schemas.openxmlformats.org/drawingml/2006/main" noGrp="1"/>
          </p:cNvSpPr>
          <p:nvPr/>
        </p:nvSpPr>
        <p:spPr>
          <a:xfrm xmlns:a="http://schemas.openxmlformats.org/drawingml/2006/main">
            <a:off x="7734300" y="4429125"/>
            <a:ext cx="3105150" cy="1685925"/>
          </a:xfrm>
          <a:prstGeom xmlns:a="http://schemas.openxmlformats.org/drawingml/2006/main" prst="roundRect">
            <a:avLst>
              <a:gd name="adj" fmla="val 6780"/>
            </a:avLst>
          </a:prstGeom>
          <a:gradFill xmlns:a="http://schemas.openxmlformats.org/drawingml/2006/main">
            <a:gsLst>
              <a:gs pos="0">
                <a:srgbClr val="143252">
                  <a:alpha val="84000"/>
                </a:srgbClr>
              </a:gs>
              <a:gs pos="100000">
                <a:srgbClr val="081524">
                  <a:alpha val="94000"/>
                </a:srgbClr>
              </a:gs>
            </a:gsLst>
            <a:lin ang="8100000"/>
          </a:gradFill>
          <a:ln xmlns:a="http://schemas.openxmlformats.org/drawingml/2006/main" w="9525">
            <a:solidFill>
              <a:srgbClr val="4D719A">
                <a:alpha val="60000"/>
              </a:srgbClr>
            </a:solidFill>
          </a:ln>
        </p:spPr>
      </p:sp>
      <p:sp>
        <p:nvSpPr>
          <p:cNvPr id="18" name="63">
            <a:extLst xmlns:a="http://schemas.openxmlformats.org/drawingml/2006/main">
              <a:ext uri="{FF2B5EF4-FFF2-40B4-BE49-F238E27FC236}">
                <a16:creationId xmlns:a16="http://schemas.microsoft.com/office/drawing/2014/main" id="{73697D3D-774D-486F-8576-E6C8A2DFB1F7}"/>
              </a:ext>
            </a:extLst>
          </p:cNvPr>
          <p:cNvSpPr>
            <a:spLocks xmlns:a="http://schemas.openxmlformats.org/drawingml/2006/main" noGrp="1"/>
          </p:cNvSpPr>
          <p:nvPr/>
        </p:nvSpPr>
        <p:spPr>
          <a:xfrm xmlns:a="http://schemas.openxmlformats.org/drawingml/2006/main">
            <a:off x="7848600" y="454342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4650" b="1">
                <a:solidFill>
                  <a:srgbClr val="A8D4FF"/>
                </a:solidFill>
                <a:latin typeface="Sora"/>
                <a:ea typeface="Sora"/>
                <a:cs typeface="Sora"/>
              </a:defRPr>
            </a:pPr>
            <a:r>
              <a:rPr sz="4650" b="1" spc="-30">
                <a:gradFill>
                  <a:gsLst>
                    <a:gs pos="0">
                      <a:srgbClr val="F4F8FF"/>
                    </a:gs>
                    <a:gs pos="55000">
                      <a:srgbClr val="B2DFFF"/>
                    </a:gs>
                    <a:gs pos="100000">
                      <a:srgbClr val="548EE1"/>
                    </a:gs>
                  </a:gsLst>
                  <a:lin ang="0"/>
                </a:gradFill>
                <a:latin typeface="Sora"/>
                <a:ea typeface="Sora"/>
                <a:cs typeface="Sora"/>
              </a:rPr>
              <a:t>63</a:t>
            </a:r>
          </a:p>
        </p:txBody>
      </p:sp>
      <p:sp>
        <p:nvSpPr>
          <p:cNvPr id="19" name="Leads generated">
            <a:extLst xmlns:a="http://schemas.openxmlformats.org/drawingml/2006/main">
              <a:ext uri="{FF2B5EF4-FFF2-40B4-BE49-F238E27FC236}">
                <a16:creationId xmlns:a16="http://schemas.microsoft.com/office/drawing/2014/main" id="{05B251D6-749F-4206-A549-DE2100F2385D}"/>
              </a:ext>
            </a:extLst>
          </p:cNvPr>
          <p:cNvSpPr>
            <a:spLocks xmlns:a="http://schemas.openxmlformats.org/drawingml/2006/main" noGrp="1"/>
          </p:cNvSpPr>
          <p:nvPr/>
        </p:nvSpPr>
        <p:spPr>
          <a:xfrm xmlns:a="http://schemas.openxmlformats.org/drawingml/2006/main">
            <a:off x="7848600" y="549592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A9B8CA"/>
                </a:solidFill>
                <a:latin typeface="Manrope"/>
                <a:ea typeface="Manrope"/>
                <a:cs typeface="Manrope"/>
              </a:defRPr>
            </a:defPPr>
          </a:lstStyle>
          <a:p xmlns:a="http://schemas.openxmlformats.org/drawingml/2006/main">
            <a:pPr>
              <a:lnSpc>
                <a:spcPct val="105000"/>
              </a:lnSpc>
              <a:buNone/>
              <a:defRPr sz="1275" b="0">
                <a:solidFill>
                  <a:srgbClr val="A9B8CA"/>
                </a:solidFill>
                <a:latin typeface="Manrope"/>
                <a:ea typeface="Manrope"/>
                <a:cs typeface="Manrope"/>
              </a:defRPr>
            </a:pPr>
            <a:r>
              <a:rPr sz="1275" b="0">
                <a:solidFill>
                  <a:srgbClr val="A9B8CA"/>
                </a:solidFill>
                <a:latin typeface="Manrope"/>
                <a:ea typeface="Manrope"/>
                <a:cs typeface="Manrope"/>
              </a:rPr>
              <a:t>Leads generated</a:t>
            </a:r>
          </a:p>
        </p:txBody>
      </p:sp>
    </p:spTree>
    <p:extLst>
      <p:ext uri="{BB962C8B-B14F-4D97-AF65-F5344CB8AC3E}">
        <p14:creationId xmlns:p14="http://schemas.microsoft.com/office/powerpoint/2010/main" val="1075176951"/>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720" fill="hold"/>
                                  <p:tgtEl>
                                    <p:spTgt spid="6"/>
                                  </p:tgtEl>
                                </p:cBhvr>
                              </p:animEffect>
                              <p:animScale>
                                <p:cBhvr additive="base">
                                  <p:cTn id="7" dur="720" fill="hold" accel="0" decel="60000"/>
                                  <p:tgtEl>
                                    <p:spTgt spid="6"/>
                                  </p:tgtEl>
                                </p:cBhvr>
                                <p:from x="94000" y="94000"/>
                                <p:to x="100000" y="100000"/>
                              </p:animScale>
                              <p:anim calcmode="lin" valueType="num">
                                <p:cBhvr additive="base">
                                  <p:cTn id="8" dur="720" fill="hold" decel="60000"/>
                                  <p:tgtEl>
                                    <p:spTgt spid="6"/>
                                  </p:tgtEl>
                                  <p:attrNameLst>
                                    <p:attrName>ppt_y</p:attrName>
                                  </p:attrNameLst>
                                </p:cBhvr>
                                <p:tavLst>
                                  <p:tav tm="0">
                                    <p:val>
                                      <p:strVal val="#ppt_y+0.025"/>
                                    </p:val>
                                  </p:tav>
                                  <p:tav tm="100000">
                                    <p:val>
                                      <p:strVal val="#ppt_y"/>
                                    </p:val>
                                  </p:tav>
                                </p:tavLst>
                              </p:anim>
                            </p:childTnLst>
                          </p:cTn>
                        </p:par>
                        <p:par>
                          <p:cTn id="9" presetID="10" presetClass="entr" presetSubtype="0" fill="hold" grpId="0" nodeType="withEffect">
                            <p:stCondLst>
                              <p:cond delay="265"/>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50" fill="hold"/>
                                  <p:tgtEl>
                                    <p:spTgt spid="7"/>
                                  </p:tgtEl>
                                </p:cBhvr>
                              </p:animEffect>
                            </p:childTnLst>
                          </p:cTn>
                        </p:par>
                        <p:par>
                          <p:cTn id="12" presetID="10" presetClass="entr" presetSubtype="0" fill="hold" grpId="0" nodeType="withEffect">
                            <p:stCondLst>
                              <p:cond delay="38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50" fill="hold"/>
                                  <p:tgtEl>
                                    <p:spTgt spid="8"/>
                                  </p:tgtEl>
                                </p:cBhvr>
                              </p:animEffect>
                              <p:anim calcmode="lin" valueType="num">
                                <p:cBhvr additive="base">
                                  <p:cTn id="15" dur="550" fill="hold" decel="60000"/>
                                  <p:tgtEl>
                                    <p:spTgt spid="8"/>
                                  </p:tgtEl>
                                  <p:attrNameLst>
                                    <p:attrName>ppt_y</p:attrName>
                                  </p:attrNameLst>
                                </p:cBhvr>
                                <p:tavLst>
                                  <p:tav tm="0">
                                    <p:val>
                                      <p:strVal val="#ppt_y+0.025"/>
                                    </p:val>
                                  </p:tav>
                                  <p:tav tm="100000">
                                    <p:val>
                                      <p:strVal val="#ppt_y"/>
                                    </p:val>
                                  </p:tav>
                                </p:tavLst>
                              </p:anim>
                            </p:childTnLst>
                          </p:cTn>
                        </p:par>
                        <p:par>
                          <p:cTn id="16" presetID="10" presetClass="entr" presetSubtype="0" fill="hold" grpId="0" nodeType="withEffect">
                            <p:stCondLst>
                              <p:cond delay="495"/>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50" fill="hold"/>
                                  <p:tgtEl>
                                    <p:spTgt spid="9"/>
                                  </p:tgtEl>
                                </p:cBhvr>
                              </p:animEffect>
                            </p:childTnLst>
                          </p:cTn>
                        </p:par>
                        <p:par>
                          <p:cTn id="19" presetID="10" presetClass="entr" presetSubtype="0" fill="hold" grpId="0" nodeType="withEffect">
                            <p:stCondLst>
                              <p:cond delay="61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50" fill="hold"/>
                                  <p:tgtEl>
                                    <p:spTgt spid="10"/>
                                  </p:tgtEl>
                                </p:cBhvr>
                              </p:animEffect>
                            </p:childTnLst>
                          </p:cTn>
                        </p:par>
                        <p:par>
                          <p:cTn id="22" presetID="10" presetClass="entr" presetSubtype="0" fill="hold" grpId="0" nodeType="withEffect">
                            <p:stCondLst>
                              <p:cond delay="725"/>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50" fill="hold"/>
                                  <p:tgtEl>
                                    <p:spTgt spid="12"/>
                                  </p:tgtEl>
                                </p:cBhvr>
                              </p:animEffect>
                              <p:anim calcmode="lin" valueType="num">
                                <p:cBhvr additive="base">
                                  <p:cTn id="25" dur="550" fill="hold" decel="60000"/>
                                  <p:tgtEl>
                                    <p:spTgt spid="12"/>
                                  </p:tgtEl>
                                  <p:attrNameLst>
                                    <p:attrName>ppt_y</p:attrName>
                                  </p:attrNameLst>
                                </p:cBhvr>
                                <p:tavLst>
                                  <p:tav tm="0">
                                    <p:val>
                                      <p:strVal val="#ppt_y+0.025"/>
                                    </p:val>
                                  </p:tav>
                                  <p:tav tm="100000">
                                    <p:val>
                                      <p:strVal val="#ppt_y"/>
                                    </p:val>
                                  </p:tav>
                                </p:tavLst>
                              </p:anim>
                            </p:childTnLst>
                          </p:cTn>
                        </p:par>
                        <p:par>
                          <p:cTn id="26" presetID="10" presetClass="entr" presetSubtype="0" fill="hold" grpId="0" nodeType="withEffect">
                            <p:stCondLst>
                              <p:cond delay="84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50" fill="hold"/>
                                  <p:tgtEl>
                                    <p:spTgt spid="15"/>
                                  </p:tgtEl>
                                </p:cBhvr>
                              </p:animEffect>
                              <p:anim calcmode="lin" valueType="num">
                                <p:cBhvr additive="base">
                                  <p:cTn id="29" dur="550" fill="hold" decel="60000"/>
                                  <p:tgtEl>
                                    <p:spTgt spid="15"/>
                                  </p:tgtEl>
                                  <p:attrNameLst>
                                    <p:attrName>ppt_y</p:attrName>
                                  </p:attrNameLst>
                                </p:cBhvr>
                                <p:tavLst>
                                  <p:tav tm="0">
                                    <p:val>
                                      <p:strVal val="#ppt_y+0.025"/>
                                    </p:val>
                                  </p:tav>
                                  <p:tav tm="100000">
                                    <p:val>
                                      <p:strVal val="#ppt_y"/>
                                    </p:val>
                                  </p:tav>
                                </p:tavLst>
                              </p:anim>
                            </p:childTnLst>
                          </p:cTn>
                        </p:par>
                        <p:par>
                          <p:cTn id="30" presetID="10" presetClass="entr" presetSubtype="0" fill="hold" grpId="0" nodeType="withEffect">
                            <p:stCondLst>
                              <p:cond delay="955"/>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50" fill="hold"/>
                                  <p:tgtEl>
                                    <p:spTgt spid="18"/>
                                  </p:tgtEl>
                                </p:cBhvr>
                              </p:animEffect>
                              <p:anim calcmode="lin" valueType="num">
                                <p:cBhvr additive="base">
                                  <p:cTn id="33" dur="550" fill="hold" decel="60000"/>
                                  <p:tgtEl>
                                    <p:spTgt spid="18"/>
                                  </p:tgtEl>
                                  <p:attrNameLst>
                                    <p:attrName>ppt_y</p:attrName>
                                  </p:attrNameLst>
                                </p:cBhvr>
                                <p:tavLst>
                                  <p:tav tm="0">
                                    <p:val>
                                      <p:strVal val="#ppt_y+0.025"/>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P spid="9" grpId="0" build="allAtOnce"/>
      <p:bldP spid="10" grpId="0" build="allAtOnce"/>
      <p:bldP spid="12" grpId="0" build="allAtOnce"/>
      <p:bldP spid="15" grpId="0" build="allAtOnce"/>
      <p:bldP spid="18" grpId="0" build="allAtOnce"/>
    </p:bldLst>
  </p:timing>
</p:sld>
</file>

<file path=ppt/slides/slide4.xml><?xml version="1.0" encoding="utf-8"?>
<p:sld xmlns:p="http://schemas.openxmlformats.org/presentationml/2006/main">
  <p:cSld>
    <p:bg>
      <p:bgPr>
        <a:solidFill xmlns:a="http://schemas.openxmlformats.org/drawingml/2006/main">
          <a:srgbClr val="F3F5F7"/>
        </a:solidFill>
      </p:bgPr>
    </p:bg>
    <p:spTree>
      <p:nvGrpSpPr>
        <p:cNvPr id="1" name=""/>
        <p:cNvGrpSpPr/>
        <p:nvPr/>
      </p:nvGrpSpPr>
      <p:grpSpPr>
        <a:xfrm xmlns:a="http://schemas.openxmlformats.org/drawingml/2006/main"/>
      </p:grpSpPr>
      <p:sp>
        <p:nvSpPr>
          <p:cNvPr id="16" name="03 / THE HIRING / MAY 2026">
            <a:extLst xmlns:a="http://schemas.openxmlformats.org/drawingml/2006/main">
              <a:ext uri="{FF2B5EF4-FFF2-40B4-BE49-F238E27FC236}">
                <a16:creationId xmlns:a16="http://schemas.microsoft.com/office/drawing/2014/main" id="{0AA3DE56-7425-4049-91E2-21052FCC4545}"/>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15375B"/>
                </a:solidFill>
                <a:latin typeface="Manrope"/>
                <a:ea typeface="Manrope"/>
                <a:cs typeface="Manrope"/>
              </a:defRPr>
            </a:defPPr>
          </a:lstStyle>
          <a:p xmlns:a="http://schemas.openxmlformats.org/drawingml/2006/main">
            <a:pPr>
              <a:lnSpc>
                <a:spcPct val="105000"/>
              </a:lnSpc>
              <a:buNone/>
              <a:defRPr sz="1050" b="1">
                <a:solidFill>
                  <a:srgbClr val="15375B"/>
                </a:solidFill>
                <a:latin typeface="Manrope"/>
                <a:ea typeface="Manrope"/>
                <a:cs typeface="Manrope"/>
              </a:defRPr>
            </a:pPr>
            <a:r>
              <a:rPr sz="1050" b="1">
                <a:solidFill>
                  <a:srgbClr val="15375B"/>
                </a:solidFill>
                <a:latin typeface="Manrope"/>
                <a:ea typeface="Manrope"/>
                <a:cs typeface="Manrope"/>
              </a:rPr>
              <a:t>03 / THE HIRING / MAY 2026</a:t>
            </a:r>
          </a:p>
        </p:txBody>
      </p:sp>
      <p:sp>
        <p:nvSpPr>
          <p:cNvPr id="2" name="A second campaign.&#10;A 25x return.">
            <a:extLst xmlns:a="http://schemas.openxmlformats.org/drawingml/2006/main">
              <a:ext uri="{FF2B5EF4-FFF2-40B4-BE49-F238E27FC236}">
                <a16:creationId xmlns:a16="http://schemas.microsoft.com/office/drawing/2014/main" id="{2FD36BBF-5628-46F0-AA39-2F9792BFA578}"/>
              </a:ext>
            </a:extLst>
          </p:cNvPr>
          <p:cNvSpPr>
            <a:spLocks xmlns:a="http://schemas.openxmlformats.org/drawingml/2006/main" noGrp="1"/>
          </p:cNvSpPr>
          <p:nvPr/>
        </p:nvSpPr>
        <p:spPr>
          <a:xfrm xmlns:a="http://schemas.openxmlformats.org/drawingml/2006/main">
            <a:off x="609600" y="8572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080D15"/>
                </a:solidFill>
                <a:latin typeface="Sora"/>
                <a:ea typeface="Sora"/>
                <a:cs typeface="Sora"/>
              </a:defRPr>
            </a:defPPr>
          </a:lstStyle>
          <a:p xmlns:a="http://schemas.openxmlformats.org/drawingml/2006/main">
            <a:pPr>
              <a:lnSpc>
                <a:spcPct val="105000"/>
              </a:lnSpc>
              <a:buNone/>
              <a:defRPr sz="3600" b="1">
                <a:solidFill>
                  <a:srgbClr val="080D15"/>
                </a:solidFill>
                <a:latin typeface="Sora"/>
                <a:ea typeface="Sora"/>
                <a:cs typeface="Sora"/>
              </a:defRPr>
            </a:pPr>
            <a:r>
              <a:rPr sz="3600" b="1" spc="-30">
                <a:solidFill>
                  <a:srgbClr val="080D15"/>
                </a:solidFill>
                <a:latin typeface="Sora"/>
                <a:ea typeface="Sora"/>
                <a:cs typeface="Sora"/>
              </a:rPr>
              <a:t>A second campaign.</a:t>
            </a:r>
          </a:p>
          <a:p xmlns:a="http://schemas.openxmlformats.org/drawingml/2006/main">
            <a:pPr>
              <a:lnSpc>
                <a:spcPct val="105000"/>
              </a:lnSpc>
              <a:buNone/>
              <a:defRPr sz="3600" b="1">
                <a:solidFill>
                  <a:srgbClr val="080D15"/>
                </a:solidFill>
                <a:latin typeface="Sora"/>
                <a:ea typeface="Sora"/>
                <a:cs typeface="Sora"/>
              </a:defRPr>
            </a:pPr>
            <a:r>
              <a:rPr sz="3600" b="1" spc="-30">
                <a:solidFill>
                  <a:srgbClr val="080D15"/>
                </a:solidFill>
                <a:latin typeface="Sora"/>
                <a:ea typeface="Sora"/>
                <a:cs typeface="Sora"/>
              </a:rPr>
              <a:t>A 25x return.</a:t>
            </a:r>
          </a:p>
        </p:txBody>
      </p:sp>
      <p:sp>
        <p:nvSpPr>
          <p:cNvPr id="3" name="KHAWAJA SAIM">
            <a:extLst xmlns:a="http://schemas.openxmlformats.org/drawingml/2006/main">
              <a:ext uri="{FF2B5EF4-FFF2-40B4-BE49-F238E27FC236}">
                <a16:creationId xmlns:a16="http://schemas.microsoft.com/office/drawing/2014/main" id="{66F6522B-0BC4-4198-8D2B-86B55FE84551}"/>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15375B"/>
                </a:solidFill>
                <a:latin typeface="Manrope"/>
                <a:ea typeface="Manrope"/>
                <a:cs typeface="Manrope"/>
              </a:defRPr>
            </a:defPPr>
          </a:lstStyle>
          <a:p xmlns:a="http://schemas.openxmlformats.org/drawingml/2006/main">
            <a:pPr>
              <a:lnSpc>
                <a:spcPct val="105000"/>
              </a:lnSpc>
              <a:buNone/>
              <a:defRPr sz="900" b="1">
                <a:solidFill>
                  <a:srgbClr val="15375B"/>
                </a:solidFill>
                <a:latin typeface="Manrope"/>
                <a:ea typeface="Manrope"/>
                <a:cs typeface="Manrope"/>
              </a:defRPr>
            </a:pPr>
            <a:r>
              <a:rPr sz="900" b="1">
                <a:solidFill>
                  <a:srgbClr val="15375B"/>
                </a:solidFill>
                <a:latin typeface="Manrope"/>
                <a:ea typeface="Manrope"/>
                <a:cs typeface="Manrope"/>
              </a:rPr>
              <a:t>KHAWAJA SAIM</a:t>
            </a:r>
          </a:p>
        </p:txBody>
      </p:sp>
      <p:sp>
        <p:nvSpPr>
          <p:cNvPr id="4" name="04">
            <a:extLst xmlns:a="http://schemas.openxmlformats.org/drawingml/2006/main">
              <a:ext uri="{FF2B5EF4-FFF2-40B4-BE49-F238E27FC236}">
                <a16:creationId xmlns:a16="http://schemas.microsoft.com/office/drawing/2014/main" id="{EC313D41-BD99-4DCC-85BC-388DEA85B233}"/>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15375B"/>
                </a:solidFill>
                <a:latin typeface="Manrope"/>
                <a:ea typeface="Manrope"/>
                <a:cs typeface="Manrope"/>
              </a:defRPr>
            </a:defPPr>
          </a:lstStyle>
          <a:p xmlns:a="http://schemas.openxmlformats.org/drawingml/2006/main">
            <a:pPr>
              <a:lnSpc>
                <a:spcPct val="105000"/>
              </a:lnSpc>
              <a:buNone/>
              <a:defRPr sz="1050" b="0">
                <a:solidFill>
                  <a:srgbClr val="15375B"/>
                </a:solidFill>
                <a:latin typeface="Manrope"/>
                <a:ea typeface="Manrope"/>
                <a:cs typeface="Manrope"/>
              </a:defRPr>
            </a:pPr>
            <a:r>
              <a:rPr sz="1050" b="0">
                <a:solidFill>
                  <a:srgbClr val="15375B"/>
                </a:solidFill>
                <a:latin typeface="Manrope"/>
                <a:ea typeface="Manrope"/>
                <a:cs typeface="Manrope"/>
              </a:rPr>
              <a:t>04</a:t>
            </a:r>
          </a:p>
        </p:txBody>
      </p:sp>
      <p:sp>
        <p:nvSpPr>
          <p:cNvPr id="5" name="12-day Meta lead generation test">
            <a:extLst xmlns:a="http://schemas.openxmlformats.org/drawingml/2006/main">
              <a:ext uri="{FF2B5EF4-FFF2-40B4-BE49-F238E27FC236}">
                <a16:creationId xmlns:a16="http://schemas.microsoft.com/office/drawing/2014/main" id="{A1200D8D-0FC1-40D9-A91C-8069B422C640}"/>
              </a:ext>
            </a:extLst>
          </p:cNvPr>
          <p:cNvSpPr>
            <a:spLocks xmlns:a="http://schemas.openxmlformats.org/drawingml/2006/main" noGrp="1"/>
          </p:cNvSpPr>
          <p:nvPr/>
        </p:nvSpPr>
        <p:spPr>
          <a:xfrm xmlns:a="http://schemas.openxmlformats.org/drawingml/2006/main">
            <a:off x="638175" y="2095500"/>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06079"/>
                </a:solidFill>
                <a:latin typeface="Manrope"/>
                <a:ea typeface="Manrope"/>
                <a:cs typeface="Manrope"/>
              </a:defRPr>
            </a:defPPr>
          </a:lstStyle>
          <a:p xmlns:a="http://schemas.openxmlformats.org/drawingml/2006/main">
            <a:pPr>
              <a:lnSpc>
                <a:spcPct val="105000"/>
              </a:lnSpc>
              <a:buNone/>
              <a:defRPr sz="1650" b="0">
                <a:solidFill>
                  <a:srgbClr val="506079"/>
                </a:solidFill>
                <a:latin typeface="Manrope"/>
                <a:ea typeface="Manrope"/>
                <a:cs typeface="Manrope"/>
              </a:defRPr>
            </a:pPr>
            <a:r>
              <a:rPr sz="1650" b="0" spc="70">
                <a:solidFill>
                  <a:srgbClr val="506079"/>
                </a:solidFill>
                <a:latin typeface="Manrope"/>
                <a:ea typeface="Manrope"/>
                <a:cs typeface="Manrope"/>
              </a:rPr>
              <a:t>12-day Meta lead generation test</a:t>
            </a:r>
          </a:p>
        </p:txBody>
      </p:sp>
      <p:sp>
        <p:nvSpPr>
          <p:cNvPr id="6" name="Metric panel Leads generated">
            <a:extLst xmlns:a="http://schemas.openxmlformats.org/drawingml/2006/main">
              <a:ext uri="{FF2B5EF4-FFF2-40B4-BE49-F238E27FC236}">
                <a16:creationId xmlns:a16="http://schemas.microsoft.com/office/drawing/2014/main" id="{36AE1D08-C794-4107-B58B-1B92BBFD1D14}"/>
              </a:ext>
            </a:extLst>
          </p:cNvPr>
          <p:cNvSpPr>
            <a:spLocks xmlns:a="http://schemas.openxmlformats.org/drawingml/2006/main" noGrp="1"/>
          </p:cNvSpPr>
          <p:nvPr/>
        </p:nvSpPr>
        <p:spPr>
          <a:xfrm xmlns:a="http://schemas.openxmlformats.org/drawingml/2006/main">
            <a:off x="495300" y="2800350"/>
            <a:ext cx="2247900" cy="1685925"/>
          </a:xfrm>
          <a:prstGeom xmlns:a="http://schemas.openxmlformats.org/drawingml/2006/main" prst="roundRect">
            <a:avLst>
              <a:gd name="adj" fmla="val 6780"/>
            </a:avLst>
          </a:prstGeom>
          <a:solidFill xmlns:a="http://schemas.openxmlformats.org/drawingml/2006/main">
            <a:srgbClr val="E7EDF4"/>
          </a:solidFill>
          <a:ln xmlns:a="http://schemas.openxmlformats.org/drawingml/2006/main" w="9525">
            <a:solidFill>
              <a:srgbClr val="CDDAE6"/>
            </a:solidFill>
          </a:ln>
        </p:spPr>
      </p:sp>
      <p:sp>
        <p:nvSpPr>
          <p:cNvPr id="7" name="62">
            <a:extLst xmlns:a="http://schemas.openxmlformats.org/drawingml/2006/main">
              <a:ext uri="{FF2B5EF4-FFF2-40B4-BE49-F238E27FC236}">
                <a16:creationId xmlns:a16="http://schemas.microsoft.com/office/drawing/2014/main" id="{374BA02F-CA35-451B-8D3A-902163FB9CE2}"/>
              </a:ext>
            </a:extLst>
          </p:cNvPr>
          <p:cNvSpPr>
            <a:spLocks xmlns:a="http://schemas.openxmlformats.org/drawingml/2006/main" noGrp="1"/>
          </p:cNvSpPr>
          <p:nvPr/>
        </p:nvSpPr>
        <p:spPr>
          <a:xfrm xmlns:a="http://schemas.openxmlformats.org/drawingml/2006/main">
            <a:off x="609600" y="2914650"/>
            <a:ext cx="228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400" b="1">
                <a:solidFill>
                  <a:srgbClr val="15375B"/>
                </a:solidFill>
                <a:latin typeface="Sora"/>
                <a:ea typeface="Sora"/>
                <a:cs typeface="Sora"/>
              </a:defRPr>
            </a:defPPr>
          </a:lstStyle>
          <a:p xmlns:a="http://schemas.openxmlformats.org/drawingml/2006/main">
            <a:pPr>
              <a:lnSpc>
                <a:spcPct val="105000"/>
              </a:lnSpc>
              <a:buNone/>
              <a:defRPr sz="5400" b="1">
                <a:solidFill>
                  <a:srgbClr val="15375B"/>
                </a:solidFill>
                <a:latin typeface="Sora"/>
                <a:ea typeface="Sora"/>
                <a:cs typeface="Sora"/>
              </a:defRPr>
            </a:pPr>
            <a:r>
              <a:rPr sz="5400" b="1" spc="-30">
                <a:solidFill>
                  <a:srgbClr val="15375B"/>
                </a:solidFill>
                <a:latin typeface="Sora"/>
                <a:ea typeface="Sora"/>
                <a:cs typeface="Sora"/>
              </a:rPr>
              <a:t>62</a:t>
            </a:r>
          </a:p>
        </p:txBody>
      </p:sp>
      <p:sp>
        <p:nvSpPr>
          <p:cNvPr id="8" name="Leads generated">
            <a:extLst xmlns:a="http://schemas.openxmlformats.org/drawingml/2006/main">
              <a:ext uri="{FF2B5EF4-FFF2-40B4-BE49-F238E27FC236}">
                <a16:creationId xmlns:a16="http://schemas.microsoft.com/office/drawing/2014/main" id="{43C1ACDE-CE16-4E39-AD63-252684C25E70}"/>
              </a:ext>
            </a:extLst>
          </p:cNvPr>
          <p:cNvSpPr>
            <a:spLocks xmlns:a="http://schemas.openxmlformats.org/drawingml/2006/main" noGrp="1"/>
          </p:cNvSpPr>
          <p:nvPr/>
        </p:nvSpPr>
        <p:spPr>
          <a:xfrm xmlns:a="http://schemas.openxmlformats.org/drawingml/2006/main">
            <a:off x="609600" y="3867150"/>
            <a:ext cx="2019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079"/>
                </a:solidFill>
                <a:latin typeface="Manrope"/>
                <a:ea typeface="Manrope"/>
                <a:cs typeface="Manrope"/>
              </a:defRPr>
            </a:defPPr>
          </a:lstStyle>
          <a:p xmlns:a="http://schemas.openxmlformats.org/drawingml/2006/main">
            <a:pPr>
              <a:lnSpc>
                <a:spcPct val="105000"/>
              </a:lnSpc>
              <a:buNone/>
              <a:defRPr sz="1275" b="0">
                <a:solidFill>
                  <a:srgbClr val="506079"/>
                </a:solidFill>
                <a:latin typeface="Manrope"/>
                <a:ea typeface="Manrope"/>
                <a:cs typeface="Manrope"/>
              </a:defRPr>
            </a:pPr>
            <a:r>
              <a:rPr sz="1275" b="0">
                <a:solidFill>
                  <a:srgbClr val="506079"/>
                </a:solidFill>
                <a:latin typeface="Manrope"/>
                <a:ea typeface="Manrope"/>
                <a:cs typeface="Manrope"/>
              </a:rPr>
              <a:t>Leads generated</a:t>
            </a:r>
          </a:p>
        </p:txBody>
      </p:sp>
      <p:sp>
        <p:nvSpPr>
          <p:cNvPr id="9" name="Metric panel Cost per lead">
            <a:extLst xmlns:a="http://schemas.openxmlformats.org/drawingml/2006/main">
              <a:ext uri="{FF2B5EF4-FFF2-40B4-BE49-F238E27FC236}">
                <a16:creationId xmlns:a16="http://schemas.microsoft.com/office/drawing/2014/main" id="{3FBECDCC-E9DE-4EA2-AACB-D2C30524E816}"/>
              </a:ext>
            </a:extLst>
          </p:cNvPr>
          <p:cNvSpPr>
            <a:spLocks xmlns:a="http://schemas.openxmlformats.org/drawingml/2006/main" noGrp="1"/>
          </p:cNvSpPr>
          <p:nvPr/>
        </p:nvSpPr>
        <p:spPr>
          <a:xfrm xmlns:a="http://schemas.openxmlformats.org/drawingml/2006/main">
            <a:off x="3095625" y="2800350"/>
            <a:ext cx="3105150" cy="1685925"/>
          </a:xfrm>
          <a:prstGeom xmlns:a="http://schemas.openxmlformats.org/drawingml/2006/main" prst="roundRect">
            <a:avLst>
              <a:gd name="adj" fmla="val 6780"/>
            </a:avLst>
          </a:prstGeom>
          <a:solidFill xmlns:a="http://schemas.openxmlformats.org/drawingml/2006/main">
            <a:srgbClr val="E7EDF4"/>
          </a:solidFill>
          <a:ln xmlns:a="http://schemas.openxmlformats.org/drawingml/2006/main" w="9525">
            <a:solidFill>
              <a:srgbClr val="CDDAE6"/>
            </a:solidFill>
          </a:ln>
        </p:spPr>
      </p:sp>
      <p:sp>
        <p:nvSpPr>
          <p:cNvPr id="10" name="PKR 323">
            <a:extLst xmlns:a="http://schemas.openxmlformats.org/drawingml/2006/main">
              <a:ext uri="{FF2B5EF4-FFF2-40B4-BE49-F238E27FC236}">
                <a16:creationId xmlns:a16="http://schemas.microsoft.com/office/drawing/2014/main" id="{21162D66-9DF3-4485-B974-82D2D054A2EB}"/>
              </a:ext>
            </a:extLst>
          </p:cNvPr>
          <p:cNvSpPr>
            <a:spLocks xmlns:a="http://schemas.openxmlformats.org/drawingml/2006/main" noGrp="1"/>
          </p:cNvSpPr>
          <p:nvPr/>
        </p:nvSpPr>
        <p:spPr>
          <a:xfrm xmlns:a="http://schemas.openxmlformats.org/drawingml/2006/main">
            <a:off x="3209925" y="2914650"/>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525" b="1">
                <a:solidFill>
                  <a:srgbClr val="15375B"/>
                </a:solidFill>
                <a:latin typeface="Sora"/>
                <a:ea typeface="Sora"/>
                <a:cs typeface="Sora"/>
              </a:defRPr>
            </a:defPPr>
          </a:lstStyle>
          <a:p xmlns:a="http://schemas.openxmlformats.org/drawingml/2006/main">
            <a:pPr>
              <a:lnSpc>
                <a:spcPct val="105000"/>
              </a:lnSpc>
              <a:buNone/>
              <a:defRPr sz="3525" b="1">
                <a:solidFill>
                  <a:srgbClr val="15375B"/>
                </a:solidFill>
                <a:latin typeface="Sora"/>
                <a:ea typeface="Sora"/>
                <a:cs typeface="Sora"/>
              </a:defRPr>
            </a:pPr>
            <a:r>
              <a:rPr sz="3525" b="1" spc="-30">
                <a:solidFill>
                  <a:srgbClr val="15375B"/>
                </a:solidFill>
                <a:latin typeface="Sora"/>
                <a:ea typeface="Sora"/>
                <a:cs typeface="Sora"/>
              </a:rPr>
              <a:t>PKR 323</a:t>
            </a:r>
          </a:p>
        </p:txBody>
      </p:sp>
      <p:sp>
        <p:nvSpPr>
          <p:cNvPr id="11" name="Cost per lead">
            <a:extLst xmlns:a="http://schemas.openxmlformats.org/drawingml/2006/main">
              <a:ext uri="{FF2B5EF4-FFF2-40B4-BE49-F238E27FC236}">
                <a16:creationId xmlns:a16="http://schemas.microsoft.com/office/drawing/2014/main" id="{D3AE81AB-0A3F-43AC-9C33-C26658D79BF1}"/>
              </a:ext>
            </a:extLst>
          </p:cNvPr>
          <p:cNvSpPr>
            <a:spLocks xmlns:a="http://schemas.openxmlformats.org/drawingml/2006/main" noGrp="1"/>
          </p:cNvSpPr>
          <p:nvPr/>
        </p:nvSpPr>
        <p:spPr>
          <a:xfrm xmlns:a="http://schemas.openxmlformats.org/drawingml/2006/main">
            <a:off x="3209925" y="3867150"/>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079"/>
                </a:solidFill>
                <a:latin typeface="Manrope"/>
                <a:ea typeface="Manrope"/>
                <a:cs typeface="Manrope"/>
              </a:defRPr>
            </a:defPPr>
          </a:lstStyle>
          <a:p xmlns:a="http://schemas.openxmlformats.org/drawingml/2006/main">
            <a:pPr>
              <a:lnSpc>
                <a:spcPct val="105000"/>
              </a:lnSpc>
              <a:buNone/>
              <a:defRPr sz="1275" b="0">
                <a:solidFill>
                  <a:srgbClr val="506079"/>
                </a:solidFill>
                <a:latin typeface="Manrope"/>
                <a:ea typeface="Manrope"/>
                <a:cs typeface="Manrope"/>
              </a:defRPr>
            </a:pPr>
            <a:r>
              <a:rPr sz="1275" b="0">
                <a:solidFill>
                  <a:srgbClr val="506079"/>
                </a:solidFill>
                <a:latin typeface="Manrope"/>
                <a:ea typeface="Manrope"/>
                <a:cs typeface="Manrope"/>
              </a:rPr>
              <a:t>Cost per lead</a:t>
            </a:r>
          </a:p>
        </p:txBody>
      </p:sp>
      <p:sp>
        <p:nvSpPr>
          <p:cNvPr id="12" name="Execution">
            <a:extLst xmlns:a="http://schemas.openxmlformats.org/drawingml/2006/main">
              <a:ext uri="{FF2B5EF4-FFF2-40B4-BE49-F238E27FC236}">
                <a16:creationId xmlns:a16="http://schemas.microsoft.com/office/drawing/2014/main" id="{27A2C17A-3E0B-4592-A316-F6ED953F2C38}"/>
              </a:ext>
            </a:extLst>
          </p:cNvPr>
          <p:cNvSpPr>
            <a:spLocks xmlns:a="http://schemas.openxmlformats.org/drawingml/2006/main" noGrp="1"/>
          </p:cNvSpPr>
          <p:nvPr/>
        </p:nvSpPr>
        <p:spPr>
          <a:xfrm xmlns:a="http://schemas.openxmlformats.org/drawingml/2006/main">
            <a:off x="609600" y="4695825"/>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5375B"/>
                </a:solidFill>
                <a:latin typeface="Manrope"/>
                <a:ea typeface="Manrope"/>
                <a:cs typeface="Manrope"/>
              </a:defRPr>
            </a:defPPr>
          </a:lstStyle>
          <a:p xmlns:a="http://schemas.openxmlformats.org/drawingml/2006/main">
            <a:pPr>
              <a:lnSpc>
                <a:spcPct val="105000"/>
              </a:lnSpc>
              <a:buNone/>
              <a:defRPr sz="1875" b="1">
                <a:solidFill>
                  <a:srgbClr val="15375B"/>
                </a:solidFill>
                <a:latin typeface="Manrope"/>
                <a:ea typeface="Manrope"/>
                <a:cs typeface="Manrope"/>
              </a:defRPr>
            </a:pPr>
            <a:r>
              <a:rPr sz="1875" b="1" spc="0">
                <a:solidFill>
                  <a:srgbClr val="15375B"/>
                </a:solidFill>
                <a:latin typeface="Manrope"/>
                <a:ea typeface="Manrope"/>
                <a:cs typeface="Manrope"/>
              </a:rPr>
              <a:t>Execution</a:t>
            </a:r>
          </a:p>
        </p:txBody>
      </p:sp>
      <p:sp>
        <p:nvSpPr>
          <p:cNvPr id="13" name="Audience segmentation, warm retargeting, lookalikes and Instant Forms.">
            <a:extLst xmlns:a="http://schemas.openxmlformats.org/drawingml/2006/main">
              <a:ext uri="{FF2B5EF4-FFF2-40B4-BE49-F238E27FC236}">
                <a16:creationId xmlns:a16="http://schemas.microsoft.com/office/drawing/2014/main" id="{25F4D45E-C16B-43E7-B7F4-5E47375BF429}"/>
              </a:ext>
            </a:extLst>
          </p:cNvPr>
          <p:cNvSpPr>
            <a:spLocks xmlns:a="http://schemas.openxmlformats.org/drawingml/2006/main" noGrp="1"/>
          </p:cNvSpPr>
          <p:nvPr/>
        </p:nvSpPr>
        <p:spPr>
          <a:xfrm xmlns:a="http://schemas.openxmlformats.org/drawingml/2006/main">
            <a:off x="609600" y="5210175"/>
            <a:ext cx="5429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06079"/>
                </a:solidFill>
                <a:latin typeface="Manrope"/>
                <a:ea typeface="Manrope"/>
                <a:cs typeface="Manrope"/>
              </a:defRPr>
            </a:defPPr>
          </a:lstStyle>
          <a:p xmlns:a="http://schemas.openxmlformats.org/drawingml/2006/main">
            <a:pPr>
              <a:lnSpc>
                <a:spcPct val="105000"/>
              </a:lnSpc>
              <a:buNone/>
              <a:defRPr sz="1650" b="0">
                <a:solidFill>
                  <a:srgbClr val="506079"/>
                </a:solidFill>
                <a:latin typeface="Manrope"/>
                <a:ea typeface="Manrope"/>
                <a:cs typeface="Manrope"/>
              </a:defRPr>
            </a:pPr>
            <a:r>
              <a:rPr sz="1650" b="0" spc="70">
                <a:solidFill>
                  <a:srgbClr val="506079"/>
                </a:solidFill>
                <a:latin typeface="Manrope"/>
                <a:ea typeface="Manrope"/>
                <a:cs typeface="Manrope"/>
              </a:rPr>
              <a:t>Audience segmentation, warm retargeting, lookalikes and Instant Forms. Tested creative to scale qualified inquiries.</a:t>
            </a:r>
          </a:p>
        </p:txBody>
      </p:sp>
      <p:graphicFrame>
        <p:nvGraphicFramePr>
          <p:cNvPr id="14" name="Chart">
            <a:extLst xmlns:a="http://schemas.openxmlformats.org/drawingml/2006/main">
              <a:ext uri="{FF2B5EF4-FFF2-40B4-BE49-F238E27FC236}">
                <a16:creationId xmlns:a16="http://schemas.microsoft.com/office/drawing/2014/main" id="{47B5CB99-9729-48FA-9A65-F7CBF4F8AE8C}"/>
              </a:ext>
            </a:extLst>
          </p:cNvPr>
          <p:cNvGraphicFramePr/>
          <p:nvPr/>
        </p:nvGraphicFramePr>
        <p:xfrm>
          <a:off xmlns:a="http://schemas.openxmlformats.org/drawingml/2006/main" x="6553200" y="2419350"/>
          <a:ext xmlns:a="http://schemas.openxmlformats.org/drawingml/2006/main" cx="4762500" cy="3238500"/>
        </p:xfrm>
        <a:graphic xmlns:a="http://schemas.openxmlformats.org/drawingml/2006/main">
          <a:graphicData uri="http://schemas.openxmlformats.org/drawingml/2006/chart">
            <c:chart xmlns:r="http://schemas.openxmlformats.org/officeDocument/2006/relationships" xmlns:c="http://schemas.openxmlformats.org/drawingml/2006/chart" r:id="R41e55b9330c44289"/>
          </a:graphicData>
        </a:graphic>
      </p:graphicFrame>
      <p:sp>
        <p:nvSpPr>
          <p:cNvPr id="15" name="2,400% ROI">
            <a:extLst xmlns:a="http://schemas.openxmlformats.org/drawingml/2006/main">
              <a:ext uri="{FF2B5EF4-FFF2-40B4-BE49-F238E27FC236}">
                <a16:creationId xmlns:a16="http://schemas.microsoft.com/office/drawing/2014/main" id="{5477053C-C47A-44A5-B43A-E6517E051461}"/>
              </a:ext>
            </a:extLst>
          </p:cNvPr>
          <p:cNvSpPr>
            <a:spLocks xmlns:a="http://schemas.openxmlformats.org/drawingml/2006/main" noGrp="1"/>
          </p:cNvSpPr>
          <p:nvPr/>
        </p:nvSpPr>
        <p:spPr>
          <a:xfrm xmlns:a="http://schemas.openxmlformats.org/drawingml/2006/main">
            <a:off x="6677025" y="584835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5375B"/>
                </a:solidFill>
                <a:latin typeface="Manrope"/>
                <a:ea typeface="Manrope"/>
                <a:cs typeface="Manrope"/>
              </a:defRPr>
            </a:defPPr>
          </a:lstStyle>
          <a:p xmlns:a="http://schemas.openxmlformats.org/drawingml/2006/main">
            <a:pPr>
              <a:lnSpc>
                <a:spcPct val="105000"/>
              </a:lnSpc>
              <a:buNone/>
              <a:defRPr sz="1800" b="1">
                <a:solidFill>
                  <a:srgbClr val="15375B"/>
                </a:solidFill>
                <a:latin typeface="Manrope"/>
                <a:ea typeface="Manrope"/>
                <a:cs typeface="Manrope"/>
              </a:defRPr>
            </a:pPr>
            <a:r>
              <a:rPr sz="1800" b="1" spc="0">
                <a:solidFill>
                  <a:srgbClr val="15375B"/>
                </a:solidFill>
                <a:latin typeface="Manrope"/>
                <a:ea typeface="Manrope"/>
                <a:cs typeface="Manrope"/>
              </a:rPr>
              <a:t>2,400% ROI</a:t>
            </a:r>
          </a:p>
        </p:txBody>
      </p:sp>
    </p:spTree>
    <p:extLst>
      <p:ext uri="{BB962C8B-B14F-4D97-AF65-F5344CB8AC3E}">
        <p14:creationId xmlns:p14="http://schemas.microsoft.com/office/powerpoint/2010/main" val="1638772449"/>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50" fill="hold"/>
                                  <p:tgtEl>
                                    <p:spTgt spid="2"/>
                                  </p:tgtEl>
                                </p:cBhvr>
                              </p:animEffect>
                              <p:anim calcmode="lin" valueType="num">
                                <p:cBhvr additive="base">
                                  <p:cTn id="7" dur="550" fill="hold" decel="60000"/>
                                  <p:tgtEl>
                                    <p:spTgt spid="2"/>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fill="hold"/>
                                  <p:tgtEl>
                                    <p:spTgt spid="5"/>
                                  </p:tgtEl>
                                </p:cBhvr>
                              </p:animEffect>
                            </p:childTnLst>
                          </p:cTn>
                        </p:par>
                        <p:par>
                          <p:cTn id="11" presetID="10" presetClass="entr" presetSubtype="0" fill="hold" grpId="0" nodeType="withEffect">
                            <p:stCondLst>
                              <p:cond delay="38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720" fill="hold"/>
                                  <p:tgtEl>
                                    <p:spTgt spid="7"/>
                                  </p:tgtEl>
                                </p:cBhvr>
                              </p:animEffect>
                              <p:anim calcmode="lin" valueType="num">
                                <p:cBhvr additive="base">
                                  <p:cTn id="14" dur="720" fill="hold" decel="60000"/>
                                  <p:tgtEl>
                                    <p:spTgt spid="7"/>
                                  </p:tgtEl>
                                  <p:attrNameLst>
                                    <p:attrName>ppt_y</p:attrName>
                                  </p:attrNameLst>
                                </p:cBhvr>
                                <p:tavLst>
                                  <p:tav tm="0">
                                    <p:val>
                                      <p:strVal val="#ppt_y+0.025"/>
                                    </p:val>
                                  </p:tav>
                                  <p:tav tm="100000">
                                    <p:val>
                                      <p:strVal val="#ppt_y"/>
                                    </p:val>
                                  </p:tav>
                                </p:tavLst>
                              </p:anim>
                            </p:childTnLst>
                          </p:cTn>
                        </p:par>
                        <p:par>
                          <p:cTn id="15" presetID="10" presetClass="entr" presetSubtype="0" fill="hold" grpId="0" nodeType="withEffect">
                            <p:stCondLst>
                              <p:cond delay="495"/>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50" fill="hold"/>
                                  <p:tgtEl>
                                    <p:spTgt spid="10"/>
                                  </p:tgtEl>
                                </p:cBhvr>
                              </p:animEffect>
                              <p:anim calcmode="lin" valueType="num">
                                <p:cBhvr additive="base">
                                  <p:cTn id="18" dur="550" fill="hold" decel="60000"/>
                                  <p:tgtEl>
                                    <p:spTgt spid="10"/>
                                  </p:tgtEl>
                                  <p:attrNameLst>
                                    <p:attrName>ppt_y</p:attrName>
                                  </p:attrNameLst>
                                </p:cBhvr>
                                <p:tavLst>
                                  <p:tav tm="0">
                                    <p:val>
                                      <p:strVal val="#ppt_y+0.025"/>
                                    </p:val>
                                  </p:tav>
                                  <p:tav tm="100000">
                                    <p:val>
                                      <p:strVal val="#ppt_y"/>
                                    </p:val>
                                  </p:tav>
                                </p:tavLst>
                              </p:anim>
                            </p:childTnLst>
                          </p:cTn>
                        </p:par>
                        <p:par>
                          <p:cTn id="19" presetID="10" presetClass="entr" presetSubtype="0" fill="hold" grpId="0" nodeType="withEffect">
                            <p:stCondLst>
                              <p:cond delay="61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50" fill="hold"/>
                                  <p:tgtEl>
                                    <p:spTgt spid="12"/>
                                  </p:tgtEl>
                                </p:cBhvr>
                              </p:animEffect>
                            </p:childTnLst>
                          </p:cTn>
                        </p:par>
                        <p:par>
                          <p:cTn id="22" presetID="10" presetClass="entr" presetSubtype="0" fill="hold" grpId="0" nodeType="withEffect">
                            <p:stCondLst>
                              <p:cond delay="725"/>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fill="hold"/>
                                  <p:tgtEl>
                                    <p:spTgt spid="13"/>
                                  </p:tgtEl>
                                </p:cBhvr>
                              </p:animEffect>
                            </p:childTnLst>
                          </p:cTn>
                        </p:par>
                        <p:par>
                          <p:cTn id="25" presetID="10" presetClass="entr" presetSubtype="0" fill="hold" grpId="0" nodeType="withEffect">
                            <p:stCondLst>
                              <p:cond delay="84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50" fill="hold"/>
                                  <p:tgtEl>
                                    <p:spTgt spid="15"/>
                                  </p:tgtEl>
                                </p:cBhvr>
                              </p:animEffect>
                            </p:childTnLst>
                          </p:cTn>
                        </p:par>
                        <p:par>
                          <p:cTn id="28" presetID="10" presetClass="entr" presetSubtype="0" fill="hold" grpId="0" nodeType="withEffect">
                            <p:stCondLst>
                              <p:cond delay="955"/>
                            </p:stCondLst>
                            <p:childTnLst>
                              <p:set>
                                <p:cBhvr>
                                  <p:cTn id="29" dur="1" fill="hold">
                                    <p:stCondLst>
                                      <p:cond delay="0"/>
                                    </p:stCondLst>
                                  </p:cTn>
                                  <p:tgtEl>
                                    <p:spTgt spid="14"/>
                                  </p:tgtEl>
                                  <p:attrNameLst>
                                    <p:attrName>style.visibility</p:attrName>
                                  </p:attrNameLst>
                                </p:cBhvr>
                                <p:to>
                                  <p:strVal val="visible"/>
                                </p:to>
                              </p:set>
                              <p:animEffect transition="in" filter="wipe(up)">
                                <p:cBhvr>
                                  <p:cTn id="30"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P spid="5" grpId="0" build="allAtOnce"/>
      <p:bldP spid="7" grpId="0" build="allAtOnce"/>
      <p:bldP spid="10" grpId="0" build="allAtOnce"/>
      <p:bldP spid="12" grpId="0" build="allAtOnce"/>
      <p:bldP spid="13" grpId="0" build="allAtOnce"/>
      <p:bldP spid="15" grpId="0" build="allAtOnce"/>
    </p:bldLst>
  </p:timing>
</p:sld>
</file>

<file path=ppt/slides/slide5.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0F42C8C-1517-41E3-BBB0-6319B91E4C62}"/>
              </a:ext>
            </a:extLst>
          </p:cNvPr>
          <p:cNvPicPr>
            <a:picLocks xmlns:a="http://schemas.openxmlformats.org/drawingml/2006/main" noChangeAspect="1"/>
          </p:cNvPicPr>
          <p:nvPr/>
        </p:nvPicPr>
        <p:blipFill>
          <a:blip xmlns:r="http://schemas.openxmlformats.org/officeDocument/2006/relationships" xmlns:a="http://schemas.openxmlformats.org/drawingml/2006/main" r:embed="R23b625f94d68475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A1B5BE8-8789-46D5-B179-C3475E852E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D15">
              <a:alpha val="45000"/>
            </a:srgbClr>
          </a:solidFill>
          <a:ln xmlns:a="http://schemas.openxmlformats.org/drawingml/2006/main" w="0">
            <a:noFill/>
          </a:ln>
        </p:spPr>
      </p:sp>
      <p:sp>
        <p:nvSpPr>
          <p:cNvPr id="3" name="04 / TROTS TUTOR / UNITED KINGDOM">
            <a:extLst xmlns:a="http://schemas.openxmlformats.org/drawingml/2006/main">
              <a:ext uri="{FF2B5EF4-FFF2-40B4-BE49-F238E27FC236}">
                <a16:creationId xmlns:a16="http://schemas.microsoft.com/office/drawing/2014/main" id="{C1A84DAB-DDCE-4ACD-AFF3-31156D1910A4}"/>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04 / TROTS TUTOR / UNITED KINGDOM</a:t>
            </a:r>
          </a:p>
        </p:txBody>
      </p:sp>
      <p:sp>
        <p:nvSpPr>
          <p:cNvPr id="4" name="KHAWAJA SAIM">
            <a:extLst xmlns:a="http://schemas.openxmlformats.org/drawingml/2006/main">
              <a:ext uri="{FF2B5EF4-FFF2-40B4-BE49-F238E27FC236}">
                <a16:creationId xmlns:a16="http://schemas.microsoft.com/office/drawing/2014/main" id="{0665D832-9FBB-4E54-9120-D8D94AA9F395}"/>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5" name="05">
            <a:extLst xmlns:a="http://schemas.openxmlformats.org/drawingml/2006/main">
              <a:ext uri="{FF2B5EF4-FFF2-40B4-BE49-F238E27FC236}">
                <a16:creationId xmlns:a16="http://schemas.microsoft.com/office/drawing/2014/main" id="{8A36A4C5-D602-4C46-BC25-252B19D4FD33}"/>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05</a:t>
            </a:r>
          </a:p>
        </p:txBody>
      </p:sp>
      <p:sp>
        <p:nvSpPr>
          <p:cNvPr id="6" name="">
            <a:extLst xmlns:a="http://schemas.openxmlformats.org/drawingml/2006/main">
              <a:ext uri="{FF2B5EF4-FFF2-40B4-BE49-F238E27FC236}">
                <a16:creationId xmlns:a16="http://schemas.microsoft.com/office/drawing/2014/main" id="{3607712A-0261-4F89-87B5-156532986593}"/>
              </a:ext>
            </a:extLst>
          </p:cNvPr>
          <p:cNvSpPr>
            <a:spLocks xmlns:a="http://schemas.openxmlformats.org/drawingml/2006/main" noGrp="1"/>
          </p:cNvSpPr>
          <p:nvPr/>
        </p:nvSpPr>
        <p:spPr>
          <a:xfrm xmlns:a="http://schemas.openxmlformats.org/drawingml/2006/main">
            <a:off x="0" y="2238375"/>
            <a:ext cx="12192000" cy="3667125"/>
          </a:xfrm>
          <a:prstGeom xmlns:a="http://schemas.openxmlformats.org/drawingml/2006/main" prst="rect">
            <a:avLst/>
          </a:prstGeom>
          <a:solidFill xmlns:a="http://schemas.openxmlformats.org/drawingml/2006/main">
            <a:srgbClr val="A8D4FF"/>
          </a:solidFill>
          <a:ln xmlns:a="http://schemas.openxmlformats.org/drawingml/2006/main" w="0">
            <a:noFill/>
          </a:ln>
        </p:spPr>
      </p:sp>
      <p:sp>
        <p:nvSpPr>
          <p:cNvPr id="7" name="A smarter&#10;channel choice">
            <a:extLst xmlns:a="http://schemas.openxmlformats.org/drawingml/2006/main">
              <a:ext uri="{FF2B5EF4-FFF2-40B4-BE49-F238E27FC236}">
                <a16:creationId xmlns:a16="http://schemas.microsoft.com/office/drawing/2014/main" id="{8A04F6EC-83EE-41F8-BDA0-9859C524FB61}"/>
              </a:ext>
            </a:extLst>
          </p:cNvPr>
          <p:cNvSpPr>
            <a:spLocks xmlns:a="http://schemas.openxmlformats.org/drawingml/2006/main" noGrp="1"/>
          </p:cNvSpPr>
          <p:nvPr/>
        </p:nvSpPr>
        <p:spPr>
          <a:xfrm xmlns:a="http://schemas.openxmlformats.org/drawingml/2006/main">
            <a:off x="609600" y="92392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0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3900" b="1">
                <a:solidFill>
                  <a:srgbClr val="F3F5F7"/>
                </a:solidFill>
                <a:latin typeface="Sora"/>
                <a:ea typeface="Sora"/>
                <a:cs typeface="Sora"/>
              </a:defRPr>
            </a:pPr>
            <a:r>
              <a:rPr sz="3900" b="1" spc="-30">
                <a:gradFill>
                  <a:gsLst>
                    <a:gs pos="0">
                      <a:srgbClr val="F4F8FF"/>
                    </a:gs>
                    <a:gs pos="55000">
                      <a:srgbClr val="B2DFFF"/>
                    </a:gs>
                    <a:gs pos="100000">
                      <a:srgbClr val="548EE1"/>
                    </a:gs>
                  </a:gsLst>
                  <a:lin ang="0"/>
                </a:gradFill>
                <a:latin typeface="Sora"/>
                <a:ea typeface="Sora"/>
                <a:cs typeface="Sora"/>
              </a:rPr>
              <a:t>A smarter</a:t>
            </a:r>
          </a:p>
          <a:p xmlns:a="http://schemas.openxmlformats.org/drawingml/2006/main">
            <a:pPr>
              <a:lnSpc>
                <a:spcPct val="105000"/>
              </a:lnSpc>
              <a:buNone/>
              <a:defRPr sz="3900" b="1">
                <a:solidFill>
                  <a:srgbClr val="F3F5F7"/>
                </a:solidFill>
                <a:latin typeface="Sora"/>
                <a:ea typeface="Sora"/>
                <a:cs typeface="Sora"/>
              </a:defRPr>
            </a:pPr>
            <a:r>
              <a:rPr sz="3900" b="1" spc="-30">
                <a:gradFill>
                  <a:gsLst>
                    <a:gs pos="0">
                      <a:srgbClr val="F4F8FF"/>
                    </a:gs>
                    <a:gs pos="55000">
                      <a:srgbClr val="B2DFFF"/>
                    </a:gs>
                    <a:gs pos="100000">
                      <a:srgbClr val="548EE1"/>
                    </a:gs>
                  </a:gsLst>
                  <a:lin ang="0"/>
                </a:gradFill>
                <a:latin typeface="Sora"/>
                <a:ea typeface="Sora"/>
                <a:cs typeface="Sora"/>
              </a:rPr>
              <a:t>channel choice</a:t>
            </a:r>
          </a:p>
        </p:txBody>
      </p:sp>
      <p:sp>
        <p:nvSpPr>
          <p:cNvPr id="8" name="$0.36">
            <a:extLst xmlns:a="http://schemas.openxmlformats.org/drawingml/2006/main">
              <a:ext uri="{FF2B5EF4-FFF2-40B4-BE49-F238E27FC236}">
                <a16:creationId xmlns:a16="http://schemas.microsoft.com/office/drawing/2014/main" id="{5A1A9583-11AA-4D23-AA22-9FF58273294D}"/>
              </a:ext>
            </a:extLst>
          </p:cNvPr>
          <p:cNvSpPr>
            <a:spLocks xmlns:a="http://schemas.openxmlformats.org/drawingml/2006/main" noGrp="1"/>
          </p:cNvSpPr>
          <p:nvPr/>
        </p:nvSpPr>
        <p:spPr>
          <a:xfrm xmlns:a="http://schemas.openxmlformats.org/drawingml/2006/main">
            <a:off x="552450" y="2638425"/>
            <a:ext cx="704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8850" b="1">
                <a:solidFill>
                  <a:srgbClr val="080D15"/>
                </a:solidFill>
                <a:latin typeface="Sora"/>
                <a:ea typeface="Sora"/>
                <a:cs typeface="Sora"/>
              </a:defRPr>
            </a:defPPr>
          </a:lstStyle>
          <a:p xmlns:a="http://schemas.openxmlformats.org/drawingml/2006/main">
            <a:pPr>
              <a:lnSpc>
                <a:spcPct val="105000"/>
              </a:lnSpc>
              <a:buNone/>
              <a:defRPr sz="8850" b="1">
                <a:solidFill>
                  <a:srgbClr val="080D15"/>
                </a:solidFill>
                <a:latin typeface="Sora"/>
                <a:ea typeface="Sora"/>
                <a:cs typeface="Sora"/>
              </a:defRPr>
            </a:pPr>
            <a:r>
              <a:rPr sz="8850" b="1" spc="-30">
                <a:solidFill>
                  <a:srgbClr val="080D15"/>
                </a:solidFill>
                <a:latin typeface="Sora"/>
                <a:ea typeface="Sora"/>
                <a:cs typeface="Sora"/>
              </a:rPr>
              <a:t>$0.36</a:t>
            </a:r>
          </a:p>
        </p:txBody>
      </p:sp>
      <p:sp>
        <p:nvSpPr>
          <p:cNvPr id="9" name="Average cost per click">
            <a:extLst xmlns:a="http://schemas.openxmlformats.org/drawingml/2006/main">
              <a:ext uri="{FF2B5EF4-FFF2-40B4-BE49-F238E27FC236}">
                <a16:creationId xmlns:a16="http://schemas.microsoft.com/office/drawing/2014/main" id="{FE88E296-7312-4C28-AD91-8D7462B6D3C1}"/>
              </a:ext>
            </a:extLst>
          </p:cNvPr>
          <p:cNvSpPr>
            <a:spLocks xmlns:a="http://schemas.openxmlformats.org/drawingml/2006/main" noGrp="1"/>
          </p:cNvSpPr>
          <p:nvPr/>
        </p:nvSpPr>
        <p:spPr>
          <a:xfrm xmlns:a="http://schemas.openxmlformats.org/drawingml/2006/main">
            <a:off x="666750" y="437197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5375B"/>
                </a:solidFill>
                <a:latin typeface="Manrope"/>
                <a:ea typeface="Manrope"/>
                <a:cs typeface="Manrope"/>
              </a:defRPr>
            </a:defPPr>
          </a:lstStyle>
          <a:p xmlns:a="http://schemas.openxmlformats.org/drawingml/2006/main">
            <a:pPr>
              <a:lnSpc>
                <a:spcPct val="105000"/>
              </a:lnSpc>
              <a:buNone/>
              <a:defRPr sz="1950" b="0">
                <a:solidFill>
                  <a:srgbClr val="15375B"/>
                </a:solidFill>
                <a:latin typeface="Manrope"/>
                <a:ea typeface="Manrope"/>
                <a:cs typeface="Manrope"/>
              </a:defRPr>
            </a:pPr>
            <a:r>
              <a:rPr sz="1950" b="0" spc="0">
                <a:solidFill>
                  <a:srgbClr val="15375B"/>
                </a:solidFill>
                <a:latin typeface="Manrope"/>
                <a:ea typeface="Manrope"/>
                <a:cs typeface="Manrope"/>
              </a:rPr>
              <a:t>Average cost per click</a:t>
            </a:r>
          </a:p>
        </p:txBody>
      </p:sp>
      <p:sp>
        <p:nvSpPr>
          <p:cNvPr id="10" name="1.86%">
            <a:extLst xmlns:a="http://schemas.openxmlformats.org/drawingml/2006/main">
              <a:ext uri="{FF2B5EF4-FFF2-40B4-BE49-F238E27FC236}">
                <a16:creationId xmlns:a16="http://schemas.microsoft.com/office/drawing/2014/main" id="{70980020-7C2F-466A-A1E3-F3D3D9847C4D}"/>
              </a:ext>
            </a:extLst>
          </p:cNvPr>
          <p:cNvSpPr>
            <a:spLocks xmlns:a="http://schemas.openxmlformats.org/drawingml/2006/main" noGrp="1"/>
          </p:cNvSpPr>
          <p:nvPr/>
        </p:nvSpPr>
        <p:spPr>
          <a:xfrm xmlns:a="http://schemas.openxmlformats.org/drawingml/2006/main">
            <a:off x="8124825" y="2667000"/>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050" b="1">
                <a:solidFill>
                  <a:srgbClr val="080D15"/>
                </a:solidFill>
                <a:latin typeface="Sora"/>
                <a:ea typeface="Sora"/>
                <a:cs typeface="Sora"/>
              </a:defRPr>
            </a:defPPr>
          </a:lstStyle>
          <a:p xmlns:a="http://schemas.openxmlformats.org/drawingml/2006/main">
            <a:pPr>
              <a:lnSpc>
                <a:spcPct val="105000"/>
              </a:lnSpc>
              <a:buNone/>
              <a:defRPr sz="4050" b="1">
                <a:solidFill>
                  <a:srgbClr val="080D15"/>
                </a:solidFill>
                <a:latin typeface="Sora"/>
                <a:ea typeface="Sora"/>
                <a:cs typeface="Sora"/>
              </a:defRPr>
            </a:pPr>
            <a:r>
              <a:rPr sz="4050" b="1" spc="-30">
                <a:solidFill>
                  <a:srgbClr val="080D15"/>
                </a:solidFill>
                <a:latin typeface="Sora"/>
                <a:ea typeface="Sora"/>
                <a:cs typeface="Sora"/>
              </a:rPr>
              <a:t>1.86%</a:t>
            </a:r>
          </a:p>
        </p:txBody>
      </p:sp>
      <p:sp>
        <p:nvSpPr>
          <p:cNvPr id="11" name="Click-through rate">
            <a:extLst xmlns:a="http://schemas.openxmlformats.org/drawingml/2006/main">
              <a:ext uri="{FF2B5EF4-FFF2-40B4-BE49-F238E27FC236}">
                <a16:creationId xmlns:a16="http://schemas.microsoft.com/office/drawing/2014/main" id="{7A858A46-2145-49BD-9656-6793C35E4824}"/>
              </a:ext>
            </a:extLst>
          </p:cNvPr>
          <p:cNvSpPr>
            <a:spLocks xmlns:a="http://schemas.openxmlformats.org/drawingml/2006/main" noGrp="1"/>
          </p:cNvSpPr>
          <p:nvPr/>
        </p:nvSpPr>
        <p:spPr>
          <a:xfrm xmlns:a="http://schemas.openxmlformats.org/drawingml/2006/main">
            <a:off x="8191500" y="35242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15375B"/>
                </a:solidFill>
                <a:latin typeface="Manrope"/>
                <a:ea typeface="Manrope"/>
                <a:cs typeface="Manrope"/>
              </a:defRPr>
            </a:defPPr>
          </a:lstStyle>
          <a:p xmlns:a="http://schemas.openxmlformats.org/drawingml/2006/main">
            <a:pPr>
              <a:lnSpc>
                <a:spcPct val="105000"/>
              </a:lnSpc>
              <a:buNone/>
              <a:defRPr sz="1500" b="0">
                <a:solidFill>
                  <a:srgbClr val="15375B"/>
                </a:solidFill>
                <a:latin typeface="Manrope"/>
                <a:ea typeface="Manrope"/>
                <a:cs typeface="Manrope"/>
              </a:defRPr>
            </a:pPr>
            <a:r>
              <a:rPr sz="1500" b="0" spc="70">
                <a:solidFill>
                  <a:srgbClr val="15375B"/>
                </a:solidFill>
                <a:latin typeface="Manrope"/>
                <a:ea typeface="Manrope"/>
                <a:cs typeface="Manrope"/>
              </a:rPr>
              <a:t>Click-through rate</a:t>
            </a:r>
          </a:p>
        </p:txBody>
      </p:sp>
      <p:sp>
        <p:nvSpPr>
          <p:cNvPr id="12" name="26,506">
            <a:extLst xmlns:a="http://schemas.openxmlformats.org/drawingml/2006/main">
              <a:ext uri="{FF2B5EF4-FFF2-40B4-BE49-F238E27FC236}">
                <a16:creationId xmlns:a16="http://schemas.microsoft.com/office/drawing/2014/main" id="{EB3EEBDE-7D4C-4292-9ABC-4F7C821E7120}"/>
              </a:ext>
            </a:extLst>
          </p:cNvPr>
          <p:cNvSpPr>
            <a:spLocks xmlns:a="http://schemas.openxmlformats.org/drawingml/2006/main" noGrp="1"/>
          </p:cNvSpPr>
          <p:nvPr/>
        </p:nvSpPr>
        <p:spPr>
          <a:xfrm xmlns:a="http://schemas.openxmlformats.org/drawingml/2006/main">
            <a:off x="8124825" y="4143375"/>
            <a:ext cx="323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050" b="1">
                <a:solidFill>
                  <a:srgbClr val="080D15"/>
                </a:solidFill>
                <a:latin typeface="Sora"/>
                <a:ea typeface="Sora"/>
                <a:cs typeface="Sora"/>
              </a:defRPr>
            </a:defPPr>
          </a:lstStyle>
          <a:p xmlns:a="http://schemas.openxmlformats.org/drawingml/2006/main">
            <a:pPr>
              <a:lnSpc>
                <a:spcPct val="105000"/>
              </a:lnSpc>
              <a:buNone/>
              <a:defRPr sz="4050" b="1">
                <a:solidFill>
                  <a:srgbClr val="080D15"/>
                </a:solidFill>
                <a:latin typeface="Sora"/>
                <a:ea typeface="Sora"/>
                <a:cs typeface="Sora"/>
              </a:defRPr>
            </a:pPr>
            <a:r>
              <a:rPr sz="4050" b="1" spc="-30">
                <a:solidFill>
                  <a:srgbClr val="080D15"/>
                </a:solidFill>
                <a:latin typeface="Sora"/>
                <a:ea typeface="Sora"/>
                <a:cs typeface="Sora"/>
              </a:rPr>
              <a:t>26,506</a:t>
            </a:r>
          </a:p>
        </p:txBody>
      </p:sp>
      <p:sp>
        <p:nvSpPr>
          <p:cNvPr id="13" name="Impressions">
            <a:extLst xmlns:a="http://schemas.openxmlformats.org/drawingml/2006/main">
              <a:ext uri="{FF2B5EF4-FFF2-40B4-BE49-F238E27FC236}">
                <a16:creationId xmlns:a16="http://schemas.microsoft.com/office/drawing/2014/main" id="{18E8F0B0-9C04-4545-8813-225F78BDBF72}"/>
              </a:ext>
            </a:extLst>
          </p:cNvPr>
          <p:cNvSpPr>
            <a:spLocks xmlns:a="http://schemas.openxmlformats.org/drawingml/2006/main" noGrp="1"/>
          </p:cNvSpPr>
          <p:nvPr/>
        </p:nvSpPr>
        <p:spPr>
          <a:xfrm xmlns:a="http://schemas.openxmlformats.org/drawingml/2006/main">
            <a:off x="8191500" y="50101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15375B"/>
                </a:solidFill>
                <a:latin typeface="Manrope"/>
                <a:ea typeface="Manrope"/>
                <a:cs typeface="Manrope"/>
              </a:defRPr>
            </a:defPPr>
          </a:lstStyle>
          <a:p xmlns:a="http://schemas.openxmlformats.org/drawingml/2006/main">
            <a:pPr>
              <a:lnSpc>
                <a:spcPct val="105000"/>
              </a:lnSpc>
              <a:buNone/>
              <a:defRPr sz="1500" b="0">
                <a:solidFill>
                  <a:srgbClr val="15375B"/>
                </a:solidFill>
                <a:latin typeface="Manrope"/>
                <a:ea typeface="Manrope"/>
                <a:cs typeface="Manrope"/>
              </a:defRPr>
            </a:pPr>
            <a:r>
              <a:rPr sz="1500" b="0" spc="70">
                <a:solidFill>
                  <a:srgbClr val="15375B"/>
                </a:solidFill>
                <a:latin typeface="Manrope"/>
                <a:ea typeface="Manrope"/>
                <a:cs typeface="Manrope"/>
              </a:rPr>
              <a:t>Impressions</a:t>
            </a:r>
          </a:p>
        </p:txBody>
      </p:sp>
      <p:sp>
        <p:nvSpPr>
          <p:cNvPr id="14" name="Shifted acquisition emphasis from Meta to Google App Campaigns">
            <a:extLst xmlns:a="http://schemas.openxmlformats.org/drawingml/2006/main">
              <a:ext uri="{FF2B5EF4-FFF2-40B4-BE49-F238E27FC236}">
                <a16:creationId xmlns:a16="http://schemas.microsoft.com/office/drawing/2014/main" id="{444FC525-9C5C-45EA-ACD9-9F4FBA206444}"/>
              </a:ext>
            </a:extLst>
          </p:cNvPr>
          <p:cNvSpPr>
            <a:spLocks xmlns:a="http://schemas.openxmlformats.org/drawingml/2006/main" noGrp="1"/>
          </p:cNvSpPr>
          <p:nvPr/>
        </p:nvSpPr>
        <p:spPr>
          <a:xfrm xmlns:a="http://schemas.openxmlformats.org/drawingml/2006/main">
            <a:off x="609600" y="60198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Shifted acquisition emphasis from Meta to Google App Campaigns</a:t>
            </a:r>
          </a:p>
        </p:txBody>
      </p:sp>
    </p:spTree>
    <p:extLst>
      <p:ext uri="{BB962C8B-B14F-4D97-AF65-F5344CB8AC3E}">
        <p14:creationId xmlns:p14="http://schemas.microsoft.com/office/powerpoint/2010/main" val="771683608"/>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550" fill="hold"/>
                                  <p:tgtEl>
                                    <p:spTgt spid="7"/>
                                  </p:tgtEl>
                                </p:cBhvr>
                              </p:animEffect>
                              <p:anim calcmode="lin" valueType="num">
                                <p:cBhvr additive="base">
                                  <p:cTn id="7" dur="550" fill="hold" decel="60000"/>
                                  <p:tgtEl>
                                    <p:spTgt spid="7"/>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720" fill="hold"/>
                                  <p:tgtEl>
                                    <p:spTgt spid="8"/>
                                  </p:tgtEl>
                                </p:cBhvr>
                              </p:animEffect>
                              <p:animScale>
                                <p:cBhvr additive="base">
                                  <p:cTn id="11" dur="720" fill="hold" accel="0" decel="60000"/>
                                  <p:tgtEl>
                                    <p:spTgt spid="8"/>
                                  </p:tgtEl>
                                </p:cBhvr>
                                <p:from x="94000" y="94000"/>
                                <p:to x="100000" y="100000"/>
                              </p:animScale>
                              <p:anim calcmode="lin" valueType="num">
                                <p:cBhvr additive="base">
                                  <p:cTn id="12" dur="720" fill="hold" decel="60000"/>
                                  <p:tgtEl>
                                    <p:spTgt spid="8"/>
                                  </p:tgtEl>
                                  <p:attrNameLst>
                                    <p:attrName>ppt_y</p:attrName>
                                  </p:attrNameLst>
                                </p:cBhvr>
                                <p:tavLst>
                                  <p:tav tm="0">
                                    <p:val>
                                      <p:strVal val="#ppt_y+0.025"/>
                                    </p:val>
                                  </p:tav>
                                  <p:tav tm="100000">
                                    <p:val>
                                      <p:strVal val="#ppt_y"/>
                                    </p:val>
                                  </p:tav>
                                </p:tavLst>
                              </p:anim>
                            </p:childTnLst>
                          </p:cTn>
                        </p:par>
                        <p:par>
                          <p:cTn id="13" presetID="10" presetClass="entr" presetSubtype="0" fill="hold" grpId="0" nodeType="withEffect">
                            <p:stCondLst>
                              <p:cond delay="38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50" fill="hold"/>
                                  <p:tgtEl>
                                    <p:spTgt spid="9"/>
                                  </p:tgtEl>
                                </p:cBhvr>
                              </p:animEffect>
                            </p:childTnLst>
                          </p:cTn>
                        </p:par>
                        <p:par>
                          <p:cTn id="16" presetID="10" presetClass="entr" presetSubtype="0" fill="hold" grpId="0" nodeType="withEffect">
                            <p:stCondLst>
                              <p:cond delay="495"/>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50" fill="hold"/>
                                  <p:tgtEl>
                                    <p:spTgt spid="10"/>
                                  </p:tgtEl>
                                </p:cBhvr>
                              </p:animEffect>
                              <p:anim calcmode="lin" valueType="num">
                                <p:cBhvr additive="base">
                                  <p:cTn id="19" dur="550" fill="hold" decel="60000"/>
                                  <p:tgtEl>
                                    <p:spTgt spid="10"/>
                                  </p:tgtEl>
                                  <p:attrNameLst>
                                    <p:attrName>ppt_y</p:attrName>
                                  </p:attrNameLst>
                                </p:cBhvr>
                                <p:tavLst>
                                  <p:tav tm="0">
                                    <p:val>
                                      <p:strVal val="#ppt_y+0.025"/>
                                    </p:val>
                                  </p:tav>
                                  <p:tav tm="100000">
                                    <p:val>
                                      <p:strVal val="#ppt_y"/>
                                    </p:val>
                                  </p:tav>
                                </p:tavLst>
                              </p:anim>
                            </p:childTnLst>
                          </p:cTn>
                        </p:par>
                        <p:par>
                          <p:cTn id="20" presetID="10" presetClass="entr" presetSubtype="0" fill="hold" grpId="0" nodeType="withEffect">
                            <p:stCondLst>
                              <p:cond delay="61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fill="hold"/>
                                  <p:tgtEl>
                                    <p:spTgt spid="11"/>
                                  </p:tgtEl>
                                </p:cBhvr>
                              </p:animEffect>
                            </p:childTnLst>
                          </p:cTn>
                        </p:par>
                        <p:par>
                          <p:cTn id="23" presetID="10" presetClass="entr" presetSubtype="0" fill="hold" grpId="0" nodeType="withEffect">
                            <p:stCondLst>
                              <p:cond delay="725"/>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50" fill="hold"/>
                                  <p:tgtEl>
                                    <p:spTgt spid="12"/>
                                  </p:tgtEl>
                                </p:cBhvr>
                              </p:animEffect>
                              <p:anim calcmode="lin" valueType="num">
                                <p:cBhvr additive="base">
                                  <p:cTn id="26" dur="550" fill="hold" decel="60000"/>
                                  <p:tgtEl>
                                    <p:spTgt spid="12"/>
                                  </p:tgtEl>
                                  <p:attrNameLst>
                                    <p:attrName>ppt_y</p:attrName>
                                  </p:attrNameLst>
                                </p:cBhvr>
                                <p:tavLst>
                                  <p:tav tm="0">
                                    <p:val>
                                      <p:strVal val="#ppt_y+0.025"/>
                                    </p:val>
                                  </p:tav>
                                  <p:tav tm="100000">
                                    <p:val>
                                      <p:strVal val="#ppt_y"/>
                                    </p:val>
                                  </p:tav>
                                </p:tavLst>
                              </p:anim>
                            </p:childTnLst>
                          </p:cTn>
                        </p:par>
                        <p:par>
                          <p:cTn id="27" presetID="10" presetClass="entr" presetSubtype="0" fill="hold" grpId="0" nodeType="withEffect">
                            <p:stCondLst>
                              <p:cond delay="8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50" fill="hold"/>
                                  <p:tgtEl>
                                    <p:spTgt spid="13"/>
                                  </p:tgtEl>
                                </p:cBhvr>
                              </p:animEffect>
                            </p:childTnLst>
                          </p:cTn>
                        </p:par>
                        <p:par>
                          <p:cTn id="30" presetID="10" presetClass="entr" presetSubtype="0" fill="hold" grpId="0" nodeType="withEffect">
                            <p:stCondLst>
                              <p:cond delay="955"/>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P spid="8" grpId="0" build="allAtOnce"/>
      <p:bldP spid="9" grpId="0" build="allAtOnce"/>
      <p:bldP spid="10" grpId="0" build="allAtOnce"/>
      <p:bldP spid="11" grpId="0" build="allAtOnce"/>
      <p:bldP spid="12" grpId="0" build="allAtOnce"/>
      <p:bldP spid="13" grpId="0" build="allAtOnce"/>
      <p:bldP spid="14" grpId="0" build="allAtOnce"/>
    </p:bldLst>
  </p:timing>
</p:sld>
</file>

<file path=ppt/slides/slide6.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CC7C1963-10DF-4E08-BBAE-0E3D4D4A7ED1}"/>
              </a:ext>
            </a:extLst>
          </p:cNvPr>
          <p:cNvPicPr>
            <a:picLocks xmlns:a="http://schemas.openxmlformats.org/drawingml/2006/main" noChangeAspect="1"/>
          </p:cNvPicPr>
          <p:nvPr/>
        </p:nvPicPr>
        <p:blipFill>
          <a:blip xmlns:r="http://schemas.openxmlformats.org/officeDocument/2006/relationships" xmlns:a="http://schemas.openxmlformats.org/drawingml/2006/main" r:embed="R40a1ac50d4894e3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A8FF245-E62F-4ED5-8C2B-E3859C0C6F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D15">
              <a:alpha val="45000"/>
            </a:srgbClr>
          </a:solidFill>
          <a:ln xmlns:a="http://schemas.openxmlformats.org/drawingml/2006/main" w="0">
            <a:noFill/>
          </a:ln>
        </p:spPr>
      </p:sp>
      <p:sp>
        <p:nvSpPr>
          <p:cNvPr id="3" name="05 / TRENDELITE / ECOMMERCE">
            <a:extLst xmlns:a="http://schemas.openxmlformats.org/drawingml/2006/main">
              <a:ext uri="{FF2B5EF4-FFF2-40B4-BE49-F238E27FC236}">
                <a16:creationId xmlns:a16="http://schemas.microsoft.com/office/drawing/2014/main" id="{248B5CFB-946E-4C54-9048-6F561CDC4103}"/>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05 / TRENDELITE / ECOMMERCE</a:t>
            </a:r>
          </a:p>
        </p:txBody>
      </p:sp>
      <p:sp>
        <p:nvSpPr>
          <p:cNvPr id="4" name="KHAWAJA SAIM">
            <a:extLst xmlns:a="http://schemas.openxmlformats.org/drawingml/2006/main">
              <a:ext uri="{FF2B5EF4-FFF2-40B4-BE49-F238E27FC236}">
                <a16:creationId xmlns:a16="http://schemas.microsoft.com/office/drawing/2014/main" id="{0A042047-7946-436E-82F0-FB9ABEE3844A}"/>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5" name="06">
            <a:extLst xmlns:a="http://schemas.openxmlformats.org/drawingml/2006/main">
              <a:ext uri="{FF2B5EF4-FFF2-40B4-BE49-F238E27FC236}">
                <a16:creationId xmlns:a16="http://schemas.microsoft.com/office/drawing/2014/main" id="{6E884942-4542-4067-A93B-756FB491D624}"/>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06</a:t>
            </a:r>
          </a:p>
        </p:txBody>
      </p:sp>
      <p:pic>
        <p:nvPicPr>
          <p:cNvPr id="6" name="">
            <a:extLst xmlns:a="http://schemas.openxmlformats.org/drawingml/2006/main">
              <a:ext uri="{FF2B5EF4-FFF2-40B4-BE49-F238E27FC236}">
                <a16:creationId xmlns:a16="http://schemas.microsoft.com/office/drawing/2014/main" id="{71E086BD-8DC0-4984-94EA-B1DED52D7303}"/>
              </a:ext>
            </a:extLst>
          </p:cNvPr>
          <p:cNvPicPr>
            <a:picLocks xmlns:a="http://schemas.openxmlformats.org/drawingml/2006/main" noChangeAspect="1"/>
          </p:cNvPicPr>
          <p:nvPr/>
        </p:nvPicPr>
        <p:blipFill>
          <a:blip xmlns:r="http://schemas.openxmlformats.org/officeDocument/2006/relationships" xmlns:a="http://schemas.openxmlformats.org/drawingml/2006/main" r:embed="R1df933b4535340a6"/>
          <a:srcRect xmlns:a="http://schemas.openxmlformats.org/drawingml/2006/main" l="13230" t="0" r="13230" b="0"/>
          <a:stretch xmlns:a="http://schemas.openxmlformats.org/drawingml/2006/main">
            <a:fillRect l="0" t="0" r="0" b="0"/>
          </a:stretch>
        </p:blipFill>
        <p:spPr>
          <a:xfrm xmlns:a="http://schemas.openxmlformats.org/drawingml/2006/main">
            <a:off x="6848475" y="0"/>
            <a:ext cx="5343525" cy="6858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6BF8631-6478-4D59-8AD8-5378EF90B94D}"/>
              </a:ext>
            </a:extLst>
          </p:cNvPr>
          <p:cNvSpPr>
            <a:spLocks xmlns:a="http://schemas.openxmlformats.org/drawingml/2006/main" noGrp="1"/>
          </p:cNvSpPr>
          <p:nvPr/>
        </p:nvSpPr>
        <p:spPr>
          <a:xfrm xmlns:a="http://schemas.openxmlformats.org/drawingml/2006/main">
            <a:off x="0" y="0"/>
            <a:ext cx="6848475" cy="6858000"/>
          </a:xfrm>
          <a:prstGeom xmlns:a="http://schemas.openxmlformats.org/drawingml/2006/main" prst="rect">
            <a:avLst/>
          </a:prstGeom>
          <a:solidFill xmlns:a="http://schemas.openxmlformats.org/drawingml/2006/main">
            <a:srgbClr val="080D15"/>
          </a:solidFill>
          <a:ln xmlns:a="http://schemas.openxmlformats.org/drawingml/2006/main" w="0">
            <a:noFill/>
          </a:ln>
        </p:spPr>
      </p:sp>
      <p:sp>
        <p:nvSpPr>
          <p:cNvPr id="8" name="59">
            <a:extLst xmlns:a="http://schemas.openxmlformats.org/drawingml/2006/main">
              <a:ext uri="{FF2B5EF4-FFF2-40B4-BE49-F238E27FC236}">
                <a16:creationId xmlns:a16="http://schemas.microsoft.com/office/drawing/2014/main" id="{BE9D2217-1A28-4E31-85CE-7276C7C46E3E}"/>
              </a:ext>
            </a:extLst>
          </p:cNvPr>
          <p:cNvSpPr>
            <a:spLocks xmlns:a="http://schemas.openxmlformats.org/drawingml/2006/main" noGrp="1"/>
          </p:cNvSpPr>
          <p:nvPr/>
        </p:nvSpPr>
        <p:spPr>
          <a:xfrm xmlns:a="http://schemas.openxmlformats.org/drawingml/2006/main">
            <a:off x="485775" y="866775"/>
            <a:ext cx="61912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30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12300" b="1">
                <a:solidFill>
                  <a:srgbClr val="A8D4FF"/>
                </a:solidFill>
                <a:latin typeface="Sora"/>
                <a:ea typeface="Sora"/>
                <a:cs typeface="Sora"/>
              </a:defRPr>
            </a:pPr>
            <a:r>
              <a:rPr sz="12300" b="1" spc="-30">
                <a:gradFill>
                  <a:gsLst>
                    <a:gs pos="0">
                      <a:srgbClr val="F4F8FF"/>
                    </a:gs>
                    <a:gs pos="55000">
                      <a:srgbClr val="B2DFFF"/>
                    </a:gs>
                    <a:gs pos="100000">
                      <a:srgbClr val="548EE1"/>
                    </a:gs>
                  </a:gsLst>
                  <a:lin ang="0"/>
                </a:gradFill>
                <a:latin typeface="Sora"/>
                <a:ea typeface="Sora"/>
                <a:cs typeface="Sora"/>
              </a:rPr>
              <a:t>59</a:t>
            </a:r>
          </a:p>
        </p:txBody>
      </p:sp>
      <p:sp>
        <p:nvSpPr>
          <p:cNvPr id="9" name="Confirmed orders">
            <a:extLst xmlns:a="http://schemas.openxmlformats.org/drawingml/2006/main">
              <a:ext uri="{FF2B5EF4-FFF2-40B4-BE49-F238E27FC236}">
                <a16:creationId xmlns:a16="http://schemas.microsoft.com/office/drawing/2014/main" id="{A7A8F50C-D232-4529-B3DA-0FEDB1052D37}"/>
              </a:ext>
            </a:extLst>
          </p:cNvPr>
          <p:cNvSpPr>
            <a:spLocks xmlns:a="http://schemas.openxmlformats.org/drawingml/2006/main" noGrp="1"/>
          </p:cNvSpPr>
          <p:nvPr/>
        </p:nvSpPr>
        <p:spPr>
          <a:xfrm xmlns:a="http://schemas.openxmlformats.org/drawingml/2006/main">
            <a:off x="628650" y="3067050"/>
            <a:ext cx="5905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F3F5F7"/>
                </a:solidFill>
                <a:latin typeface="Sora"/>
                <a:ea typeface="Sora"/>
                <a:cs typeface="Sora"/>
              </a:defRPr>
            </a:defPPr>
          </a:lstStyle>
          <a:p xmlns:a="http://schemas.openxmlformats.org/drawingml/2006/main">
            <a:pPr>
              <a:lnSpc>
                <a:spcPct val="105000"/>
              </a:lnSpc>
              <a:buNone/>
              <a:defRPr sz="2625" b="1">
                <a:solidFill>
                  <a:srgbClr val="F3F5F7"/>
                </a:solidFill>
                <a:latin typeface="Sora"/>
                <a:ea typeface="Sora"/>
                <a:cs typeface="Sora"/>
              </a:defRPr>
            </a:pPr>
            <a:r>
              <a:rPr sz="2625" b="1" spc="0">
                <a:solidFill>
                  <a:srgbClr val="F3F5F7"/>
                </a:solidFill>
                <a:latin typeface="Sora"/>
                <a:ea typeface="Sora"/>
                <a:cs typeface="Sora"/>
              </a:rPr>
              <a:t>Confirmed orders</a:t>
            </a:r>
          </a:p>
        </p:txBody>
      </p:sp>
      <p:sp>
        <p:nvSpPr>
          <p:cNvPr id="10" name="Metric panel Ad spend">
            <a:extLst xmlns:a="http://schemas.openxmlformats.org/drawingml/2006/main">
              <a:ext uri="{FF2B5EF4-FFF2-40B4-BE49-F238E27FC236}">
                <a16:creationId xmlns:a16="http://schemas.microsoft.com/office/drawing/2014/main" id="{C4241E23-D579-4D63-AEE9-78A376C58CA4}"/>
              </a:ext>
            </a:extLst>
          </p:cNvPr>
          <p:cNvSpPr>
            <a:spLocks xmlns:a="http://schemas.openxmlformats.org/drawingml/2006/main" noGrp="1"/>
          </p:cNvSpPr>
          <p:nvPr/>
        </p:nvSpPr>
        <p:spPr>
          <a:xfrm xmlns:a="http://schemas.openxmlformats.org/drawingml/2006/main">
            <a:off x="514350" y="3771900"/>
            <a:ext cx="2581275" cy="1685925"/>
          </a:xfrm>
          <a:prstGeom xmlns:a="http://schemas.openxmlformats.org/drawingml/2006/main" prst="roundRect">
            <a:avLst>
              <a:gd name="adj" fmla="val 6780"/>
            </a:avLst>
          </a:prstGeom>
          <a:gradFill xmlns:a="http://schemas.openxmlformats.org/drawingml/2006/main">
            <a:gsLst>
              <a:gs pos="0">
                <a:srgbClr val="143252">
                  <a:alpha val="84000"/>
                </a:srgbClr>
              </a:gs>
              <a:gs pos="100000">
                <a:srgbClr val="081524">
                  <a:alpha val="94000"/>
                </a:srgbClr>
              </a:gs>
            </a:gsLst>
            <a:lin ang="8100000"/>
          </a:gradFill>
          <a:ln xmlns:a="http://schemas.openxmlformats.org/drawingml/2006/main" w="9525">
            <a:solidFill>
              <a:srgbClr val="4D719A">
                <a:alpha val="60000"/>
              </a:srgbClr>
            </a:solidFill>
          </a:ln>
        </p:spPr>
      </p:sp>
      <p:sp>
        <p:nvSpPr>
          <p:cNvPr id="11" name="PKR 3K">
            <a:extLst xmlns:a="http://schemas.openxmlformats.org/drawingml/2006/main">
              <a:ext uri="{FF2B5EF4-FFF2-40B4-BE49-F238E27FC236}">
                <a16:creationId xmlns:a16="http://schemas.microsoft.com/office/drawing/2014/main" id="{6E654E00-9D3A-4E16-9EE6-0AD9B075871B}"/>
              </a:ext>
            </a:extLst>
          </p:cNvPr>
          <p:cNvSpPr>
            <a:spLocks xmlns:a="http://schemas.openxmlformats.org/drawingml/2006/main" noGrp="1"/>
          </p:cNvSpPr>
          <p:nvPr/>
        </p:nvSpPr>
        <p:spPr>
          <a:xfrm xmlns:a="http://schemas.openxmlformats.org/drawingml/2006/main">
            <a:off x="628650" y="3886200"/>
            <a:ext cx="2619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3600" b="1">
                <a:solidFill>
                  <a:srgbClr val="A8D4FF"/>
                </a:solidFill>
                <a:latin typeface="Sora"/>
                <a:ea typeface="Sora"/>
                <a:cs typeface="Sora"/>
              </a:defRPr>
            </a:pPr>
            <a:r>
              <a:rPr sz="3600" b="1" spc="-30">
                <a:gradFill>
                  <a:gsLst>
                    <a:gs pos="0">
                      <a:srgbClr val="F4F8FF"/>
                    </a:gs>
                    <a:gs pos="55000">
                      <a:srgbClr val="B2DFFF"/>
                    </a:gs>
                    <a:gs pos="100000">
                      <a:srgbClr val="548EE1"/>
                    </a:gs>
                  </a:gsLst>
                  <a:lin ang="0"/>
                </a:gradFill>
                <a:latin typeface="Sora"/>
                <a:ea typeface="Sora"/>
                <a:cs typeface="Sora"/>
              </a:rPr>
              <a:t>PKR 3K</a:t>
            </a:r>
          </a:p>
        </p:txBody>
      </p:sp>
      <p:sp>
        <p:nvSpPr>
          <p:cNvPr id="12" name="Ad spend">
            <a:extLst xmlns:a="http://schemas.openxmlformats.org/drawingml/2006/main">
              <a:ext uri="{FF2B5EF4-FFF2-40B4-BE49-F238E27FC236}">
                <a16:creationId xmlns:a16="http://schemas.microsoft.com/office/drawing/2014/main" id="{98FEB8CA-603A-493D-89F2-B8887A024F87}"/>
              </a:ext>
            </a:extLst>
          </p:cNvPr>
          <p:cNvSpPr>
            <a:spLocks xmlns:a="http://schemas.openxmlformats.org/drawingml/2006/main" noGrp="1"/>
          </p:cNvSpPr>
          <p:nvPr/>
        </p:nvSpPr>
        <p:spPr>
          <a:xfrm xmlns:a="http://schemas.openxmlformats.org/drawingml/2006/main">
            <a:off x="628650" y="4838700"/>
            <a:ext cx="2352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A9B8CA"/>
                </a:solidFill>
                <a:latin typeface="Manrope"/>
                <a:ea typeface="Manrope"/>
                <a:cs typeface="Manrope"/>
              </a:defRPr>
            </a:defPPr>
          </a:lstStyle>
          <a:p xmlns:a="http://schemas.openxmlformats.org/drawingml/2006/main">
            <a:pPr>
              <a:lnSpc>
                <a:spcPct val="105000"/>
              </a:lnSpc>
              <a:buNone/>
              <a:defRPr sz="1275" b="0">
                <a:solidFill>
                  <a:srgbClr val="A9B8CA"/>
                </a:solidFill>
                <a:latin typeface="Manrope"/>
                <a:ea typeface="Manrope"/>
                <a:cs typeface="Manrope"/>
              </a:defRPr>
            </a:pPr>
            <a:r>
              <a:rPr sz="1275" b="0">
                <a:solidFill>
                  <a:srgbClr val="A9B8CA"/>
                </a:solidFill>
                <a:latin typeface="Manrope"/>
                <a:ea typeface="Manrope"/>
                <a:cs typeface="Manrope"/>
              </a:rPr>
              <a:t>Ad spend</a:t>
            </a:r>
          </a:p>
        </p:txBody>
      </p:sp>
      <p:sp>
        <p:nvSpPr>
          <p:cNvPr id="13" name="Metric panel Revenue">
            <a:extLst xmlns:a="http://schemas.openxmlformats.org/drawingml/2006/main">
              <a:ext uri="{FF2B5EF4-FFF2-40B4-BE49-F238E27FC236}">
                <a16:creationId xmlns:a16="http://schemas.microsoft.com/office/drawing/2014/main" id="{297EBF02-52F7-4D75-8368-348A9588707D}"/>
              </a:ext>
            </a:extLst>
          </p:cNvPr>
          <p:cNvSpPr>
            <a:spLocks xmlns:a="http://schemas.openxmlformats.org/drawingml/2006/main" noGrp="1"/>
          </p:cNvSpPr>
          <p:nvPr/>
        </p:nvSpPr>
        <p:spPr>
          <a:xfrm xmlns:a="http://schemas.openxmlformats.org/drawingml/2006/main">
            <a:off x="3324225" y="3771900"/>
            <a:ext cx="3009900" cy="1685925"/>
          </a:xfrm>
          <a:prstGeom xmlns:a="http://schemas.openxmlformats.org/drawingml/2006/main" prst="roundRect">
            <a:avLst>
              <a:gd name="adj" fmla="val 6780"/>
            </a:avLst>
          </a:prstGeom>
          <a:gradFill xmlns:a="http://schemas.openxmlformats.org/drawingml/2006/main">
            <a:gsLst>
              <a:gs pos="0">
                <a:srgbClr val="143252">
                  <a:alpha val="84000"/>
                </a:srgbClr>
              </a:gs>
              <a:gs pos="100000">
                <a:srgbClr val="081524">
                  <a:alpha val="94000"/>
                </a:srgbClr>
              </a:gs>
            </a:gsLst>
            <a:lin ang="8100000"/>
          </a:gradFill>
          <a:ln xmlns:a="http://schemas.openxmlformats.org/drawingml/2006/main" w="9525">
            <a:solidFill>
              <a:srgbClr val="4D719A">
                <a:alpha val="60000"/>
              </a:srgbClr>
            </a:solidFill>
          </a:ln>
        </p:spPr>
      </p:sp>
      <p:sp>
        <p:nvSpPr>
          <p:cNvPr id="14" name="PKR 30K">
            <a:extLst xmlns:a="http://schemas.openxmlformats.org/drawingml/2006/main">
              <a:ext uri="{FF2B5EF4-FFF2-40B4-BE49-F238E27FC236}">
                <a16:creationId xmlns:a16="http://schemas.microsoft.com/office/drawing/2014/main" id="{0980FF0C-0D6B-4E71-AE5D-4DD128E49FFE}"/>
              </a:ext>
            </a:extLst>
          </p:cNvPr>
          <p:cNvSpPr>
            <a:spLocks xmlns:a="http://schemas.openxmlformats.org/drawingml/2006/main" noGrp="1"/>
          </p:cNvSpPr>
          <p:nvPr/>
        </p:nvSpPr>
        <p:spPr>
          <a:xfrm xmlns:a="http://schemas.openxmlformats.org/drawingml/2006/main">
            <a:off x="3438525" y="3886200"/>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3600" b="1">
                <a:solidFill>
                  <a:srgbClr val="A8D4FF"/>
                </a:solidFill>
                <a:latin typeface="Sora"/>
                <a:ea typeface="Sora"/>
                <a:cs typeface="Sora"/>
              </a:defRPr>
            </a:pPr>
            <a:r>
              <a:rPr sz="3600" b="1" spc="-30">
                <a:gradFill>
                  <a:gsLst>
                    <a:gs pos="0">
                      <a:srgbClr val="F4F8FF"/>
                    </a:gs>
                    <a:gs pos="55000">
                      <a:srgbClr val="B2DFFF"/>
                    </a:gs>
                    <a:gs pos="100000">
                      <a:srgbClr val="548EE1"/>
                    </a:gs>
                  </a:gsLst>
                  <a:lin ang="0"/>
                </a:gradFill>
                <a:latin typeface="Sora"/>
                <a:ea typeface="Sora"/>
                <a:cs typeface="Sora"/>
              </a:rPr>
              <a:t>PKR 30K</a:t>
            </a:r>
          </a:p>
        </p:txBody>
      </p:sp>
      <p:sp>
        <p:nvSpPr>
          <p:cNvPr id="15" name="Revenue">
            <a:extLst xmlns:a="http://schemas.openxmlformats.org/drawingml/2006/main">
              <a:ext uri="{FF2B5EF4-FFF2-40B4-BE49-F238E27FC236}">
                <a16:creationId xmlns:a16="http://schemas.microsoft.com/office/drawing/2014/main" id="{EBF49F82-4B85-401A-8081-87A305E6A4FA}"/>
              </a:ext>
            </a:extLst>
          </p:cNvPr>
          <p:cNvSpPr>
            <a:spLocks xmlns:a="http://schemas.openxmlformats.org/drawingml/2006/main" noGrp="1"/>
          </p:cNvSpPr>
          <p:nvPr/>
        </p:nvSpPr>
        <p:spPr>
          <a:xfrm xmlns:a="http://schemas.openxmlformats.org/drawingml/2006/main">
            <a:off x="3438525" y="4838700"/>
            <a:ext cx="2781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A9B8CA"/>
                </a:solidFill>
                <a:latin typeface="Manrope"/>
                <a:ea typeface="Manrope"/>
                <a:cs typeface="Manrope"/>
              </a:defRPr>
            </a:defPPr>
          </a:lstStyle>
          <a:p xmlns:a="http://schemas.openxmlformats.org/drawingml/2006/main">
            <a:pPr>
              <a:lnSpc>
                <a:spcPct val="105000"/>
              </a:lnSpc>
              <a:buNone/>
              <a:defRPr sz="1275" b="0">
                <a:solidFill>
                  <a:srgbClr val="A9B8CA"/>
                </a:solidFill>
                <a:latin typeface="Manrope"/>
                <a:ea typeface="Manrope"/>
                <a:cs typeface="Manrope"/>
              </a:defRPr>
            </a:pPr>
            <a:r>
              <a:rPr sz="1275" b="0">
                <a:solidFill>
                  <a:srgbClr val="A9B8CA"/>
                </a:solidFill>
                <a:latin typeface="Manrope"/>
                <a:ea typeface="Manrope"/>
                <a:cs typeface="Manrope"/>
              </a:rPr>
              <a:t>Revenue</a:t>
            </a:r>
          </a:p>
        </p:txBody>
      </p:sp>
      <p:sp>
        <p:nvSpPr>
          <p:cNvPr id="16" name="Product-focused creative, audience testing and purchase-intent messagi">
            <a:extLst xmlns:a="http://schemas.openxmlformats.org/drawingml/2006/main">
              <a:ext uri="{FF2B5EF4-FFF2-40B4-BE49-F238E27FC236}">
                <a16:creationId xmlns:a16="http://schemas.microsoft.com/office/drawing/2014/main" id="{4DB05DFA-8E43-45C5-A4A6-710F32E83EA8}"/>
              </a:ext>
            </a:extLst>
          </p:cNvPr>
          <p:cNvSpPr>
            <a:spLocks xmlns:a="http://schemas.openxmlformats.org/drawingml/2006/main" noGrp="1"/>
          </p:cNvSpPr>
          <p:nvPr/>
        </p:nvSpPr>
        <p:spPr>
          <a:xfrm xmlns:a="http://schemas.openxmlformats.org/drawingml/2006/main">
            <a:off x="628650" y="5610225"/>
            <a:ext cx="5829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A9B8CA"/>
                </a:solidFill>
                <a:latin typeface="Manrope"/>
                <a:ea typeface="Manrope"/>
                <a:cs typeface="Manrope"/>
              </a:defRPr>
            </a:defPPr>
          </a:lstStyle>
          <a:p xmlns:a="http://schemas.openxmlformats.org/drawingml/2006/main">
            <a:pPr>
              <a:lnSpc>
                <a:spcPct val="105000"/>
              </a:lnSpc>
              <a:buNone/>
              <a:defRPr sz="1650" b="0">
                <a:solidFill>
                  <a:srgbClr val="A9B8CA"/>
                </a:solidFill>
                <a:latin typeface="Manrope"/>
                <a:ea typeface="Manrope"/>
                <a:cs typeface="Manrope"/>
              </a:defRPr>
            </a:pPr>
            <a:r>
              <a:rPr sz="1650" b="0" spc="70">
                <a:solidFill>
                  <a:srgbClr val="A9B8CA"/>
                </a:solidFill>
                <a:latin typeface="Manrope"/>
                <a:ea typeface="Manrope"/>
                <a:cs typeface="Manrope"/>
              </a:rPr>
              <a:t>Product-focused creative, audience testing and purchase-intent messaging</a:t>
            </a:r>
          </a:p>
        </p:txBody>
      </p:sp>
      <p:sp>
        <p:nvSpPr>
          <p:cNvPr id="17" name="05 / TRENDELITE / ECOMMERCE">
            <a:extLst xmlns:a="http://schemas.openxmlformats.org/drawingml/2006/main">
              <a:ext uri="{FF2B5EF4-FFF2-40B4-BE49-F238E27FC236}">
                <a16:creationId xmlns:a16="http://schemas.microsoft.com/office/drawing/2014/main" id="{C73F8708-0573-4C3D-931E-16C075E1F929}"/>
              </a:ext>
            </a:extLst>
          </p:cNvPr>
          <p:cNvSpPr>
            <a:spLocks xmlns:a="http://schemas.openxmlformats.org/drawingml/2006/main" noGrp="1"/>
          </p:cNvSpPr>
          <p:nvPr/>
        </p:nvSpPr>
        <p:spPr>
          <a:xfrm xmlns:a="http://schemas.openxmlformats.org/drawingml/2006/main">
            <a:off x="609600" y="381000"/>
            <a:ext cx="600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05 / TRENDELITE / ECOMMERCE</a:t>
            </a:r>
          </a:p>
        </p:txBody>
      </p:sp>
      <p:sp>
        <p:nvSpPr>
          <p:cNvPr id="18" name="Illustrative apparel imagery">
            <a:extLst xmlns:a="http://schemas.openxmlformats.org/drawingml/2006/main">
              <a:ext uri="{FF2B5EF4-FFF2-40B4-BE49-F238E27FC236}">
                <a16:creationId xmlns:a16="http://schemas.microsoft.com/office/drawing/2014/main" id="{453B8490-A446-4CE5-90E0-E1019A779985}"/>
              </a:ext>
            </a:extLst>
          </p:cNvPr>
          <p:cNvSpPr>
            <a:spLocks xmlns:a="http://schemas.openxmlformats.org/drawingml/2006/main" noGrp="1"/>
          </p:cNvSpPr>
          <p:nvPr/>
        </p:nvSpPr>
        <p:spPr>
          <a:xfrm xmlns:a="http://schemas.openxmlformats.org/drawingml/2006/main">
            <a:off x="7048500" y="6124575"/>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DBE0E6"/>
                </a:solidFill>
                <a:latin typeface="Manrope"/>
                <a:ea typeface="Manrope"/>
                <a:cs typeface="Manrope"/>
              </a:defRPr>
            </a:defPPr>
          </a:lstStyle>
          <a:p xmlns:a="http://schemas.openxmlformats.org/drawingml/2006/main">
            <a:pPr>
              <a:lnSpc>
                <a:spcPct val="105000"/>
              </a:lnSpc>
              <a:buNone/>
              <a:defRPr sz="1050" b="0">
                <a:solidFill>
                  <a:srgbClr val="DBE0E6"/>
                </a:solidFill>
                <a:latin typeface="Manrope"/>
                <a:ea typeface="Manrope"/>
                <a:cs typeface="Manrope"/>
              </a:defRPr>
            </a:pPr>
            <a:r>
              <a:rPr sz="1050" b="0">
                <a:solidFill>
                  <a:srgbClr val="DBE0E6"/>
                </a:solidFill>
                <a:latin typeface="Manrope"/>
                <a:ea typeface="Manrope"/>
                <a:cs typeface="Manrope"/>
              </a:rPr>
              <a:t>Illustrative apparel imagery</a:t>
            </a:r>
          </a:p>
        </p:txBody>
      </p:sp>
      <p:sp>
        <p:nvSpPr>
          <p:cNvPr id="19" name="KHAWAJA SAIM">
            <a:extLst xmlns:a="http://schemas.openxmlformats.org/drawingml/2006/main">
              <a:ext uri="{FF2B5EF4-FFF2-40B4-BE49-F238E27FC236}">
                <a16:creationId xmlns:a16="http://schemas.microsoft.com/office/drawing/2014/main" id="{D1C7D47F-9CF4-4212-8FA7-B1561AA29A23}"/>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20" name="06">
            <a:extLst xmlns:a="http://schemas.openxmlformats.org/drawingml/2006/main">
              <a:ext uri="{FF2B5EF4-FFF2-40B4-BE49-F238E27FC236}">
                <a16:creationId xmlns:a16="http://schemas.microsoft.com/office/drawing/2014/main" id="{4CC45212-8CBC-4999-82B0-19A9B15B21B6}"/>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06</a:t>
            </a:r>
          </a:p>
        </p:txBody>
      </p:sp>
    </p:spTree>
    <p:extLst>
      <p:ext uri="{BB962C8B-B14F-4D97-AF65-F5344CB8AC3E}">
        <p14:creationId xmlns:p14="http://schemas.microsoft.com/office/powerpoint/2010/main" val="1981922931"/>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720" fill="hold"/>
                                  <p:tgtEl>
                                    <p:spTgt spid="8"/>
                                  </p:tgtEl>
                                </p:cBhvr>
                              </p:animEffect>
                              <p:animScale>
                                <p:cBhvr additive="base">
                                  <p:cTn id="7" dur="720" fill="hold" accel="0" decel="60000"/>
                                  <p:tgtEl>
                                    <p:spTgt spid="8"/>
                                  </p:tgtEl>
                                </p:cBhvr>
                                <p:from x="94000" y="94000"/>
                                <p:to x="100000" y="100000"/>
                              </p:animScale>
                              <p:anim calcmode="lin" valueType="num">
                                <p:cBhvr additive="base">
                                  <p:cTn id="8" dur="720" fill="hold" decel="60000"/>
                                  <p:tgtEl>
                                    <p:spTgt spid="8"/>
                                  </p:tgtEl>
                                  <p:attrNameLst>
                                    <p:attrName>ppt_y</p:attrName>
                                  </p:attrNameLst>
                                </p:cBhvr>
                                <p:tavLst>
                                  <p:tav tm="0">
                                    <p:val>
                                      <p:strVal val="#ppt_y+0.025"/>
                                    </p:val>
                                  </p:tav>
                                  <p:tav tm="100000">
                                    <p:val>
                                      <p:strVal val="#ppt_y"/>
                                    </p:val>
                                  </p:tav>
                                </p:tavLst>
                              </p:anim>
                            </p:childTnLst>
                          </p:cTn>
                        </p:par>
                        <p:par>
                          <p:cTn id="9" presetID="10" presetClass="entr" presetSubtype="0" fill="hold" grpId="0" nodeType="withEffect">
                            <p:stCondLst>
                              <p:cond delay="265"/>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50" fill="hold"/>
                                  <p:tgtEl>
                                    <p:spTgt spid="9"/>
                                  </p:tgtEl>
                                </p:cBhvr>
                              </p:animEffect>
                              <p:anim calcmode="lin" valueType="num">
                                <p:cBhvr additive="base">
                                  <p:cTn id="12" dur="550" fill="hold" decel="60000"/>
                                  <p:tgtEl>
                                    <p:spTgt spid="9"/>
                                  </p:tgtEl>
                                  <p:attrNameLst>
                                    <p:attrName>ppt_y</p:attrName>
                                  </p:attrNameLst>
                                </p:cBhvr>
                                <p:tavLst>
                                  <p:tav tm="0">
                                    <p:val>
                                      <p:strVal val="#ppt_y+0.025"/>
                                    </p:val>
                                  </p:tav>
                                  <p:tav tm="100000">
                                    <p:val>
                                      <p:strVal val="#ppt_y"/>
                                    </p:val>
                                  </p:tav>
                                </p:tavLst>
                              </p:anim>
                            </p:childTnLst>
                          </p:cTn>
                        </p:par>
                        <p:par>
                          <p:cTn id="13" presetID="10" presetClass="entr" presetSubtype="0" fill="hold" grpId="0" nodeType="withEffect">
                            <p:stCondLst>
                              <p:cond delay="38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50" fill="hold"/>
                                  <p:tgtEl>
                                    <p:spTgt spid="11"/>
                                  </p:tgtEl>
                                </p:cBhvr>
                              </p:animEffect>
                              <p:anim calcmode="lin" valueType="num">
                                <p:cBhvr additive="base">
                                  <p:cTn id="16" dur="550" fill="hold" decel="60000"/>
                                  <p:tgtEl>
                                    <p:spTgt spid="11"/>
                                  </p:tgtEl>
                                  <p:attrNameLst>
                                    <p:attrName>ppt_y</p:attrName>
                                  </p:attrNameLst>
                                </p:cBhvr>
                                <p:tavLst>
                                  <p:tav tm="0">
                                    <p:val>
                                      <p:strVal val="#ppt_y+0.025"/>
                                    </p:val>
                                  </p:tav>
                                  <p:tav tm="100000">
                                    <p:val>
                                      <p:strVal val="#ppt_y"/>
                                    </p:val>
                                  </p:tav>
                                </p:tavLst>
                              </p:anim>
                            </p:childTnLst>
                          </p:cTn>
                        </p:par>
                        <p:par>
                          <p:cTn id="17" presetID="10" presetClass="entr" presetSubtype="0" fill="hold" grpId="0" nodeType="withEffect">
                            <p:stCondLst>
                              <p:cond delay="495"/>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50" fill="hold"/>
                                  <p:tgtEl>
                                    <p:spTgt spid="14"/>
                                  </p:tgtEl>
                                </p:cBhvr>
                              </p:animEffect>
                              <p:anim calcmode="lin" valueType="num">
                                <p:cBhvr additive="base">
                                  <p:cTn id="20" dur="550" fill="hold" decel="60000"/>
                                  <p:tgtEl>
                                    <p:spTgt spid="14"/>
                                  </p:tgtEl>
                                  <p:attrNameLst>
                                    <p:attrName>ppt_y</p:attrName>
                                  </p:attrNameLst>
                                </p:cBhvr>
                                <p:tavLst>
                                  <p:tav tm="0">
                                    <p:val>
                                      <p:strVal val="#ppt_y+0.025"/>
                                    </p:val>
                                  </p:tav>
                                  <p:tav tm="100000">
                                    <p:val>
                                      <p:strVal val="#ppt_y"/>
                                    </p:val>
                                  </p:tav>
                                </p:tavLst>
                              </p:anim>
                            </p:childTnLst>
                          </p:cTn>
                        </p:par>
                        <p:par>
                          <p:cTn id="21" presetID="10" presetClass="entr" presetSubtype="0" fill="hold" grpId="0" nodeType="withEffect">
                            <p:stCondLst>
                              <p:cond delay="61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50" fill="hold"/>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9" grpId="0" build="allAtOnce"/>
      <p:bldP spid="11" grpId="0" build="allAtOnce"/>
      <p:bldP spid="14" grpId="0" build="allAtOnce"/>
      <p:bldP spid="16" grpId="0" build="allAtOnce"/>
    </p:bldLst>
  </p:timing>
</p:sld>
</file>

<file path=ppt/slides/slide7.xml><?xml version="1.0" encoding="utf-8"?>
<p:sld xmlns:p="http://schemas.openxmlformats.org/presentationml/2006/main">
  <p:cSld>
    <p:bg>
      <p:bgPr>
        <a:solidFill xmlns:a="http://schemas.openxmlformats.org/drawingml/2006/main">
          <a:srgbClr val="F3F5F7"/>
        </a:solidFill>
      </p:bgPr>
    </p:bg>
    <p:spTree>
      <p:nvGrpSpPr>
        <p:cNvPr id="1" name=""/>
        <p:cNvGrpSpPr/>
        <p:nvPr/>
      </p:nvGrpSpPr>
      <p:grpSpPr>
        <a:xfrm xmlns:a="http://schemas.openxmlformats.org/drawingml/2006/main"/>
      </p:grpSpPr>
      <p:sp>
        <p:nvSpPr>
          <p:cNvPr id="14" name="06 / 360 FACEVISION">
            <a:extLst xmlns:a="http://schemas.openxmlformats.org/drawingml/2006/main">
              <a:ext uri="{FF2B5EF4-FFF2-40B4-BE49-F238E27FC236}">
                <a16:creationId xmlns:a16="http://schemas.microsoft.com/office/drawing/2014/main" id="{9438EBFB-7F2C-409A-A031-56BA91384CD4}"/>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15375B"/>
                </a:solidFill>
                <a:latin typeface="Manrope"/>
                <a:ea typeface="Manrope"/>
                <a:cs typeface="Manrope"/>
              </a:defRPr>
            </a:defPPr>
          </a:lstStyle>
          <a:p xmlns:a="http://schemas.openxmlformats.org/drawingml/2006/main">
            <a:pPr>
              <a:lnSpc>
                <a:spcPct val="105000"/>
              </a:lnSpc>
              <a:buNone/>
              <a:defRPr sz="1050" b="1">
                <a:solidFill>
                  <a:srgbClr val="15375B"/>
                </a:solidFill>
                <a:latin typeface="Manrope"/>
                <a:ea typeface="Manrope"/>
                <a:cs typeface="Manrope"/>
              </a:defRPr>
            </a:pPr>
            <a:r>
              <a:rPr sz="1050" b="1">
                <a:solidFill>
                  <a:srgbClr val="15375B"/>
                </a:solidFill>
                <a:latin typeface="Manrope"/>
                <a:ea typeface="Manrope"/>
                <a:cs typeface="Manrope"/>
              </a:rPr>
              <a:t>06 / 360 FACEVISION</a:t>
            </a:r>
          </a:p>
        </p:txBody>
      </p:sp>
      <p:sp>
        <p:nvSpPr>
          <p:cNvPr id="2" name="B2B lead generation">
            <a:extLst xmlns:a="http://schemas.openxmlformats.org/drawingml/2006/main">
              <a:ext uri="{FF2B5EF4-FFF2-40B4-BE49-F238E27FC236}">
                <a16:creationId xmlns:a16="http://schemas.microsoft.com/office/drawing/2014/main" id="{7EA456AB-0A73-4F58-B0DF-6ED7E72B8B7D}"/>
              </a:ext>
            </a:extLst>
          </p:cNvPr>
          <p:cNvSpPr>
            <a:spLocks xmlns:a="http://schemas.openxmlformats.org/drawingml/2006/main" noGrp="1"/>
          </p:cNvSpPr>
          <p:nvPr/>
        </p:nvSpPr>
        <p:spPr>
          <a:xfrm xmlns:a="http://schemas.openxmlformats.org/drawingml/2006/main">
            <a:off x="609600" y="8572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080D15"/>
                </a:solidFill>
                <a:latin typeface="Sora"/>
                <a:ea typeface="Sora"/>
                <a:cs typeface="Sora"/>
              </a:defRPr>
            </a:defPPr>
          </a:lstStyle>
          <a:p xmlns:a="http://schemas.openxmlformats.org/drawingml/2006/main">
            <a:pPr>
              <a:lnSpc>
                <a:spcPct val="105000"/>
              </a:lnSpc>
              <a:buNone/>
              <a:defRPr sz="3600" b="1">
                <a:solidFill>
                  <a:srgbClr val="080D15"/>
                </a:solidFill>
                <a:latin typeface="Sora"/>
                <a:ea typeface="Sora"/>
                <a:cs typeface="Sora"/>
              </a:defRPr>
            </a:pPr>
            <a:r>
              <a:rPr sz="3600" b="1" spc="-30">
                <a:solidFill>
                  <a:srgbClr val="080D15"/>
                </a:solidFill>
                <a:latin typeface="Sora"/>
                <a:ea typeface="Sora"/>
                <a:cs typeface="Sora"/>
              </a:rPr>
              <a:t>B2B lead generation</a:t>
            </a:r>
          </a:p>
        </p:txBody>
      </p:sp>
      <p:sp>
        <p:nvSpPr>
          <p:cNvPr id="3" name="KHAWAJA SAIM">
            <a:extLst xmlns:a="http://schemas.openxmlformats.org/drawingml/2006/main">
              <a:ext uri="{FF2B5EF4-FFF2-40B4-BE49-F238E27FC236}">
                <a16:creationId xmlns:a16="http://schemas.microsoft.com/office/drawing/2014/main" id="{B988CB98-171E-4737-92D0-B5408E3B9F0C}"/>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15375B"/>
                </a:solidFill>
                <a:latin typeface="Manrope"/>
                <a:ea typeface="Manrope"/>
                <a:cs typeface="Manrope"/>
              </a:defRPr>
            </a:defPPr>
          </a:lstStyle>
          <a:p xmlns:a="http://schemas.openxmlformats.org/drawingml/2006/main">
            <a:pPr>
              <a:lnSpc>
                <a:spcPct val="105000"/>
              </a:lnSpc>
              <a:buNone/>
              <a:defRPr sz="900" b="1">
                <a:solidFill>
                  <a:srgbClr val="15375B"/>
                </a:solidFill>
                <a:latin typeface="Manrope"/>
                <a:ea typeface="Manrope"/>
                <a:cs typeface="Manrope"/>
              </a:defRPr>
            </a:pPr>
            <a:r>
              <a:rPr sz="900" b="1">
                <a:solidFill>
                  <a:srgbClr val="15375B"/>
                </a:solidFill>
                <a:latin typeface="Manrope"/>
                <a:ea typeface="Manrope"/>
                <a:cs typeface="Manrope"/>
              </a:rPr>
              <a:t>KHAWAJA SAIM</a:t>
            </a:r>
          </a:p>
        </p:txBody>
      </p:sp>
      <p:sp>
        <p:nvSpPr>
          <p:cNvPr id="4" name="07">
            <a:extLst xmlns:a="http://schemas.openxmlformats.org/drawingml/2006/main">
              <a:ext uri="{FF2B5EF4-FFF2-40B4-BE49-F238E27FC236}">
                <a16:creationId xmlns:a16="http://schemas.microsoft.com/office/drawing/2014/main" id="{E8DAC93D-0FD4-47B9-BE42-596E26131C1F}"/>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15375B"/>
                </a:solidFill>
                <a:latin typeface="Manrope"/>
                <a:ea typeface="Manrope"/>
                <a:cs typeface="Manrope"/>
              </a:defRPr>
            </a:defPPr>
          </a:lstStyle>
          <a:p xmlns:a="http://schemas.openxmlformats.org/drawingml/2006/main">
            <a:pPr>
              <a:lnSpc>
                <a:spcPct val="105000"/>
              </a:lnSpc>
              <a:buNone/>
              <a:defRPr sz="1050" b="0">
                <a:solidFill>
                  <a:srgbClr val="15375B"/>
                </a:solidFill>
                <a:latin typeface="Manrope"/>
                <a:ea typeface="Manrope"/>
                <a:cs typeface="Manrope"/>
              </a:defRPr>
            </a:pPr>
            <a:r>
              <a:rPr sz="1050" b="0">
                <a:solidFill>
                  <a:srgbClr val="15375B"/>
                </a:solidFill>
                <a:latin typeface="Manrope"/>
                <a:ea typeface="Manrope"/>
                <a:cs typeface="Manrope"/>
              </a:rPr>
              <a:t>07</a:t>
            </a:r>
          </a:p>
        </p:txBody>
      </p:sp>
      <p:sp>
        <p:nvSpPr>
          <p:cNvPr id="5" name="9">
            <a:extLst xmlns:a="http://schemas.openxmlformats.org/drawingml/2006/main">
              <a:ext uri="{FF2B5EF4-FFF2-40B4-BE49-F238E27FC236}">
                <a16:creationId xmlns:a16="http://schemas.microsoft.com/office/drawing/2014/main" id="{6A8771B0-1FCA-429B-8E52-70980414D2D6}"/>
              </a:ext>
            </a:extLst>
          </p:cNvPr>
          <p:cNvSpPr>
            <a:spLocks xmlns:a="http://schemas.openxmlformats.org/drawingml/2006/main" noGrp="1"/>
          </p:cNvSpPr>
          <p:nvPr/>
        </p:nvSpPr>
        <p:spPr>
          <a:xfrm xmlns:a="http://schemas.openxmlformats.org/drawingml/2006/main">
            <a:off x="447675" y="1695450"/>
            <a:ext cx="3238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150" b="1">
                <a:solidFill>
                  <a:srgbClr val="15375B"/>
                </a:solidFill>
                <a:latin typeface="Sora"/>
                <a:ea typeface="Sora"/>
                <a:cs typeface="Sora"/>
              </a:defRPr>
            </a:defPPr>
          </a:lstStyle>
          <a:p xmlns:a="http://schemas.openxmlformats.org/drawingml/2006/main">
            <a:pPr>
              <a:lnSpc>
                <a:spcPct val="105000"/>
              </a:lnSpc>
              <a:buNone/>
              <a:defRPr sz="15150" b="1">
                <a:solidFill>
                  <a:srgbClr val="15375B"/>
                </a:solidFill>
                <a:latin typeface="Sora"/>
                <a:ea typeface="Sora"/>
                <a:cs typeface="Sora"/>
              </a:defRPr>
            </a:pPr>
            <a:r>
              <a:rPr sz="15150" b="1" spc="-30">
                <a:solidFill>
                  <a:srgbClr val="15375B"/>
                </a:solidFill>
                <a:latin typeface="Sora"/>
                <a:ea typeface="Sora"/>
                <a:cs typeface="Sora"/>
              </a:rPr>
              <a:t>9</a:t>
            </a:r>
          </a:p>
        </p:txBody>
      </p:sp>
      <p:sp>
        <p:nvSpPr>
          <p:cNvPr id="6" name="Leads in three days">
            <a:extLst xmlns:a="http://schemas.openxmlformats.org/drawingml/2006/main">
              <a:ext uri="{FF2B5EF4-FFF2-40B4-BE49-F238E27FC236}">
                <a16:creationId xmlns:a16="http://schemas.microsoft.com/office/drawing/2014/main" id="{1EEC12CC-0A86-458F-9E8A-221D0655CE32}"/>
              </a:ext>
            </a:extLst>
          </p:cNvPr>
          <p:cNvSpPr>
            <a:spLocks xmlns:a="http://schemas.openxmlformats.org/drawingml/2006/main" noGrp="1"/>
          </p:cNvSpPr>
          <p:nvPr/>
        </p:nvSpPr>
        <p:spPr>
          <a:xfrm xmlns:a="http://schemas.openxmlformats.org/drawingml/2006/main">
            <a:off x="619125" y="4695825"/>
            <a:ext cx="5048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080D15"/>
                </a:solidFill>
                <a:latin typeface="Sora"/>
                <a:ea typeface="Sora"/>
                <a:cs typeface="Sora"/>
              </a:defRPr>
            </a:defPPr>
          </a:lstStyle>
          <a:p xmlns:a="http://schemas.openxmlformats.org/drawingml/2006/main">
            <a:pPr>
              <a:lnSpc>
                <a:spcPct val="105000"/>
              </a:lnSpc>
              <a:buNone/>
              <a:defRPr sz="2550" b="1">
                <a:solidFill>
                  <a:srgbClr val="080D15"/>
                </a:solidFill>
                <a:latin typeface="Sora"/>
                <a:ea typeface="Sora"/>
                <a:cs typeface="Sora"/>
              </a:defRPr>
            </a:pPr>
            <a:r>
              <a:rPr sz="2550" b="1" spc="0">
                <a:solidFill>
                  <a:srgbClr val="080D15"/>
                </a:solidFill>
                <a:latin typeface="Sora"/>
                <a:ea typeface="Sora"/>
                <a:cs typeface="Sora"/>
              </a:rPr>
              <a:t>Leads in three days</a:t>
            </a:r>
          </a:p>
        </p:txBody>
      </p:sp>
      <p:sp>
        <p:nvSpPr>
          <p:cNvPr id="7" name="Metric panel Cost per lead">
            <a:extLst xmlns:a="http://schemas.openxmlformats.org/drawingml/2006/main">
              <a:ext uri="{FF2B5EF4-FFF2-40B4-BE49-F238E27FC236}">
                <a16:creationId xmlns:a16="http://schemas.microsoft.com/office/drawing/2014/main" id="{41299574-9209-463A-BE27-3869397F52FC}"/>
              </a:ext>
            </a:extLst>
          </p:cNvPr>
          <p:cNvSpPr>
            <a:spLocks xmlns:a="http://schemas.openxmlformats.org/drawingml/2006/main" noGrp="1"/>
          </p:cNvSpPr>
          <p:nvPr/>
        </p:nvSpPr>
        <p:spPr>
          <a:xfrm xmlns:a="http://schemas.openxmlformats.org/drawingml/2006/main">
            <a:off x="5953125" y="2247900"/>
            <a:ext cx="5076825" cy="1685925"/>
          </a:xfrm>
          <a:prstGeom xmlns:a="http://schemas.openxmlformats.org/drawingml/2006/main" prst="roundRect">
            <a:avLst>
              <a:gd name="adj" fmla="val 6780"/>
            </a:avLst>
          </a:prstGeom>
          <a:solidFill xmlns:a="http://schemas.openxmlformats.org/drawingml/2006/main">
            <a:srgbClr val="E7EDF4"/>
          </a:solidFill>
          <a:ln xmlns:a="http://schemas.openxmlformats.org/drawingml/2006/main" w="9525">
            <a:solidFill>
              <a:srgbClr val="CDDAE6"/>
            </a:solidFill>
          </a:ln>
        </p:spPr>
      </p:sp>
      <p:sp>
        <p:nvSpPr>
          <p:cNvPr id="8" name="PKR 289">
            <a:extLst xmlns:a="http://schemas.openxmlformats.org/drawingml/2006/main">
              <a:ext uri="{FF2B5EF4-FFF2-40B4-BE49-F238E27FC236}">
                <a16:creationId xmlns:a16="http://schemas.microsoft.com/office/drawing/2014/main" id="{79264A41-6EF1-4C77-830D-7A697052B9E4}"/>
              </a:ext>
            </a:extLst>
          </p:cNvPr>
          <p:cNvSpPr>
            <a:spLocks xmlns:a="http://schemas.openxmlformats.org/drawingml/2006/main" noGrp="1"/>
          </p:cNvSpPr>
          <p:nvPr/>
        </p:nvSpPr>
        <p:spPr>
          <a:xfrm xmlns:a="http://schemas.openxmlformats.org/drawingml/2006/main">
            <a:off x="6067425" y="2362200"/>
            <a:ext cx="5114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775" b="1">
                <a:solidFill>
                  <a:srgbClr val="15375B"/>
                </a:solidFill>
                <a:latin typeface="Sora"/>
                <a:ea typeface="Sora"/>
                <a:cs typeface="Sora"/>
              </a:defRPr>
            </a:defPPr>
          </a:lstStyle>
          <a:p xmlns:a="http://schemas.openxmlformats.org/drawingml/2006/main">
            <a:pPr>
              <a:lnSpc>
                <a:spcPct val="105000"/>
              </a:lnSpc>
              <a:buNone/>
              <a:defRPr sz="5775" b="1">
                <a:solidFill>
                  <a:srgbClr val="15375B"/>
                </a:solidFill>
                <a:latin typeface="Sora"/>
                <a:ea typeface="Sora"/>
                <a:cs typeface="Sora"/>
              </a:defRPr>
            </a:pPr>
            <a:r>
              <a:rPr sz="5775" b="1" spc="-30">
                <a:solidFill>
                  <a:srgbClr val="15375B"/>
                </a:solidFill>
                <a:latin typeface="Sora"/>
                <a:ea typeface="Sora"/>
                <a:cs typeface="Sora"/>
              </a:rPr>
              <a:t>PKR 289</a:t>
            </a:r>
          </a:p>
        </p:txBody>
      </p:sp>
      <p:sp>
        <p:nvSpPr>
          <p:cNvPr id="9" name="Cost per lead">
            <a:extLst xmlns:a="http://schemas.openxmlformats.org/drawingml/2006/main">
              <a:ext uri="{FF2B5EF4-FFF2-40B4-BE49-F238E27FC236}">
                <a16:creationId xmlns:a16="http://schemas.microsoft.com/office/drawing/2014/main" id="{2C0A3965-114A-4C11-8D3F-0B59440DE96E}"/>
              </a:ext>
            </a:extLst>
          </p:cNvPr>
          <p:cNvSpPr>
            <a:spLocks xmlns:a="http://schemas.openxmlformats.org/drawingml/2006/main" noGrp="1"/>
          </p:cNvSpPr>
          <p:nvPr/>
        </p:nvSpPr>
        <p:spPr>
          <a:xfrm xmlns:a="http://schemas.openxmlformats.org/drawingml/2006/main">
            <a:off x="6067425" y="3314700"/>
            <a:ext cx="48482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079"/>
                </a:solidFill>
                <a:latin typeface="Manrope"/>
                <a:ea typeface="Manrope"/>
                <a:cs typeface="Manrope"/>
              </a:defRPr>
            </a:defPPr>
          </a:lstStyle>
          <a:p xmlns:a="http://schemas.openxmlformats.org/drawingml/2006/main">
            <a:pPr>
              <a:lnSpc>
                <a:spcPct val="105000"/>
              </a:lnSpc>
              <a:buNone/>
              <a:defRPr sz="1275" b="0">
                <a:solidFill>
                  <a:srgbClr val="506079"/>
                </a:solidFill>
                <a:latin typeface="Manrope"/>
                <a:ea typeface="Manrope"/>
                <a:cs typeface="Manrope"/>
              </a:defRPr>
            </a:pPr>
            <a:r>
              <a:rPr sz="1275" b="0">
                <a:solidFill>
                  <a:srgbClr val="506079"/>
                </a:solidFill>
                <a:latin typeface="Manrope"/>
                <a:ea typeface="Manrope"/>
                <a:cs typeface="Manrope"/>
              </a:rPr>
              <a:t>Cost per lead</a:t>
            </a:r>
          </a:p>
        </p:txBody>
      </p:sp>
      <p:sp>
        <p:nvSpPr>
          <p:cNvPr id="10" name="Metric panel Click-through rate">
            <a:extLst xmlns:a="http://schemas.openxmlformats.org/drawingml/2006/main">
              <a:ext uri="{FF2B5EF4-FFF2-40B4-BE49-F238E27FC236}">
                <a16:creationId xmlns:a16="http://schemas.microsoft.com/office/drawing/2014/main" id="{7350EFF6-05EE-4D1F-A4D7-F588E3B89071}"/>
              </a:ext>
            </a:extLst>
          </p:cNvPr>
          <p:cNvSpPr>
            <a:spLocks xmlns:a="http://schemas.openxmlformats.org/drawingml/2006/main" noGrp="1"/>
          </p:cNvSpPr>
          <p:nvPr/>
        </p:nvSpPr>
        <p:spPr>
          <a:xfrm xmlns:a="http://schemas.openxmlformats.org/drawingml/2006/main">
            <a:off x="5953125" y="4105275"/>
            <a:ext cx="5076825" cy="1685925"/>
          </a:xfrm>
          <a:prstGeom xmlns:a="http://schemas.openxmlformats.org/drawingml/2006/main" prst="roundRect">
            <a:avLst>
              <a:gd name="adj" fmla="val 6780"/>
            </a:avLst>
          </a:prstGeom>
          <a:solidFill xmlns:a="http://schemas.openxmlformats.org/drawingml/2006/main">
            <a:srgbClr val="E7EDF4"/>
          </a:solidFill>
          <a:ln xmlns:a="http://schemas.openxmlformats.org/drawingml/2006/main" w="9525">
            <a:solidFill>
              <a:srgbClr val="CDDAE6"/>
            </a:solidFill>
          </a:ln>
        </p:spPr>
      </p:sp>
      <p:sp>
        <p:nvSpPr>
          <p:cNvPr id="11" name="1.58%">
            <a:extLst xmlns:a="http://schemas.openxmlformats.org/drawingml/2006/main">
              <a:ext uri="{FF2B5EF4-FFF2-40B4-BE49-F238E27FC236}">
                <a16:creationId xmlns:a16="http://schemas.microsoft.com/office/drawing/2014/main" id="{31516DEA-8BB9-4B0D-BF14-D0AE2FDF774A}"/>
              </a:ext>
            </a:extLst>
          </p:cNvPr>
          <p:cNvSpPr>
            <a:spLocks xmlns:a="http://schemas.openxmlformats.org/drawingml/2006/main" noGrp="1"/>
          </p:cNvSpPr>
          <p:nvPr/>
        </p:nvSpPr>
        <p:spPr>
          <a:xfrm xmlns:a="http://schemas.openxmlformats.org/drawingml/2006/main">
            <a:off x="6067425" y="4219575"/>
            <a:ext cx="5114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775" b="1">
                <a:solidFill>
                  <a:srgbClr val="15375B"/>
                </a:solidFill>
                <a:latin typeface="Sora"/>
                <a:ea typeface="Sora"/>
                <a:cs typeface="Sora"/>
              </a:defRPr>
            </a:defPPr>
          </a:lstStyle>
          <a:p xmlns:a="http://schemas.openxmlformats.org/drawingml/2006/main">
            <a:pPr>
              <a:lnSpc>
                <a:spcPct val="105000"/>
              </a:lnSpc>
              <a:buNone/>
              <a:defRPr sz="5775" b="1">
                <a:solidFill>
                  <a:srgbClr val="15375B"/>
                </a:solidFill>
                <a:latin typeface="Sora"/>
                <a:ea typeface="Sora"/>
                <a:cs typeface="Sora"/>
              </a:defRPr>
            </a:pPr>
            <a:r>
              <a:rPr sz="5775" b="1" spc="-30">
                <a:solidFill>
                  <a:srgbClr val="15375B"/>
                </a:solidFill>
                <a:latin typeface="Sora"/>
                <a:ea typeface="Sora"/>
                <a:cs typeface="Sora"/>
              </a:rPr>
              <a:t>1.58%</a:t>
            </a:r>
          </a:p>
        </p:txBody>
      </p:sp>
      <p:sp>
        <p:nvSpPr>
          <p:cNvPr id="12" name="Click-through rate">
            <a:extLst xmlns:a="http://schemas.openxmlformats.org/drawingml/2006/main">
              <a:ext uri="{FF2B5EF4-FFF2-40B4-BE49-F238E27FC236}">
                <a16:creationId xmlns:a16="http://schemas.microsoft.com/office/drawing/2014/main" id="{CD527BB9-76CA-4CB5-B9B8-7920C3B15FA0}"/>
              </a:ext>
            </a:extLst>
          </p:cNvPr>
          <p:cNvSpPr>
            <a:spLocks xmlns:a="http://schemas.openxmlformats.org/drawingml/2006/main" noGrp="1"/>
          </p:cNvSpPr>
          <p:nvPr/>
        </p:nvSpPr>
        <p:spPr>
          <a:xfrm xmlns:a="http://schemas.openxmlformats.org/drawingml/2006/main">
            <a:off x="6067425" y="5172075"/>
            <a:ext cx="48482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079"/>
                </a:solidFill>
                <a:latin typeface="Manrope"/>
                <a:ea typeface="Manrope"/>
                <a:cs typeface="Manrope"/>
              </a:defRPr>
            </a:defPPr>
          </a:lstStyle>
          <a:p xmlns:a="http://schemas.openxmlformats.org/drawingml/2006/main">
            <a:pPr>
              <a:lnSpc>
                <a:spcPct val="105000"/>
              </a:lnSpc>
              <a:buNone/>
              <a:defRPr sz="1275" b="0">
                <a:solidFill>
                  <a:srgbClr val="506079"/>
                </a:solidFill>
                <a:latin typeface="Manrope"/>
                <a:ea typeface="Manrope"/>
                <a:cs typeface="Manrope"/>
              </a:defRPr>
            </a:pPr>
            <a:r>
              <a:rPr sz="1275" b="0">
                <a:solidFill>
                  <a:srgbClr val="506079"/>
                </a:solidFill>
                <a:latin typeface="Manrope"/>
                <a:ea typeface="Manrope"/>
                <a:cs typeface="Manrope"/>
              </a:rPr>
              <a:t>Click-through rate</a:t>
            </a:r>
          </a:p>
        </p:txBody>
      </p:sp>
      <p:sp>
        <p:nvSpPr>
          <p:cNvPr id="13" name="Facial recognition technology, paid lead generation and campaign monit">
            <a:extLst xmlns:a="http://schemas.openxmlformats.org/drawingml/2006/main">
              <a:ext uri="{FF2B5EF4-FFF2-40B4-BE49-F238E27FC236}">
                <a16:creationId xmlns:a16="http://schemas.microsoft.com/office/drawing/2014/main" id="{B9C750D4-B0AE-4227-B7B5-79B6F3309331}"/>
              </a:ext>
            </a:extLst>
          </p:cNvPr>
          <p:cNvSpPr>
            <a:spLocks xmlns:a="http://schemas.openxmlformats.org/drawingml/2006/main" noGrp="1"/>
          </p:cNvSpPr>
          <p:nvPr/>
        </p:nvSpPr>
        <p:spPr>
          <a:xfrm xmlns:a="http://schemas.openxmlformats.org/drawingml/2006/main">
            <a:off x="609600" y="5829300"/>
            <a:ext cx="10715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06079"/>
                </a:solidFill>
                <a:latin typeface="Manrope"/>
                <a:ea typeface="Manrope"/>
                <a:cs typeface="Manrope"/>
              </a:defRPr>
            </a:defPPr>
          </a:lstStyle>
          <a:p xmlns:a="http://schemas.openxmlformats.org/drawingml/2006/main">
            <a:pPr>
              <a:lnSpc>
                <a:spcPct val="105000"/>
              </a:lnSpc>
              <a:buNone/>
              <a:defRPr sz="1650" b="0">
                <a:solidFill>
                  <a:srgbClr val="506079"/>
                </a:solidFill>
                <a:latin typeface="Manrope"/>
                <a:ea typeface="Manrope"/>
                <a:cs typeface="Manrope"/>
              </a:defRPr>
            </a:pPr>
            <a:r>
              <a:rPr sz="1650" b="0" spc="70">
                <a:solidFill>
                  <a:srgbClr val="506079"/>
                </a:solidFill>
                <a:latin typeface="Manrope"/>
                <a:ea typeface="Manrope"/>
                <a:cs typeface="Manrope"/>
              </a:rPr>
              <a:t>Facial recognition technology, paid lead generation and campaign monitoring</a:t>
            </a:r>
          </a:p>
        </p:txBody>
      </p:sp>
    </p:spTree>
    <p:extLst>
      <p:ext uri="{BB962C8B-B14F-4D97-AF65-F5344CB8AC3E}">
        <p14:creationId xmlns:p14="http://schemas.microsoft.com/office/powerpoint/2010/main" val="217037742"/>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50" fill="hold"/>
                                  <p:tgtEl>
                                    <p:spTgt spid="2"/>
                                  </p:tgtEl>
                                </p:cBhvr>
                              </p:animEffect>
                              <p:anim calcmode="lin" valueType="num">
                                <p:cBhvr additive="base">
                                  <p:cTn id="7" dur="550" fill="hold" decel="60000"/>
                                  <p:tgtEl>
                                    <p:spTgt spid="2"/>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20" fill="hold"/>
                                  <p:tgtEl>
                                    <p:spTgt spid="5"/>
                                  </p:tgtEl>
                                </p:cBhvr>
                              </p:animEffect>
                              <p:animScale>
                                <p:cBhvr additive="base">
                                  <p:cTn id="11" dur="720" fill="hold" accel="0" decel="60000"/>
                                  <p:tgtEl>
                                    <p:spTgt spid="5"/>
                                  </p:tgtEl>
                                </p:cBhvr>
                                <p:from x="94000" y="94000"/>
                                <p:to x="100000" y="100000"/>
                              </p:animScale>
                              <p:anim calcmode="lin" valueType="num">
                                <p:cBhvr additive="base">
                                  <p:cTn id="12" dur="720" fill="hold" decel="60000"/>
                                  <p:tgtEl>
                                    <p:spTgt spid="5"/>
                                  </p:tgtEl>
                                  <p:attrNameLst>
                                    <p:attrName>ppt_y</p:attrName>
                                  </p:attrNameLst>
                                </p:cBhvr>
                                <p:tavLst>
                                  <p:tav tm="0">
                                    <p:val>
                                      <p:strVal val="#ppt_y+0.025"/>
                                    </p:val>
                                  </p:tav>
                                  <p:tav tm="100000">
                                    <p:val>
                                      <p:strVal val="#ppt_y"/>
                                    </p:val>
                                  </p:tav>
                                </p:tavLst>
                              </p:anim>
                            </p:childTnLst>
                          </p:cTn>
                        </p:par>
                        <p:par>
                          <p:cTn id="13" presetID="10" presetClass="entr" presetSubtype="0" fill="hold" grpId="0" nodeType="withEffect">
                            <p:stCondLst>
                              <p:cond delay="38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50" fill="hold"/>
                                  <p:tgtEl>
                                    <p:spTgt spid="6"/>
                                  </p:tgtEl>
                                </p:cBhvr>
                              </p:animEffect>
                              <p:anim calcmode="lin" valueType="num">
                                <p:cBhvr additive="base">
                                  <p:cTn id="16" dur="550" fill="hold" decel="60000"/>
                                  <p:tgtEl>
                                    <p:spTgt spid="6"/>
                                  </p:tgtEl>
                                  <p:attrNameLst>
                                    <p:attrName>ppt_y</p:attrName>
                                  </p:attrNameLst>
                                </p:cBhvr>
                                <p:tavLst>
                                  <p:tav tm="0">
                                    <p:val>
                                      <p:strVal val="#ppt_y+0.025"/>
                                    </p:val>
                                  </p:tav>
                                  <p:tav tm="100000">
                                    <p:val>
                                      <p:strVal val="#ppt_y"/>
                                    </p:val>
                                  </p:tav>
                                </p:tavLst>
                              </p:anim>
                            </p:childTnLst>
                          </p:cTn>
                        </p:par>
                        <p:par>
                          <p:cTn id="17" presetID="10" presetClass="entr" presetSubtype="0" fill="hold" grpId="0" nodeType="withEffect">
                            <p:stCondLst>
                              <p:cond delay="495"/>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20" fill="hold"/>
                                  <p:tgtEl>
                                    <p:spTgt spid="8"/>
                                  </p:tgtEl>
                                </p:cBhvr>
                              </p:animEffect>
                              <p:anim calcmode="lin" valueType="num">
                                <p:cBhvr additive="base">
                                  <p:cTn id="20" dur="720" fill="hold" decel="60000"/>
                                  <p:tgtEl>
                                    <p:spTgt spid="8"/>
                                  </p:tgtEl>
                                  <p:attrNameLst>
                                    <p:attrName>ppt_y</p:attrName>
                                  </p:attrNameLst>
                                </p:cBhvr>
                                <p:tavLst>
                                  <p:tav tm="0">
                                    <p:val>
                                      <p:strVal val="#ppt_y+0.025"/>
                                    </p:val>
                                  </p:tav>
                                  <p:tav tm="100000">
                                    <p:val>
                                      <p:strVal val="#ppt_y"/>
                                    </p:val>
                                  </p:tav>
                                </p:tavLst>
                              </p:anim>
                            </p:childTnLst>
                          </p:cTn>
                        </p:par>
                        <p:par>
                          <p:cTn id="21" presetID="10" presetClass="entr" presetSubtype="0" fill="hold" grpId="0" nodeType="withEffect">
                            <p:stCondLst>
                              <p:cond delay="61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720" fill="hold"/>
                                  <p:tgtEl>
                                    <p:spTgt spid="11"/>
                                  </p:tgtEl>
                                </p:cBhvr>
                              </p:animEffect>
                              <p:anim calcmode="lin" valueType="num">
                                <p:cBhvr additive="base">
                                  <p:cTn id="24" dur="720" fill="hold" decel="60000"/>
                                  <p:tgtEl>
                                    <p:spTgt spid="11"/>
                                  </p:tgtEl>
                                  <p:attrNameLst>
                                    <p:attrName>ppt_y</p:attrName>
                                  </p:attrNameLst>
                                </p:cBhvr>
                                <p:tavLst>
                                  <p:tav tm="0">
                                    <p:val>
                                      <p:strVal val="#ppt_y+0.025"/>
                                    </p:val>
                                  </p:tav>
                                  <p:tav tm="100000">
                                    <p:val>
                                      <p:strVal val="#ppt_y"/>
                                    </p:val>
                                  </p:tav>
                                </p:tavLst>
                              </p:anim>
                            </p:childTnLst>
                          </p:cTn>
                        </p:par>
                        <p:par>
                          <p:cTn id="25" presetID="10" presetClass="entr" presetSubtype="0" fill="hold" grpId="0" nodeType="withEffect">
                            <p:stCondLst>
                              <p:cond delay="725"/>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50" fill="hold"/>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P spid="5" grpId="0" build="allAtOnce"/>
      <p:bldP spid="6" grpId="0" build="allAtOnce"/>
      <p:bldP spid="8" grpId="0" build="allAtOnce"/>
      <p:bldP spid="11" grpId="0" build="allAtOnce"/>
      <p:bldP spid="13" grpId="0" build="allAtOnce"/>
    </p:bldLst>
  </p:timing>
</p:sld>
</file>

<file path=ppt/slides/slide8.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32FD68EA-BD55-41A3-8FD5-D0CB12476E87}"/>
              </a:ext>
            </a:extLst>
          </p:cNvPr>
          <p:cNvPicPr>
            <a:picLocks xmlns:a="http://schemas.openxmlformats.org/drawingml/2006/main" noChangeAspect="1"/>
          </p:cNvPicPr>
          <p:nvPr/>
        </p:nvPicPr>
        <p:blipFill>
          <a:blip xmlns:r="http://schemas.openxmlformats.org/officeDocument/2006/relationships" xmlns:a="http://schemas.openxmlformats.org/drawingml/2006/main" r:embed="R93a582764458401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5AAFF89-0DEB-4FEF-9A0B-45E991BBF37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D15">
              <a:alpha val="45000"/>
            </a:srgbClr>
          </a:solidFill>
          <a:ln xmlns:a="http://schemas.openxmlformats.org/drawingml/2006/main" w="0">
            <a:noFill/>
          </a:ln>
        </p:spPr>
      </p:sp>
      <p:sp>
        <p:nvSpPr>
          <p:cNvPr id="3" name="07 / BRAND &amp; ORGANIC WORK">
            <a:extLst xmlns:a="http://schemas.openxmlformats.org/drawingml/2006/main">
              <a:ext uri="{FF2B5EF4-FFF2-40B4-BE49-F238E27FC236}">
                <a16:creationId xmlns:a16="http://schemas.microsoft.com/office/drawing/2014/main" id="{80DD2A6C-A9AB-4892-A2E6-B3C2692A7574}"/>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07 / BRAND &amp; ORGANIC WORK</a:t>
            </a:r>
          </a:p>
        </p:txBody>
      </p:sp>
      <p:sp>
        <p:nvSpPr>
          <p:cNvPr id="4" name="KHAWAJA SAIM">
            <a:extLst xmlns:a="http://schemas.openxmlformats.org/drawingml/2006/main">
              <a:ext uri="{FF2B5EF4-FFF2-40B4-BE49-F238E27FC236}">
                <a16:creationId xmlns:a16="http://schemas.microsoft.com/office/drawing/2014/main" id="{17B924E0-2763-4E13-864D-ED4981F474A5}"/>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5" name="08">
            <a:extLst xmlns:a="http://schemas.openxmlformats.org/drawingml/2006/main">
              <a:ext uri="{FF2B5EF4-FFF2-40B4-BE49-F238E27FC236}">
                <a16:creationId xmlns:a16="http://schemas.microsoft.com/office/drawing/2014/main" id="{36C5E395-B0B0-43E4-BCD1-A6CBA295DA6E}"/>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08</a:t>
            </a:r>
          </a:p>
        </p:txBody>
      </p:sp>
      <p:sp>
        <p:nvSpPr>
          <p:cNvPr id="6" name="More work.&#10;Across the&#10;buyer journey.">
            <a:extLst xmlns:a="http://schemas.openxmlformats.org/drawingml/2006/main">
              <a:ext uri="{FF2B5EF4-FFF2-40B4-BE49-F238E27FC236}">
                <a16:creationId xmlns:a16="http://schemas.microsoft.com/office/drawing/2014/main" id="{AD5E600E-9327-4E8C-B509-3A10F476775E}"/>
              </a:ext>
            </a:extLst>
          </p:cNvPr>
          <p:cNvSpPr>
            <a:spLocks xmlns:a="http://schemas.openxmlformats.org/drawingml/2006/main" noGrp="1"/>
          </p:cNvSpPr>
          <p:nvPr/>
        </p:nvSpPr>
        <p:spPr>
          <a:xfrm xmlns:a="http://schemas.openxmlformats.org/drawingml/2006/main">
            <a:off x="609600" y="1152525"/>
            <a:ext cx="4429125"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75"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3975" b="1">
                <a:solidFill>
                  <a:srgbClr val="F3F5F7"/>
                </a:solidFill>
                <a:latin typeface="Sora"/>
                <a:ea typeface="Sora"/>
                <a:cs typeface="Sora"/>
              </a:defRPr>
            </a:pPr>
            <a:r>
              <a:rPr sz="3975" b="1" spc="-30">
                <a:gradFill>
                  <a:gsLst>
                    <a:gs pos="0">
                      <a:srgbClr val="F4F8FF"/>
                    </a:gs>
                    <a:gs pos="55000">
                      <a:srgbClr val="B2DFFF"/>
                    </a:gs>
                    <a:gs pos="100000">
                      <a:srgbClr val="548EE1"/>
                    </a:gs>
                  </a:gsLst>
                  <a:lin ang="0"/>
                </a:gradFill>
                <a:latin typeface="Sora"/>
                <a:ea typeface="Sora"/>
                <a:cs typeface="Sora"/>
              </a:rPr>
              <a:t>More work.</a:t>
            </a:r>
          </a:p>
          <a:p xmlns:a="http://schemas.openxmlformats.org/drawingml/2006/main">
            <a:pPr>
              <a:lnSpc>
                <a:spcPct val="105000"/>
              </a:lnSpc>
              <a:buNone/>
              <a:defRPr sz="3975" b="1">
                <a:solidFill>
                  <a:srgbClr val="F3F5F7"/>
                </a:solidFill>
                <a:latin typeface="Sora"/>
                <a:ea typeface="Sora"/>
                <a:cs typeface="Sora"/>
              </a:defRPr>
            </a:pPr>
            <a:r>
              <a:rPr sz="3975" b="1" spc="-30">
                <a:gradFill>
                  <a:gsLst>
                    <a:gs pos="0">
                      <a:srgbClr val="F4F8FF"/>
                    </a:gs>
                    <a:gs pos="55000">
                      <a:srgbClr val="B2DFFF"/>
                    </a:gs>
                    <a:gs pos="100000">
                      <a:srgbClr val="548EE1"/>
                    </a:gs>
                  </a:gsLst>
                  <a:lin ang="0"/>
                </a:gradFill>
                <a:latin typeface="Sora"/>
                <a:ea typeface="Sora"/>
                <a:cs typeface="Sora"/>
              </a:rPr>
              <a:t>Across the</a:t>
            </a:r>
          </a:p>
          <a:p xmlns:a="http://schemas.openxmlformats.org/drawingml/2006/main">
            <a:pPr>
              <a:lnSpc>
                <a:spcPct val="105000"/>
              </a:lnSpc>
              <a:buNone/>
              <a:defRPr sz="3975" b="1">
                <a:solidFill>
                  <a:srgbClr val="F3F5F7"/>
                </a:solidFill>
                <a:latin typeface="Sora"/>
                <a:ea typeface="Sora"/>
                <a:cs typeface="Sora"/>
              </a:defRPr>
            </a:pPr>
            <a:r>
              <a:rPr sz="3975" b="1" spc="-30">
                <a:gradFill>
                  <a:gsLst>
                    <a:gs pos="0">
                      <a:srgbClr val="F4F8FF"/>
                    </a:gs>
                    <a:gs pos="55000">
                      <a:srgbClr val="B2DFFF"/>
                    </a:gs>
                    <a:gs pos="100000">
                      <a:srgbClr val="548EE1"/>
                    </a:gs>
                  </a:gsLst>
                  <a:lin ang="0"/>
                </a:gradFill>
                <a:latin typeface="Sora"/>
                <a:ea typeface="Sora"/>
                <a:cs typeface="Sora"/>
              </a:rPr>
              <a:t>buyer journey.</a:t>
            </a:r>
          </a:p>
        </p:txBody>
      </p:sp>
      <p:sp>
        <p:nvSpPr>
          <p:cNvPr id="7" name="Coder Crew">
            <a:extLst xmlns:a="http://schemas.openxmlformats.org/drawingml/2006/main">
              <a:ext uri="{FF2B5EF4-FFF2-40B4-BE49-F238E27FC236}">
                <a16:creationId xmlns:a16="http://schemas.microsoft.com/office/drawing/2014/main" id="{ADAB6353-C563-4029-B5F3-2EC6F720B13C}"/>
              </a:ext>
            </a:extLst>
          </p:cNvPr>
          <p:cNvSpPr>
            <a:spLocks xmlns:a="http://schemas.openxmlformats.org/drawingml/2006/main" noGrp="1"/>
          </p:cNvSpPr>
          <p:nvPr/>
        </p:nvSpPr>
        <p:spPr>
          <a:xfrm xmlns:a="http://schemas.openxmlformats.org/drawingml/2006/main">
            <a:off x="5610225" y="1238250"/>
            <a:ext cx="5781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5F7"/>
                </a:solidFill>
                <a:latin typeface="Manrope"/>
                <a:ea typeface="Manrope"/>
                <a:cs typeface="Manrope"/>
              </a:defRPr>
            </a:defPPr>
          </a:lstStyle>
          <a:p xmlns:a="http://schemas.openxmlformats.org/drawingml/2006/main">
            <a:pPr>
              <a:lnSpc>
                <a:spcPct val="105000"/>
              </a:lnSpc>
              <a:buNone/>
              <a:defRPr sz="1800" b="1">
                <a:solidFill>
                  <a:srgbClr val="F3F5F7"/>
                </a:solidFill>
                <a:latin typeface="Manrope"/>
                <a:ea typeface="Manrope"/>
                <a:cs typeface="Manrope"/>
              </a:defRPr>
            </a:pPr>
            <a:r>
              <a:rPr sz="1800" b="1" spc="0">
                <a:solidFill>
                  <a:srgbClr val="F3F5F7"/>
                </a:solidFill>
                <a:latin typeface="Manrope"/>
                <a:ea typeface="Manrope"/>
                <a:cs typeface="Manrope"/>
              </a:rPr>
              <a:t>Coder Crew</a:t>
            </a:r>
          </a:p>
        </p:txBody>
      </p:sp>
      <p:sp>
        <p:nvSpPr>
          <p:cNvPr id="8" name="1,200+ organic followers, SEO and inbound support">
            <a:extLst xmlns:a="http://schemas.openxmlformats.org/drawingml/2006/main">
              <a:ext uri="{FF2B5EF4-FFF2-40B4-BE49-F238E27FC236}">
                <a16:creationId xmlns:a16="http://schemas.microsoft.com/office/drawing/2014/main" id="{DCF182F2-4623-4FD4-AF26-91044B46D222}"/>
              </a:ext>
            </a:extLst>
          </p:cNvPr>
          <p:cNvSpPr>
            <a:spLocks xmlns:a="http://schemas.openxmlformats.org/drawingml/2006/main" noGrp="1"/>
          </p:cNvSpPr>
          <p:nvPr/>
        </p:nvSpPr>
        <p:spPr>
          <a:xfrm xmlns:a="http://schemas.openxmlformats.org/drawingml/2006/main">
            <a:off x="5610225" y="1685925"/>
            <a:ext cx="5781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1,200+ organic followers, SEO and inbound support</a:t>
            </a:r>
          </a:p>
        </p:txBody>
      </p:sp>
      <p:sp>
        <p:nvSpPr>
          <p:cNvPr id="9" name="IPPBX">
            <a:extLst xmlns:a="http://schemas.openxmlformats.org/drawingml/2006/main">
              <a:ext uri="{FF2B5EF4-FFF2-40B4-BE49-F238E27FC236}">
                <a16:creationId xmlns:a16="http://schemas.microsoft.com/office/drawing/2014/main" id="{85D1415D-85B9-455A-A4A2-C7E8427E8577}"/>
              </a:ext>
            </a:extLst>
          </p:cNvPr>
          <p:cNvSpPr>
            <a:spLocks xmlns:a="http://schemas.openxmlformats.org/drawingml/2006/main" noGrp="1"/>
          </p:cNvSpPr>
          <p:nvPr/>
        </p:nvSpPr>
        <p:spPr>
          <a:xfrm xmlns:a="http://schemas.openxmlformats.org/drawingml/2006/main">
            <a:off x="5610225" y="2476500"/>
            <a:ext cx="5781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5F7"/>
                </a:solidFill>
                <a:latin typeface="Manrope"/>
                <a:ea typeface="Manrope"/>
                <a:cs typeface="Manrope"/>
              </a:defRPr>
            </a:defPPr>
          </a:lstStyle>
          <a:p xmlns:a="http://schemas.openxmlformats.org/drawingml/2006/main">
            <a:pPr>
              <a:lnSpc>
                <a:spcPct val="105000"/>
              </a:lnSpc>
              <a:buNone/>
              <a:defRPr sz="1800" b="1">
                <a:solidFill>
                  <a:srgbClr val="F3F5F7"/>
                </a:solidFill>
                <a:latin typeface="Manrope"/>
                <a:ea typeface="Manrope"/>
                <a:cs typeface="Manrope"/>
              </a:defRPr>
            </a:pPr>
            <a:r>
              <a:rPr sz="1800" b="1" spc="0">
                <a:solidFill>
                  <a:srgbClr val="F3F5F7"/>
                </a:solidFill>
                <a:latin typeface="Manrope"/>
                <a:ea typeface="Manrope"/>
                <a:cs typeface="Manrope"/>
              </a:rPr>
              <a:t>IPPBX</a:t>
            </a:r>
          </a:p>
        </p:txBody>
      </p:sp>
      <p:sp>
        <p:nvSpPr>
          <p:cNvPr id="10" name="USA telecom brand and recruitment content">
            <a:extLst xmlns:a="http://schemas.openxmlformats.org/drawingml/2006/main">
              <a:ext uri="{FF2B5EF4-FFF2-40B4-BE49-F238E27FC236}">
                <a16:creationId xmlns:a16="http://schemas.microsoft.com/office/drawing/2014/main" id="{F43971FE-22EE-49FC-8B70-DFC1994BAC48}"/>
              </a:ext>
            </a:extLst>
          </p:cNvPr>
          <p:cNvSpPr>
            <a:spLocks xmlns:a="http://schemas.openxmlformats.org/drawingml/2006/main" noGrp="1"/>
          </p:cNvSpPr>
          <p:nvPr/>
        </p:nvSpPr>
        <p:spPr>
          <a:xfrm xmlns:a="http://schemas.openxmlformats.org/drawingml/2006/main">
            <a:off x="5610225" y="2924175"/>
            <a:ext cx="5781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USA telecom brand and recruitment content</a:t>
            </a:r>
          </a:p>
        </p:txBody>
      </p:sp>
      <p:sp>
        <p:nvSpPr>
          <p:cNvPr id="11" name="The Ad Logic">
            <a:extLst xmlns:a="http://schemas.openxmlformats.org/drawingml/2006/main">
              <a:ext uri="{FF2B5EF4-FFF2-40B4-BE49-F238E27FC236}">
                <a16:creationId xmlns:a16="http://schemas.microsoft.com/office/drawing/2014/main" id="{F7D19533-19E7-484B-8F45-C742F8E377AE}"/>
              </a:ext>
            </a:extLst>
          </p:cNvPr>
          <p:cNvSpPr>
            <a:spLocks xmlns:a="http://schemas.openxmlformats.org/drawingml/2006/main" noGrp="1"/>
          </p:cNvSpPr>
          <p:nvPr/>
        </p:nvSpPr>
        <p:spPr>
          <a:xfrm xmlns:a="http://schemas.openxmlformats.org/drawingml/2006/main">
            <a:off x="5610225" y="3714750"/>
            <a:ext cx="5781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5F7"/>
                </a:solidFill>
                <a:latin typeface="Manrope"/>
                <a:ea typeface="Manrope"/>
                <a:cs typeface="Manrope"/>
              </a:defRPr>
            </a:defPPr>
          </a:lstStyle>
          <a:p xmlns:a="http://schemas.openxmlformats.org/drawingml/2006/main">
            <a:pPr>
              <a:lnSpc>
                <a:spcPct val="105000"/>
              </a:lnSpc>
              <a:buNone/>
              <a:defRPr sz="1800" b="1">
                <a:solidFill>
                  <a:srgbClr val="F3F5F7"/>
                </a:solidFill>
                <a:latin typeface="Manrope"/>
                <a:ea typeface="Manrope"/>
                <a:cs typeface="Manrope"/>
              </a:defRPr>
            </a:pPr>
            <a:r>
              <a:rPr sz="1800" b="1" spc="0">
                <a:solidFill>
                  <a:srgbClr val="F3F5F7"/>
                </a:solidFill>
                <a:latin typeface="Manrope"/>
                <a:ea typeface="Manrope"/>
                <a:cs typeface="Manrope"/>
              </a:rPr>
              <a:t>The Ad Logic</a:t>
            </a:r>
          </a:p>
        </p:txBody>
      </p:sp>
      <p:sp>
        <p:nvSpPr>
          <p:cNvPr id="12" name="SaaS / MarTech brand authority and beta-user support">
            <a:extLst xmlns:a="http://schemas.openxmlformats.org/drawingml/2006/main">
              <a:ext uri="{FF2B5EF4-FFF2-40B4-BE49-F238E27FC236}">
                <a16:creationId xmlns:a16="http://schemas.microsoft.com/office/drawing/2014/main" id="{20D4E604-41BD-4F92-B8D0-97587916A629}"/>
              </a:ext>
            </a:extLst>
          </p:cNvPr>
          <p:cNvSpPr>
            <a:spLocks xmlns:a="http://schemas.openxmlformats.org/drawingml/2006/main" noGrp="1"/>
          </p:cNvSpPr>
          <p:nvPr/>
        </p:nvSpPr>
        <p:spPr>
          <a:xfrm xmlns:a="http://schemas.openxmlformats.org/drawingml/2006/main">
            <a:off x="5610225" y="4162425"/>
            <a:ext cx="5781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SaaS / MarTech brand authority and beta-user support</a:t>
            </a:r>
          </a:p>
        </p:txBody>
      </p:sp>
      <p:sp>
        <p:nvSpPr>
          <p:cNvPr id="13" name="VeeOutsource">
            <a:extLst xmlns:a="http://schemas.openxmlformats.org/drawingml/2006/main">
              <a:ext uri="{FF2B5EF4-FFF2-40B4-BE49-F238E27FC236}">
                <a16:creationId xmlns:a16="http://schemas.microsoft.com/office/drawing/2014/main" id="{DCCC724E-FA8E-4D25-B559-2F208AC54C75}"/>
              </a:ext>
            </a:extLst>
          </p:cNvPr>
          <p:cNvSpPr>
            <a:spLocks xmlns:a="http://schemas.openxmlformats.org/drawingml/2006/main" noGrp="1"/>
          </p:cNvSpPr>
          <p:nvPr/>
        </p:nvSpPr>
        <p:spPr>
          <a:xfrm xmlns:a="http://schemas.openxmlformats.org/drawingml/2006/main">
            <a:off x="5610225" y="4953000"/>
            <a:ext cx="5781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5F7"/>
                </a:solidFill>
                <a:latin typeface="Manrope"/>
                <a:ea typeface="Manrope"/>
                <a:cs typeface="Manrope"/>
              </a:defRPr>
            </a:defPPr>
          </a:lstStyle>
          <a:p xmlns:a="http://schemas.openxmlformats.org/drawingml/2006/main">
            <a:pPr>
              <a:lnSpc>
                <a:spcPct val="105000"/>
              </a:lnSpc>
              <a:buNone/>
              <a:defRPr sz="1800" b="1">
                <a:solidFill>
                  <a:srgbClr val="F3F5F7"/>
                </a:solidFill>
                <a:latin typeface="Manrope"/>
                <a:ea typeface="Manrope"/>
                <a:cs typeface="Manrope"/>
              </a:defRPr>
            </a:pPr>
            <a:r>
              <a:rPr sz="1800" b="1" spc="0">
                <a:solidFill>
                  <a:srgbClr val="F3F5F7"/>
                </a:solidFill>
                <a:latin typeface="Manrope"/>
                <a:ea typeface="Manrope"/>
                <a:cs typeface="Manrope"/>
              </a:rPr>
              <a:t>VeeOutsource</a:t>
            </a:r>
          </a:p>
        </p:txBody>
      </p:sp>
      <p:sp>
        <p:nvSpPr>
          <p:cNvPr id="14" name="Remote staffing content, higher inquiries in two months">
            <a:extLst xmlns:a="http://schemas.openxmlformats.org/drawingml/2006/main">
              <a:ext uri="{FF2B5EF4-FFF2-40B4-BE49-F238E27FC236}">
                <a16:creationId xmlns:a16="http://schemas.microsoft.com/office/drawing/2014/main" id="{9BA830DD-5EFC-4FC6-AFCD-5DBA691C3E3F}"/>
              </a:ext>
            </a:extLst>
          </p:cNvPr>
          <p:cNvSpPr>
            <a:spLocks xmlns:a="http://schemas.openxmlformats.org/drawingml/2006/main" noGrp="1"/>
          </p:cNvSpPr>
          <p:nvPr/>
        </p:nvSpPr>
        <p:spPr>
          <a:xfrm xmlns:a="http://schemas.openxmlformats.org/drawingml/2006/main">
            <a:off x="5610225" y="5400675"/>
            <a:ext cx="5781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Remote staffing content, higher inquiries in two months</a:t>
            </a:r>
          </a:p>
        </p:txBody>
      </p:sp>
      <p:sp>
        <p:nvSpPr>
          <p:cNvPr id="15" name="Technology, telecom, SaaS and staffing">
            <a:extLst xmlns:a="http://schemas.openxmlformats.org/drawingml/2006/main">
              <a:ext uri="{FF2B5EF4-FFF2-40B4-BE49-F238E27FC236}">
                <a16:creationId xmlns:a16="http://schemas.microsoft.com/office/drawing/2014/main" id="{3779DF68-F535-40BE-A295-59FE44EBBC67}"/>
              </a:ext>
            </a:extLst>
          </p:cNvPr>
          <p:cNvSpPr>
            <a:spLocks xmlns:a="http://schemas.openxmlformats.org/drawingml/2006/main" noGrp="1"/>
          </p:cNvSpPr>
          <p:nvPr/>
        </p:nvSpPr>
        <p:spPr>
          <a:xfrm xmlns:a="http://schemas.openxmlformats.org/drawingml/2006/main">
            <a:off x="609600" y="5429250"/>
            <a:ext cx="4381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A9B8CA"/>
                </a:solidFill>
                <a:latin typeface="Manrope"/>
                <a:ea typeface="Manrope"/>
                <a:cs typeface="Manrope"/>
              </a:defRPr>
            </a:defPPr>
          </a:lstStyle>
          <a:p xmlns:a="http://schemas.openxmlformats.org/drawingml/2006/main">
            <a:pPr>
              <a:lnSpc>
                <a:spcPct val="105000"/>
              </a:lnSpc>
              <a:buNone/>
              <a:defRPr sz="1725" b="0">
                <a:solidFill>
                  <a:srgbClr val="A9B8CA"/>
                </a:solidFill>
                <a:latin typeface="Manrope"/>
                <a:ea typeface="Manrope"/>
                <a:cs typeface="Manrope"/>
              </a:defRPr>
            </a:pPr>
            <a:r>
              <a:rPr sz="1725" b="0" spc="0">
                <a:solidFill>
                  <a:srgbClr val="A9B8CA"/>
                </a:solidFill>
                <a:latin typeface="Manrope"/>
                <a:ea typeface="Manrope"/>
                <a:cs typeface="Manrope"/>
              </a:rPr>
              <a:t>Technology, telecom, SaaS and staffing</a:t>
            </a:r>
          </a:p>
        </p:txBody>
      </p:sp>
    </p:spTree>
    <p:extLst>
      <p:ext uri="{BB962C8B-B14F-4D97-AF65-F5344CB8AC3E}">
        <p14:creationId xmlns:p14="http://schemas.microsoft.com/office/powerpoint/2010/main" val="89112318"/>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fill="hold"/>
                                  <p:tgtEl>
                                    <p:spTgt spid="6"/>
                                  </p:tgtEl>
                                </p:cBhvr>
                              </p:animEffect>
                              <p:anim calcmode="lin" valueType="num">
                                <p:cBhvr additive="base">
                                  <p:cTn id="7" dur="550" fill="hold" decel="60000"/>
                                  <p:tgtEl>
                                    <p:spTgt spid="6"/>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50" fill="hold"/>
                                  <p:tgtEl>
                                    <p:spTgt spid="7"/>
                                  </p:tgtEl>
                                </p:cBhvr>
                              </p:animEffect>
                            </p:childTnLst>
                          </p:cTn>
                        </p:par>
                        <p:par>
                          <p:cTn id="11" presetID="10" presetClass="entr" presetSubtype="0" fill="hold" grpId="0" nodeType="withEffect">
                            <p:stCondLst>
                              <p:cond delay="38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50" fill="hold"/>
                                  <p:tgtEl>
                                    <p:spTgt spid="8"/>
                                  </p:tgtEl>
                                </p:cBhvr>
                              </p:animEffect>
                            </p:childTnLst>
                          </p:cTn>
                        </p:par>
                        <p:par>
                          <p:cTn id="14" presetID="10" presetClass="entr" presetSubtype="0" fill="hold" grpId="0" nodeType="withEffect">
                            <p:stCondLst>
                              <p:cond delay="495"/>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50" fill="hold"/>
                                  <p:tgtEl>
                                    <p:spTgt spid="9"/>
                                  </p:tgtEl>
                                </p:cBhvr>
                              </p:animEffect>
                            </p:childTnLst>
                          </p:cTn>
                        </p:par>
                        <p:par>
                          <p:cTn id="17" presetID="10" presetClass="entr" presetSubtype="0" fill="hold" grpId="0" nodeType="withEffect">
                            <p:stCondLst>
                              <p:cond delay="61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50" fill="hold"/>
                                  <p:tgtEl>
                                    <p:spTgt spid="10"/>
                                  </p:tgtEl>
                                </p:cBhvr>
                              </p:animEffect>
                            </p:childTnLst>
                          </p:cTn>
                        </p:par>
                        <p:par>
                          <p:cTn id="20" presetID="10" presetClass="entr" presetSubtype="0" fill="hold" grpId="0" nodeType="withEffect">
                            <p:stCondLst>
                              <p:cond delay="725"/>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fill="hold"/>
                                  <p:tgtEl>
                                    <p:spTgt spid="11"/>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50" fill="hold"/>
                                  <p:tgtEl>
                                    <p:spTgt spid="12"/>
                                  </p:tgtEl>
                                </p:cBhvr>
                              </p:animEffect>
                            </p:childTnLst>
                          </p:cTn>
                        </p:par>
                        <p:par>
                          <p:cTn id="26" presetID="10" presetClass="entr" presetSubtype="0" fill="hold" grpId="0" nodeType="withEffect">
                            <p:stCondLst>
                              <p:cond delay="955"/>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fill="hold"/>
                                  <p:tgtEl>
                                    <p:spTgt spid="13"/>
                                  </p:tgtEl>
                                </p:cBhvr>
                              </p:animEffect>
                            </p:childTnLst>
                          </p:cTn>
                        </p:par>
                        <p:par>
                          <p:cTn id="29" presetID="10" presetClass="entr" presetSubtype="0" fill="hold" grpId="0" nodeType="withEffect">
                            <p:stCondLst>
                              <p:cond delay="107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50" fill="hold"/>
                                  <p:tgtEl>
                                    <p:spTgt spid="14"/>
                                  </p:tgtEl>
                                </p:cBhvr>
                              </p:animEffect>
                            </p:childTnLst>
                          </p:cTn>
                        </p:par>
                        <p:par>
                          <p:cTn id="32" presetID="10" presetClass="entr" presetSubtype="0" fill="hold" grpId="0" nodeType="withEffect">
                            <p:stCondLst>
                              <p:cond delay="1185"/>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50" fill="hold"/>
                                  <p:tgtEl>
                                    <p:spTgt spid="1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P spid="9" grpId="0" build="allAtOnce"/>
      <p:bldP spid="10" grpId="0" build="allAtOnce"/>
      <p:bldP spid="11" grpId="0" build="allAtOnce"/>
      <p:bldP spid="12" grpId="0" build="allAtOnce"/>
      <p:bldP spid="13" grpId="0" build="allAtOnce"/>
      <p:bldP spid="14" grpId="0" build="allAtOnce"/>
      <p:bldP spid="15" grpId="0" build="allAtOnce"/>
    </p:bldLst>
  </p:timing>
</p:sld>
</file>

<file path=ppt/slides/slide9.xml><?xml version="1.0" encoding="utf-8"?>
<p:sld xmlns:p="http://schemas.openxmlformats.org/presentationml/2006/main">
  <p:cSld>
    <p:bg>
      <p:bgPr>
        <a:solidFill xmlns:a="http://schemas.openxmlformats.org/drawingml/2006/main">
          <a:srgbClr val="F3F5F7"/>
        </a:solidFill>
      </p:bgPr>
    </p:bg>
    <p:spTree>
      <p:nvGrpSpPr>
        <p:cNvPr id="1" name=""/>
        <p:cNvGrpSpPr/>
        <p:nvPr/>
      </p:nvGrpSpPr>
      <p:grpSpPr>
        <a:xfrm xmlns:a="http://schemas.openxmlformats.org/drawingml/2006/main"/>
      </p:grpSpPr>
      <p:sp>
        <p:nvSpPr>
          <p:cNvPr id="20" name="08 / ADDITIONAL ADVERTISING EXPERIENCE">
            <a:extLst xmlns:a="http://schemas.openxmlformats.org/drawingml/2006/main">
              <a:ext uri="{FF2B5EF4-FFF2-40B4-BE49-F238E27FC236}">
                <a16:creationId xmlns:a16="http://schemas.microsoft.com/office/drawing/2014/main" id="{C8FDB4F6-09FA-42AF-991D-08782EE937D9}"/>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15375B"/>
                </a:solidFill>
                <a:latin typeface="Manrope"/>
                <a:ea typeface="Manrope"/>
                <a:cs typeface="Manrope"/>
              </a:defRPr>
            </a:defPPr>
          </a:lstStyle>
          <a:p xmlns:a="http://schemas.openxmlformats.org/drawingml/2006/main">
            <a:pPr>
              <a:lnSpc>
                <a:spcPct val="105000"/>
              </a:lnSpc>
              <a:buNone/>
              <a:defRPr sz="1050" b="1">
                <a:solidFill>
                  <a:srgbClr val="15375B"/>
                </a:solidFill>
                <a:latin typeface="Manrope"/>
                <a:ea typeface="Manrope"/>
                <a:cs typeface="Manrope"/>
              </a:defRPr>
            </a:pPr>
            <a:r>
              <a:rPr sz="1050" b="1">
                <a:solidFill>
                  <a:srgbClr val="15375B"/>
                </a:solidFill>
                <a:latin typeface="Manrope"/>
                <a:ea typeface="Manrope"/>
                <a:cs typeface="Manrope"/>
              </a:rPr>
              <a:t>08 / ADDITIONAL ADVERTISING EXPERIENCE</a:t>
            </a:r>
          </a:p>
        </p:txBody>
      </p:sp>
      <p:sp>
        <p:nvSpPr>
          <p:cNvPr id="2" name="UK, USA and ecommerce">
            <a:extLst xmlns:a="http://schemas.openxmlformats.org/drawingml/2006/main">
              <a:ext uri="{FF2B5EF4-FFF2-40B4-BE49-F238E27FC236}">
                <a16:creationId xmlns:a16="http://schemas.microsoft.com/office/drawing/2014/main" id="{4CAED9E4-218E-4A41-92BB-A82968B18A1E}"/>
              </a:ext>
            </a:extLst>
          </p:cNvPr>
          <p:cNvSpPr>
            <a:spLocks xmlns:a="http://schemas.openxmlformats.org/drawingml/2006/main" noGrp="1"/>
          </p:cNvSpPr>
          <p:nvPr/>
        </p:nvSpPr>
        <p:spPr>
          <a:xfrm xmlns:a="http://schemas.openxmlformats.org/drawingml/2006/main">
            <a:off x="609600" y="8572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080D15"/>
                </a:solidFill>
                <a:latin typeface="Sora"/>
                <a:ea typeface="Sora"/>
                <a:cs typeface="Sora"/>
              </a:defRPr>
            </a:defPPr>
          </a:lstStyle>
          <a:p xmlns:a="http://schemas.openxmlformats.org/drawingml/2006/main">
            <a:pPr>
              <a:lnSpc>
                <a:spcPct val="105000"/>
              </a:lnSpc>
              <a:buNone/>
              <a:defRPr sz="3600" b="1">
                <a:solidFill>
                  <a:srgbClr val="080D15"/>
                </a:solidFill>
                <a:latin typeface="Sora"/>
                <a:ea typeface="Sora"/>
                <a:cs typeface="Sora"/>
              </a:defRPr>
            </a:pPr>
            <a:r>
              <a:rPr sz="3600" b="1" spc="-30">
                <a:solidFill>
                  <a:srgbClr val="080D15"/>
                </a:solidFill>
                <a:latin typeface="Sora"/>
                <a:ea typeface="Sora"/>
                <a:cs typeface="Sora"/>
              </a:rPr>
              <a:t>UK, USA and ecommerce</a:t>
            </a:r>
          </a:p>
        </p:txBody>
      </p:sp>
      <p:sp>
        <p:nvSpPr>
          <p:cNvPr id="3" name="KHAWAJA SAIM">
            <a:extLst xmlns:a="http://schemas.openxmlformats.org/drawingml/2006/main">
              <a:ext uri="{FF2B5EF4-FFF2-40B4-BE49-F238E27FC236}">
                <a16:creationId xmlns:a16="http://schemas.microsoft.com/office/drawing/2014/main" id="{0E4AB4ED-C8FE-4533-8808-65D87BC5A6D4}"/>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15375B"/>
                </a:solidFill>
                <a:latin typeface="Manrope"/>
                <a:ea typeface="Manrope"/>
                <a:cs typeface="Manrope"/>
              </a:defRPr>
            </a:defPPr>
          </a:lstStyle>
          <a:p xmlns:a="http://schemas.openxmlformats.org/drawingml/2006/main">
            <a:pPr>
              <a:lnSpc>
                <a:spcPct val="105000"/>
              </a:lnSpc>
              <a:buNone/>
              <a:defRPr sz="900" b="1">
                <a:solidFill>
                  <a:srgbClr val="15375B"/>
                </a:solidFill>
                <a:latin typeface="Manrope"/>
                <a:ea typeface="Manrope"/>
                <a:cs typeface="Manrope"/>
              </a:defRPr>
            </a:pPr>
            <a:r>
              <a:rPr sz="900" b="1">
                <a:solidFill>
                  <a:srgbClr val="15375B"/>
                </a:solidFill>
                <a:latin typeface="Manrope"/>
                <a:ea typeface="Manrope"/>
                <a:cs typeface="Manrope"/>
              </a:rPr>
              <a:t>KHAWAJA SAIM</a:t>
            </a:r>
          </a:p>
        </p:txBody>
      </p:sp>
      <p:sp>
        <p:nvSpPr>
          <p:cNvPr id="4" name="09">
            <a:extLst xmlns:a="http://schemas.openxmlformats.org/drawingml/2006/main">
              <a:ext uri="{FF2B5EF4-FFF2-40B4-BE49-F238E27FC236}">
                <a16:creationId xmlns:a16="http://schemas.microsoft.com/office/drawing/2014/main" id="{6B4FD5A2-2BD4-4115-9F6F-954A5A461049}"/>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15375B"/>
                </a:solidFill>
                <a:latin typeface="Manrope"/>
                <a:ea typeface="Manrope"/>
                <a:cs typeface="Manrope"/>
              </a:defRPr>
            </a:defPPr>
          </a:lstStyle>
          <a:p xmlns:a="http://schemas.openxmlformats.org/drawingml/2006/main">
            <a:pPr>
              <a:lnSpc>
                <a:spcPct val="105000"/>
              </a:lnSpc>
              <a:buNone/>
              <a:defRPr sz="1050" b="0">
                <a:solidFill>
                  <a:srgbClr val="15375B"/>
                </a:solidFill>
                <a:latin typeface="Manrope"/>
                <a:ea typeface="Manrope"/>
                <a:cs typeface="Manrope"/>
              </a:defRPr>
            </a:pPr>
            <a:r>
              <a:rPr sz="1050" b="0">
                <a:solidFill>
                  <a:srgbClr val="15375B"/>
                </a:solidFill>
                <a:latin typeface="Manrope"/>
                <a:ea typeface="Manrope"/>
                <a:cs typeface="Manrope"/>
              </a:rPr>
              <a:t>09</a:t>
            </a:r>
          </a:p>
        </p:txBody>
      </p:sp>
      <p:sp>
        <p:nvSpPr>
          <p:cNvPr id="5" name="01">
            <a:extLst xmlns:a="http://schemas.openxmlformats.org/drawingml/2006/main">
              <a:ext uri="{FF2B5EF4-FFF2-40B4-BE49-F238E27FC236}">
                <a16:creationId xmlns:a16="http://schemas.microsoft.com/office/drawing/2014/main" id="{5CB57A5C-E764-4260-A7AF-43575DD81D7E}"/>
              </a:ext>
            </a:extLst>
          </p:cNvPr>
          <p:cNvSpPr>
            <a:spLocks xmlns:a="http://schemas.openxmlformats.org/drawingml/2006/main" noGrp="1"/>
          </p:cNvSpPr>
          <p:nvPr/>
        </p:nvSpPr>
        <p:spPr>
          <a:xfrm xmlns:a="http://schemas.openxmlformats.org/drawingml/2006/main">
            <a:off x="609600" y="22002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5375B"/>
                </a:solidFill>
                <a:latin typeface="Manrope"/>
                <a:ea typeface="Manrope"/>
                <a:cs typeface="Manrope"/>
              </a:defRPr>
            </a:defPPr>
          </a:lstStyle>
          <a:p xmlns:a="http://schemas.openxmlformats.org/drawingml/2006/main">
            <a:pPr>
              <a:lnSpc>
                <a:spcPct val="105000"/>
              </a:lnSpc>
              <a:buNone/>
              <a:defRPr sz="1800" b="1">
                <a:solidFill>
                  <a:srgbClr val="15375B"/>
                </a:solidFill>
                <a:latin typeface="Manrope"/>
                <a:ea typeface="Manrope"/>
                <a:cs typeface="Manrope"/>
              </a:defRPr>
            </a:pPr>
            <a:r>
              <a:rPr sz="1800" b="1" spc="0">
                <a:solidFill>
                  <a:srgbClr val="15375B"/>
                </a:solidFill>
                <a:latin typeface="Manrope"/>
                <a:ea typeface="Manrope"/>
                <a:cs typeface="Manrope"/>
              </a:rPr>
              <a:t>01</a:t>
            </a:r>
          </a:p>
        </p:txBody>
      </p:sp>
      <p:sp>
        <p:nvSpPr>
          <p:cNvPr id="6" name="UK business">
            <a:extLst xmlns:a="http://schemas.openxmlformats.org/drawingml/2006/main">
              <a:ext uri="{FF2B5EF4-FFF2-40B4-BE49-F238E27FC236}">
                <a16:creationId xmlns:a16="http://schemas.microsoft.com/office/drawing/2014/main" id="{8420203D-C8E7-4464-854A-1C2C1522A154}"/>
              </a:ext>
            </a:extLst>
          </p:cNvPr>
          <p:cNvSpPr>
            <a:spLocks xmlns:a="http://schemas.openxmlformats.org/drawingml/2006/main" noGrp="1"/>
          </p:cNvSpPr>
          <p:nvPr/>
        </p:nvSpPr>
        <p:spPr>
          <a:xfrm xmlns:a="http://schemas.openxmlformats.org/drawingml/2006/main">
            <a:off x="1657350" y="2200275"/>
            <a:ext cx="4057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80D15"/>
                </a:solidFill>
                <a:latin typeface="Manrope"/>
                <a:ea typeface="Manrope"/>
                <a:cs typeface="Manrope"/>
              </a:defRPr>
            </a:defPPr>
          </a:lstStyle>
          <a:p xmlns:a="http://schemas.openxmlformats.org/drawingml/2006/main">
            <a:pPr>
              <a:lnSpc>
                <a:spcPct val="105000"/>
              </a:lnSpc>
              <a:buNone/>
              <a:defRPr sz="1800" b="1">
                <a:solidFill>
                  <a:srgbClr val="080D15"/>
                </a:solidFill>
                <a:latin typeface="Manrope"/>
                <a:ea typeface="Manrope"/>
                <a:cs typeface="Manrope"/>
              </a:defRPr>
            </a:pPr>
            <a:r>
              <a:rPr sz="1800" b="1" spc="0">
                <a:solidFill>
                  <a:srgbClr val="080D15"/>
                </a:solidFill>
                <a:latin typeface="Manrope"/>
                <a:ea typeface="Manrope"/>
                <a:cs typeface="Manrope"/>
              </a:rPr>
              <a:t>UK business</a:t>
            </a:r>
          </a:p>
        </p:txBody>
      </p:sp>
      <p:sp>
        <p:nvSpPr>
          <p:cNvPr id="7" name="Ran a paid advertising campaign for a UK business.">
            <a:extLst xmlns:a="http://schemas.openxmlformats.org/drawingml/2006/main">
              <a:ext uri="{FF2B5EF4-FFF2-40B4-BE49-F238E27FC236}">
                <a16:creationId xmlns:a16="http://schemas.microsoft.com/office/drawing/2014/main" id="{7CABFFA0-1C68-4802-84B6-8A8B8874B95F}"/>
              </a:ext>
            </a:extLst>
          </p:cNvPr>
          <p:cNvSpPr>
            <a:spLocks xmlns:a="http://schemas.openxmlformats.org/drawingml/2006/main" noGrp="1"/>
          </p:cNvSpPr>
          <p:nvPr/>
        </p:nvSpPr>
        <p:spPr>
          <a:xfrm xmlns:a="http://schemas.openxmlformats.org/drawingml/2006/main">
            <a:off x="6191250" y="2200275"/>
            <a:ext cx="52768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06079"/>
                </a:solidFill>
                <a:latin typeface="Manrope"/>
                <a:ea typeface="Manrope"/>
                <a:cs typeface="Manrope"/>
              </a:defRPr>
            </a:defPPr>
          </a:lstStyle>
          <a:p xmlns:a="http://schemas.openxmlformats.org/drawingml/2006/main">
            <a:pPr>
              <a:lnSpc>
                <a:spcPct val="105000"/>
              </a:lnSpc>
              <a:buNone/>
              <a:defRPr sz="1500" b="0">
                <a:solidFill>
                  <a:srgbClr val="506079"/>
                </a:solidFill>
                <a:latin typeface="Manrope"/>
                <a:ea typeface="Manrope"/>
                <a:cs typeface="Manrope"/>
              </a:defRPr>
            </a:pPr>
            <a:r>
              <a:rPr sz="1500" b="0" spc="70">
                <a:solidFill>
                  <a:srgbClr val="506079"/>
                </a:solidFill>
                <a:latin typeface="Manrope"/>
                <a:ea typeface="Manrope"/>
                <a:cs typeface="Manrope"/>
              </a:rPr>
              <a:t>Ran a paid advertising campaign for a UK business.</a:t>
            </a:r>
          </a:p>
        </p:txBody>
      </p:sp>
      <p:sp>
        <p:nvSpPr>
          <p:cNvPr id="8" name="02">
            <a:extLst xmlns:a="http://schemas.openxmlformats.org/drawingml/2006/main">
              <a:ext uri="{FF2B5EF4-FFF2-40B4-BE49-F238E27FC236}">
                <a16:creationId xmlns:a16="http://schemas.microsoft.com/office/drawing/2014/main" id="{9223C8B2-6B6F-41CF-BF8C-30996178EB18}"/>
              </a:ext>
            </a:extLst>
          </p:cNvPr>
          <p:cNvSpPr>
            <a:spLocks xmlns:a="http://schemas.openxmlformats.org/drawingml/2006/main" noGrp="1"/>
          </p:cNvSpPr>
          <p:nvPr/>
        </p:nvSpPr>
        <p:spPr>
          <a:xfrm xmlns:a="http://schemas.openxmlformats.org/drawingml/2006/main">
            <a:off x="609600" y="29813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5375B"/>
                </a:solidFill>
                <a:latin typeface="Manrope"/>
                <a:ea typeface="Manrope"/>
                <a:cs typeface="Manrope"/>
              </a:defRPr>
            </a:defPPr>
          </a:lstStyle>
          <a:p xmlns:a="http://schemas.openxmlformats.org/drawingml/2006/main">
            <a:pPr>
              <a:lnSpc>
                <a:spcPct val="105000"/>
              </a:lnSpc>
              <a:buNone/>
              <a:defRPr sz="1800" b="1">
                <a:solidFill>
                  <a:srgbClr val="15375B"/>
                </a:solidFill>
                <a:latin typeface="Manrope"/>
                <a:ea typeface="Manrope"/>
                <a:cs typeface="Manrope"/>
              </a:defRPr>
            </a:pPr>
            <a:r>
              <a:rPr sz="1800" b="1" spc="0">
                <a:solidFill>
                  <a:srgbClr val="15375B"/>
                </a:solidFill>
                <a:latin typeface="Manrope"/>
                <a:ea typeface="Manrope"/>
                <a:cs typeface="Manrope"/>
              </a:rPr>
              <a:t>02</a:t>
            </a:r>
          </a:p>
        </p:txBody>
      </p:sp>
      <p:sp>
        <p:nvSpPr>
          <p:cNvPr id="9" name="Second UK business">
            <a:extLst xmlns:a="http://schemas.openxmlformats.org/drawingml/2006/main">
              <a:ext uri="{FF2B5EF4-FFF2-40B4-BE49-F238E27FC236}">
                <a16:creationId xmlns:a16="http://schemas.microsoft.com/office/drawing/2014/main" id="{66F2E9C7-6C52-4AB5-AFA7-D36CD6C00882}"/>
              </a:ext>
            </a:extLst>
          </p:cNvPr>
          <p:cNvSpPr>
            <a:spLocks xmlns:a="http://schemas.openxmlformats.org/drawingml/2006/main" noGrp="1"/>
          </p:cNvSpPr>
          <p:nvPr/>
        </p:nvSpPr>
        <p:spPr>
          <a:xfrm xmlns:a="http://schemas.openxmlformats.org/drawingml/2006/main">
            <a:off x="1657350" y="2981325"/>
            <a:ext cx="4057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80D15"/>
                </a:solidFill>
                <a:latin typeface="Manrope"/>
                <a:ea typeface="Manrope"/>
                <a:cs typeface="Manrope"/>
              </a:defRPr>
            </a:defPPr>
          </a:lstStyle>
          <a:p xmlns:a="http://schemas.openxmlformats.org/drawingml/2006/main">
            <a:pPr>
              <a:lnSpc>
                <a:spcPct val="105000"/>
              </a:lnSpc>
              <a:buNone/>
              <a:defRPr sz="1800" b="1">
                <a:solidFill>
                  <a:srgbClr val="080D15"/>
                </a:solidFill>
                <a:latin typeface="Manrope"/>
                <a:ea typeface="Manrope"/>
                <a:cs typeface="Manrope"/>
              </a:defRPr>
            </a:pPr>
            <a:r>
              <a:rPr sz="1800" b="1" spc="0">
                <a:solidFill>
                  <a:srgbClr val="080D15"/>
                </a:solidFill>
                <a:latin typeface="Manrope"/>
                <a:ea typeface="Manrope"/>
                <a:cs typeface="Manrope"/>
              </a:rPr>
              <a:t>Second UK business</a:t>
            </a:r>
          </a:p>
        </p:txBody>
      </p:sp>
      <p:sp>
        <p:nvSpPr>
          <p:cNvPr id="10" name="Ran another paid advertising campaign for a UK business.">
            <a:extLst xmlns:a="http://schemas.openxmlformats.org/drawingml/2006/main">
              <a:ext uri="{FF2B5EF4-FFF2-40B4-BE49-F238E27FC236}">
                <a16:creationId xmlns:a16="http://schemas.microsoft.com/office/drawing/2014/main" id="{F3BD4BAF-7E1E-4DFB-84F2-B9F1F1EA5B4E}"/>
              </a:ext>
            </a:extLst>
          </p:cNvPr>
          <p:cNvSpPr>
            <a:spLocks xmlns:a="http://schemas.openxmlformats.org/drawingml/2006/main" noGrp="1"/>
          </p:cNvSpPr>
          <p:nvPr/>
        </p:nvSpPr>
        <p:spPr>
          <a:xfrm xmlns:a="http://schemas.openxmlformats.org/drawingml/2006/main">
            <a:off x="6191250" y="2981325"/>
            <a:ext cx="52768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06079"/>
                </a:solidFill>
                <a:latin typeface="Manrope"/>
                <a:ea typeface="Manrope"/>
                <a:cs typeface="Manrope"/>
              </a:defRPr>
            </a:defPPr>
          </a:lstStyle>
          <a:p xmlns:a="http://schemas.openxmlformats.org/drawingml/2006/main">
            <a:pPr>
              <a:lnSpc>
                <a:spcPct val="105000"/>
              </a:lnSpc>
              <a:buNone/>
              <a:defRPr sz="1500" b="0">
                <a:solidFill>
                  <a:srgbClr val="506079"/>
                </a:solidFill>
                <a:latin typeface="Manrope"/>
                <a:ea typeface="Manrope"/>
                <a:cs typeface="Manrope"/>
              </a:defRPr>
            </a:pPr>
            <a:r>
              <a:rPr sz="1500" b="0" spc="70">
                <a:solidFill>
                  <a:srgbClr val="506079"/>
                </a:solidFill>
                <a:latin typeface="Manrope"/>
                <a:ea typeface="Manrope"/>
                <a:cs typeface="Manrope"/>
              </a:rPr>
              <a:t>Ran another paid advertising campaign for a UK business.</a:t>
            </a:r>
          </a:p>
        </p:txBody>
      </p:sp>
      <p:sp>
        <p:nvSpPr>
          <p:cNvPr id="11" name="03">
            <a:extLst xmlns:a="http://schemas.openxmlformats.org/drawingml/2006/main">
              <a:ext uri="{FF2B5EF4-FFF2-40B4-BE49-F238E27FC236}">
                <a16:creationId xmlns:a16="http://schemas.microsoft.com/office/drawing/2014/main" id="{10D63CF3-2D02-4929-A881-6B4D5D7BFFF4}"/>
              </a:ext>
            </a:extLst>
          </p:cNvPr>
          <p:cNvSpPr>
            <a:spLocks xmlns:a="http://schemas.openxmlformats.org/drawingml/2006/main" noGrp="1"/>
          </p:cNvSpPr>
          <p:nvPr/>
        </p:nvSpPr>
        <p:spPr>
          <a:xfrm xmlns:a="http://schemas.openxmlformats.org/drawingml/2006/main">
            <a:off x="609600" y="37623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5375B"/>
                </a:solidFill>
                <a:latin typeface="Manrope"/>
                <a:ea typeface="Manrope"/>
                <a:cs typeface="Manrope"/>
              </a:defRPr>
            </a:defPPr>
          </a:lstStyle>
          <a:p xmlns:a="http://schemas.openxmlformats.org/drawingml/2006/main">
            <a:pPr>
              <a:lnSpc>
                <a:spcPct val="105000"/>
              </a:lnSpc>
              <a:buNone/>
              <a:defRPr sz="1800" b="1">
                <a:solidFill>
                  <a:srgbClr val="15375B"/>
                </a:solidFill>
                <a:latin typeface="Manrope"/>
                <a:ea typeface="Manrope"/>
                <a:cs typeface="Manrope"/>
              </a:defRPr>
            </a:pPr>
            <a:r>
              <a:rPr sz="1800" b="1" spc="0">
                <a:solidFill>
                  <a:srgbClr val="15375B"/>
                </a:solidFill>
                <a:latin typeface="Manrope"/>
                <a:ea typeface="Manrope"/>
                <a:cs typeface="Manrope"/>
              </a:rPr>
              <a:t>03</a:t>
            </a:r>
          </a:p>
        </p:txBody>
      </p:sp>
      <p:sp>
        <p:nvSpPr>
          <p:cNvPr id="12" name="USA B2B">
            <a:extLst xmlns:a="http://schemas.openxmlformats.org/drawingml/2006/main">
              <a:ext uri="{FF2B5EF4-FFF2-40B4-BE49-F238E27FC236}">
                <a16:creationId xmlns:a16="http://schemas.microsoft.com/office/drawing/2014/main" id="{386A9E58-D1F5-4059-A166-C9F1B79F6998}"/>
              </a:ext>
            </a:extLst>
          </p:cNvPr>
          <p:cNvSpPr>
            <a:spLocks xmlns:a="http://schemas.openxmlformats.org/drawingml/2006/main" noGrp="1"/>
          </p:cNvSpPr>
          <p:nvPr/>
        </p:nvSpPr>
        <p:spPr>
          <a:xfrm xmlns:a="http://schemas.openxmlformats.org/drawingml/2006/main">
            <a:off x="1657350" y="3762375"/>
            <a:ext cx="4057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80D15"/>
                </a:solidFill>
                <a:latin typeface="Manrope"/>
                <a:ea typeface="Manrope"/>
                <a:cs typeface="Manrope"/>
              </a:defRPr>
            </a:defPPr>
          </a:lstStyle>
          <a:p xmlns:a="http://schemas.openxmlformats.org/drawingml/2006/main">
            <a:pPr>
              <a:lnSpc>
                <a:spcPct val="105000"/>
              </a:lnSpc>
              <a:buNone/>
              <a:defRPr sz="1800" b="1">
                <a:solidFill>
                  <a:srgbClr val="080D15"/>
                </a:solidFill>
                <a:latin typeface="Manrope"/>
                <a:ea typeface="Manrope"/>
                <a:cs typeface="Manrope"/>
              </a:defRPr>
            </a:pPr>
            <a:r>
              <a:rPr sz="1800" b="1" spc="0">
                <a:solidFill>
                  <a:srgbClr val="080D15"/>
                </a:solidFill>
                <a:latin typeface="Manrope"/>
                <a:ea typeface="Manrope"/>
                <a:cs typeface="Manrope"/>
              </a:rPr>
              <a:t>USA B2B</a:t>
            </a:r>
          </a:p>
        </p:txBody>
      </p:sp>
      <p:sp>
        <p:nvSpPr>
          <p:cNvPr id="13" name="Ran a campaign targeting a business audience in the USA.">
            <a:extLst xmlns:a="http://schemas.openxmlformats.org/drawingml/2006/main">
              <a:ext uri="{FF2B5EF4-FFF2-40B4-BE49-F238E27FC236}">
                <a16:creationId xmlns:a16="http://schemas.microsoft.com/office/drawing/2014/main" id="{A6EAE4CF-6F19-484C-8242-BCE099832EA0}"/>
              </a:ext>
            </a:extLst>
          </p:cNvPr>
          <p:cNvSpPr>
            <a:spLocks xmlns:a="http://schemas.openxmlformats.org/drawingml/2006/main" noGrp="1"/>
          </p:cNvSpPr>
          <p:nvPr/>
        </p:nvSpPr>
        <p:spPr>
          <a:xfrm xmlns:a="http://schemas.openxmlformats.org/drawingml/2006/main">
            <a:off x="6191250" y="3762375"/>
            <a:ext cx="52768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06079"/>
                </a:solidFill>
                <a:latin typeface="Manrope"/>
                <a:ea typeface="Manrope"/>
                <a:cs typeface="Manrope"/>
              </a:defRPr>
            </a:defPPr>
          </a:lstStyle>
          <a:p xmlns:a="http://schemas.openxmlformats.org/drawingml/2006/main">
            <a:pPr>
              <a:lnSpc>
                <a:spcPct val="105000"/>
              </a:lnSpc>
              <a:buNone/>
              <a:defRPr sz="1500" b="0">
                <a:solidFill>
                  <a:srgbClr val="506079"/>
                </a:solidFill>
                <a:latin typeface="Manrope"/>
                <a:ea typeface="Manrope"/>
                <a:cs typeface="Manrope"/>
              </a:defRPr>
            </a:pPr>
            <a:r>
              <a:rPr sz="1500" b="0" spc="70">
                <a:solidFill>
                  <a:srgbClr val="506079"/>
                </a:solidFill>
                <a:latin typeface="Manrope"/>
                <a:ea typeface="Manrope"/>
                <a:cs typeface="Manrope"/>
              </a:rPr>
              <a:t>Ran a campaign targeting a business audience in the USA.</a:t>
            </a:r>
          </a:p>
        </p:txBody>
      </p:sp>
      <p:sp>
        <p:nvSpPr>
          <p:cNvPr id="14" name="04">
            <a:extLst xmlns:a="http://schemas.openxmlformats.org/drawingml/2006/main">
              <a:ext uri="{FF2B5EF4-FFF2-40B4-BE49-F238E27FC236}">
                <a16:creationId xmlns:a16="http://schemas.microsoft.com/office/drawing/2014/main" id="{F07F3F7C-E819-4D4E-AC8D-83BB205768E0}"/>
              </a:ext>
            </a:extLst>
          </p:cNvPr>
          <p:cNvSpPr>
            <a:spLocks xmlns:a="http://schemas.openxmlformats.org/drawingml/2006/main" noGrp="1"/>
          </p:cNvSpPr>
          <p:nvPr/>
        </p:nvSpPr>
        <p:spPr>
          <a:xfrm xmlns:a="http://schemas.openxmlformats.org/drawingml/2006/main">
            <a:off x="609600" y="454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5375B"/>
                </a:solidFill>
                <a:latin typeface="Manrope"/>
                <a:ea typeface="Manrope"/>
                <a:cs typeface="Manrope"/>
              </a:defRPr>
            </a:defPPr>
          </a:lstStyle>
          <a:p xmlns:a="http://schemas.openxmlformats.org/drawingml/2006/main">
            <a:pPr>
              <a:lnSpc>
                <a:spcPct val="105000"/>
              </a:lnSpc>
              <a:buNone/>
              <a:defRPr sz="1800" b="1">
                <a:solidFill>
                  <a:srgbClr val="15375B"/>
                </a:solidFill>
                <a:latin typeface="Manrope"/>
                <a:ea typeface="Manrope"/>
                <a:cs typeface="Manrope"/>
              </a:defRPr>
            </a:pPr>
            <a:r>
              <a:rPr sz="1800" b="1" spc="0">
                <a:solidFill>
                  <a:srgbClr val="15375B"/>
                </a:solidFill>
                <a:latin typeface="Manrope"/>
                <a:ea typeface="Manrope"/>
                <a:cs typeface="Manrope"/>
              </a:rPr>
              <a:t>04</a:t>
            </a:r>
          </a:p>
        </p:txBody>
      </p:sp>
      <p:sp>
        <p:nvSpPr>
          <p:cNvPr id="15" name="Ecommerce business">
            <a:extLst xmlns:a="http://schemas.openxmlformats.org/drawingml/2006/main">
              <a:ext uri="{FF2B5EF4-FFF2-40B4-BE49-F238E27FC236}">
                <a16:creationId xmlns:a16="http://schemas.microsoft.com/office/drawing/2014/main" id="{9F4110BB-017A-42E9-9646-D81C68B80AD0}"/>
              </a:ext>
            </a:extLst>
          </p:cNvPr>
          <p:cNvSpPr>
            <a:spLocks xmlns:a="http://schemas.openxmlformats.org/drawingml/2006/main" noGrp="1"/>
          </p:cNvSpPr>
          <p:nvPr/>
        </p:nvSpPr>
        <p:spPr>
          <a:xfrm xmlns:a="http://schemas.openxmlformats.org/drawingml/2006/main">
            <a:off x="1657350" y="4543425"/>
            <a:ext cx="4057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80D15"/>
                </a:solidFill>
                <a:latin typeface="Manrope"/>
                <a:ea typeface="Manrope"/>
                <a:cs typeface="Manrope"/>
              </a:defRPr>
            </a:defPPr>
          </a:lstStyle>
          <a:p xmlns:a="http://schemas.openxmlformats.org/drawingml/2006/main">
            <a:pPr>
              <a:lnSpc>
                <a:spcPct val="105000"/>
              </a:lnSpc>
              <a:buNone/>
              <a:defRPr sz="1800" b="1">
                <a:solidFill>
                  <a:srgbClr val="080D15"/>
                </a:solidFill>
                <a:latin typeface="Manrope"/>
                <a:ea typeface="Manrope"/>
                <a:cs typeface="Manrope"/>
              </a:defRPr>
            </a:pPr>
            <a:r>
              <a:rPr sz="1800" b="1" spc="0">
                <a:solidFill>
                  <a:srgbClr val="080D15"/>
                </a:solidFill>
                <a:latin typeface="Manrope"/>
                <a:ea typeface="Manrope"/>
                <a:cs typeface="Manrope"/>
              </a:rPr>
              <a:t>Ecommerce business</a:t>
            </a:r>
          </a:p>
        </p:txBody>
      </p:sp>
      <p:sp>
        <p:nvSpPr>
          <p:cNvPr id="16" name="Ran paid ads promoting ecommerce products.">
            <a:extLst xmlns:a="http://schemas.openxmlformats.org/drawingml/2006/main">
              <a:ext uri="{FF2B5EF4-FFF2-40B4-BE49-F238E27FC236}">
                <a16:creationId xmlns:a16="http://schemas.microsoft.com/office/drawing/2014/main" id="{B52E3F22-4D95-4E50-A177-D0BAA242972F}"/>
              </a:ext>
            </a:extLst>
          </p:cNvPr>
          <p:cNvSpPr>
            <a:spLocks xmlns:a="http://schemas.openxmlformats.org/drawingml/2006/main" noGrp="1"/>
          </p:cNvSpPr>
          <p:nvPr/>
        </p:nvSpPr>
        <p:spPr>
          <a:xfrm xmlns:a="http://schemas.openxmlformats.org/drawingml/2006/main">
            <a:off x="6191250" y="4543425"/>
            <a:ext cx="52768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06079"/>
                </a:solidFill>
                <a:latin typeface="Manrope"/>
                <a:ea typeface="Manrope"/>
                <a:cs typeface="Manrope"/>
              </a:defRPr>
            </a:defPPr>
          </a:lstStyle>
          <a:p xmlns:a="http://schemas.openxmlformats.org/drawingml/2006/main">
            <a:pPr>
              <a:lnSpc>
                <a:spcPct val="105000"/>
              </a:lnSpc>
              <a:buNone/>
              <a:defRPr sz="1500" b="0">
                <a:solidFill>
                  <a:srgbClr val="506079"/>
                </a:solidFill>
                <a:latin typeface="Manrope"/>
                <a:ea typeface="Manrope"/>
                <a:cs typeface="Manrope"/>
              </a:defRPr>
            </a:pPr>
            <a:r>
              <a:rPr sz="1500" b="0" spc="70">
                <a:solidFill>
                  <a:srgbClr val="506079"/>
                </a:solidFill>
                <a:latin typeface="Manrope"/>
                <a:ea typeface="Manrope"/>
                <a:cs typeface="Manrope"/>
              </a:rPr>
              <a:t>Ran paid ads promoting ecommerce products.</a:t>
            </a:r>
          </a:p>
        </p:txBody>
      </p:sp>
      <p:sp>
        <p:nvSpPr>
          <p:cNvPr id="17" name="05">
            <a:extLst xmlns:a="http://schemas.openxmlformats.org/drawingml/2006/main">
              <a:ext uri="{FF2B5EF4-FFF2-40B4-BE49-F238E27FC236}">
                <a16:creationId xmlns:a16="http://schemas.microsoft.com/office/drawing/2014/main" id="{B72A889D-37E1-4AC5-9389-B3B80CF0E53B}"/>
              </a:ext>
            </a:extLst>
          </p:cNvPr>
          <p:cNvSpPr>
            <a:spLocks xmlns:a="http://schemas.openxmlformats.org/drawingml/2006/main" noGrp="1"/>
          </p:cNvSpPr>
          <p:nvPr/>
        </p:nvSpPr>
        <p:spPr>
          <a:xfrm xmlns:a="http://schemas.openxmlformats.org/drawingml/2006/main">
            <a:off x="609600" y="53244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5375B"/>
                </a:solidFill>
                <a:latin typeface="Manrope"/>
                <a:ea typeface="Manrope"/>
                <a:cs typeface="Manrope"/>
              </a:defRPr>
            </a:defPPr>
          </a:lstStyle>
          <a:p xmlns:a="http://schemas.openxmlformats.org/drawingml/2006/main">
            <a:pPr>
              <a:lnSpc>
                <a:spcPct val="105000"/>
              </a:lnSpc>
              <a:buNone/>
              <a:defRPr sz="1800" b="1">
                <a:solidFill>
                  <a:srgbClr val="15375B"/>
                </a:solidFill>
                <a:latin typeface="Manrope"/>
                <a:ea typeface="Manrope"/>
                <a:cs typeface="Manrope"/>
              </a:defRPr>
            </a:pPr>
            <a:r>
              <a:rPr sz="1800" b="1" spc="0">
                <a:solidFill>
                  <a:srgbClr val="15375B"/>
                </a:solidFill>
                <a:latin typeface="Manrope"/>
                <a:ea typeface="Manrope"/>
                <a:cs typeface="Manrope"/>
              </a:rPr>
              <a:t>05</a:t>
            </a:r>
          </a:p>
        </p:txBody>
      </p:sp>
      <p:sp>
        <p:nvSpPr>
          <p:cNvPr id="18" name="Second ecommerce business">
            <a:extLst xmlns:a="http://schemas.openxmlformats.org/drawingml/2006/main">
              <a:ext uri="{FF2B5EF4-FFF2-40B4-BE49-F238E27FC236}">
                <a16:creationId xmlns:a16="http://schemas.microsoft.com/office/drawing/2014/main" id="{FBCED87F-D674-46C2-BAB2-5A79BD987425}"/>
              </a:ext>
            </a:extLst>
          </p:cNvPr>
          <p:cNvSpPr>
            <a:spLocks xmlns:a="http://schemas.openxmlformats.org/drawingml/2006/main" noGrp="1"/>
          </p:cNvSpPr>
          <p:nvPr/>
        </p:nvSpPr>
        <p:spPr>
          <a:xfrm xmlns:a="http://schemas.openxmlformats.org/drawingml/2006/main">
            <a:off x="1657350" y="5324475"/>
            <a:ext cx="4057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80D15"/>
                </a:solidFill>
                <a:latin typeface="Manrope"/>
                <a:ea typeface="Manrope"/>
                <a:cs typeface="Manrope"/>
              </a:defRPr>
            </a:defPPr>
          </a:lstStyle>
          <a:p xmlns:a="http://schemas.openxmlformats.org/drawingml/2006/main">
            <a:pPr>
              <a:lnSpc>
                <a:spcPct val="105000"/>
              </a:lnSpc>
              <a:buNone/>
              <a:defRPr sz="1800" b="1">
                <a:solidFill>
                  <a:srgbClr val="080D15"/>
                </a:solidFill>
                <a:latin typeface="Manrope"/>
                <a:ea typeface="Manrope"/>
                <a:cs typeface="Manrope"/>
              </a:defRPr>
            </a:pPr>
            <a:r>
              <a:rPr sz="1800" b="1" spc="0">
                <a:solidFill>
                  <a:srgbClr val="080D15"/>
                </a:solidFill>
                <a:latin typeface="Manrope"/>
                <a:ea typeface="Manrope"/>
                <a:cs typeface="Manrope"/>
              </a:rPr>
              <a:t>Second ecommerce business</a:t>
            </a:r>
          </a:p>
        </p:txBody>
      </p:sp>
      <p:sp>
        <p:nvSpPr>
          <p:cNvPr id="19" name="Ran paid advertising for another ecommerce business.">
            <a:extLst xmlns:a="http://schemas.openxmlformats.org/drawingml/2006/main">
              <a:ext uri="{FF2B5EF4-FFF2-40B4-BE49-F238E27FC236}">
                <a16:creationId xmlns:a16="http://schemas.microsoft.com/office/drawing/2014/main" id="{389EA653-12A1-47AD-A1A9-A0F5964819D5}"/>
              </a:ext>
            </a:extLst>
          </p:cNvPr>
          <p:cNvSpPr>
            <a:spLocks xmlns:a="http://schemas.openxmlformats.org/drawingml/2006/main" noGrp="1"/>
          </p:cNvSpPr>
          <p:nvPr/>
        </p:nvSpPr>
        <p:spPr>
          <a:xfrm xmlns:a="http://schemas.openxmlformats.org/drawingml/2006/main">
            <a:off x="6191250" y="5324475"/>
            <a:ext cx="52768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06079"/>
                </a:solidFill>
                <a:latin typeface="Manrope"/>
                <a:ea typeface="Manrope"/>
                <a:cs typeface="Manrope"/>
              </a:defRPr>
            </a:defPPr>
          </a:lstStyle>
          <a:p xmlns:a="http://schemas.openxmlformats.org/drawingml/2006/main">
            <a:pPr>
              <a:lnSpc>
                <a:spcPct val="105000"/>
              </a:lnSpc>
              <a:buNone/>
              <a:defRPr sz="1500" b="0">
                <a:solidFill>
                  <a:srgbClr val="506079"/>
                </a:solidFill>
                <a:latin typeface="Manrope"/>
                <a:ea typeface="Manrope"/>
                <a:cs typeface="Manrope"/>
              </a:defRPr>
            </a:pPr>
            <a:r>
              <a:rPr sz="1500" b="0" spc="70">
                <a:solidFill>
                  <a:srgbClr val="506079"/>
                </a:solidFill>
                <a:latin typeface="Manrope"/>
                <a:ea typeface="Manrope"/>
                <a:cs typeface="Manrope"/>
              </a:rPr>
              <a:t>Ran paid advertising for another ecommerce business.</a:t>
            </a:r>
          </a:p>
        </p:txBody>
      </p:sp>
    </p:spTree>
    <p:extLst>
      <p:ext uri="{BB962C8B-B14F-4D97-AF65-F5344CB8AC3E}">
        <p14:creationId xmlns:p14="http://schemas.microsoft.com/office/powerpoint/2010/main" val="414362913"/>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50" fill="hold"/>
                                  <p:tgtEl>
                                    <p:spTgt spid="2"/>
                                  </p:tgtEl>
                                </p:cBhvr>
                              </p:animEffect>
                              <p:anim calcmode="lin" valueType="num">
                                <p:cBhvr additive="base">
                                  <p:cTn id="7" dur="550" fill="hold" decel="60000"/>
                                  <p:tgtEl>
                                    <p:spTgt spid="2"/>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fill="hold"/>
                                  <p:tgtEl>
                                    <p:spTgt spid="5"/>
                                  </p:tgtEl>
                                </p:cBhvr>
                              </p:animEffect>
                            </p:childTnLst>
                          </p:cTn>
                        </p:par>
                        <p:par>
                          <p:cTn id="11" presetID="10" presetClass="entr" presetSubtype="0" fill="hold" grpId="0" nodeType="withEffect">
                            <p:stCondLst>
                              <p:cond delay="38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50" fill="hold"/>
                                  <p:tgtEl>
                                    <p:spTgt spid="6"/>
                                  </p:tgtEl>
                                </p:cBhvr>
                              </p:animEffect>
                            </p:childTnLst>
                          </p:cTn>
                        </p:par>
                        <p:par>
                          <p:cTn id="14" presetID="10" presetClass="entr" presetSubtype="0" fill="hold" grpId="0" nodeType="withEffect">
                            <p:stCondLst>
                              <p:cond delay="495"/>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50" fill="hold"/>
                                  <p:tgtEl>
                                    <p:spTgt spid="7"/>
                                  </p:tgtEl>
                                </p:cBhvr>
                              </p:animEffect>
                            </p:childTnLst>
                          </p:cTn>
                        </p:par>
                        <p:par>
                          <p:cTn id="17" presetID="10" presetClass="entr" presetSubtype="0" fill="hold" grpId="0" nodeType="withEffect">
                            <p:stCondLst>
                              <p:cond delay="61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50" fill="hold"/>
                                  <p:tgtEl>
                                    <p:spTgt spid="8"/>
                                  </p:tgtEl>
                                </p:cBhvr>
                              </p:animEffect>
                            </p:childTnLst>
                          </p:cTn>
                        </p:par>
                        <p:par>
                          <p:cTn id="20" presetID="10" presetClass="entr" presetSubtype="0" fill="hold" grpId="0" nodeType="withEffect">
                            <p:stCondLst>
                              <p:cond delay="725"/>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50" fill="hold"/>
                                  <p:tgtEl>
                                    <p:spTgt spid="9"/>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50" fill="hold"/>
                                  <p:tgtEl>
                                    <p:spTgt spid="10"/>
                                  </p:tgtEl>
                                </p:cBhvr>
                              </p:animEffect>
                            </p:childTnLst>
                          </p:cTn>
                        </p:par>
                        <p:par>
                          <p:cTn id="26" presetID="10" presetClass="entr" presetSubtype="0" fill="hold" grpId="0" nodeType="withEffect">
                            <p:stCondLst>
                              <p:cond delay="955"/>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50" fill="hold"/>
                                  <p:tgtEl>
                                    <p:spTgt spid="11"/>
                                  </p:tgtEl>
                                </p:cBhvr>
                              </p:animEffect>
                            </p:childTnLst>
                          </p:cTn>
                        </p:par>
                        <p:par>
                          <p:cTn id="29" presetID="10" presetClass="entr" presetSubtype="0" fill="hold" grpId="0" nodeType="withEffect">
                            <p:stCondLst>
                              <p:cond delay="107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50" fill="hold"/>
                                  <p:tgtEl>
                                    <p:spTgt spid="12"/>
                                  </p:tgtEl>
                                </p:cBhvr>
                              </p:animEffect>
                            </p:childTnLst>
                          </p:cTn>
                        </p:par>
                        <p:par>
                          <p:cTn id="32" presetID="10" presetClass="entr" presetSubtype="0" fill="hold" grpId="0" nodeType="withEffect">
                            <p:stCondLst>
                              <p:cond delay="1185"/>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fill="hold"/>
                                  <p:tgtEl>
                                    <p:spTgt spid="13"/>
                                  </p:tgtEl>
                                </p:cBhvr>
                              </p:animEffect>
                            </p:childTnLst>
                          </p:cTn>
                        </p:par>
                        <p:par>
                          <p:cTn id="35" presetID="10" presetClass="entr" presetSubtype="0" fill="hold" grpId="0" nodeType="withEffect">
                            <p:stCondLst>
                              <p:cond delay="13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50" fill="hold"/>
                                  <p:tgtEl>
                                    <p:spTgt spid="14"/>
                                  </p:tgtEl>
                                </p:cBhvr>
                              </p:animEffect>
                            </p:childTnLst>
                          </p:cTn>
                        </p:par>
                        <p:par>
                          <p:cTn id="38" presetID="10" presetClass="entr" presetSubtype="0" fill="hold" grpId="0" nodeType="withEffect">
                            <p:stCondLst>
                              <p:cond delay="13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fill="hold"/>
                                  <p:tgtEl>
                                    <p:spTgt spid="15"/>
                                  </p:tgtEl>
                                </p:cBhvr>
                              </p:animEffect>
                            </p:childTnLst>
                          </p:cTn>
                        </p:par>
                        <p:par>
                          <p:cTn id="41" presetID="10" presetClass="entr" presetSubtype="0" fill="hold" grpId="0" nodeType="withEffect">
                            <p:stCondLst>
                              <p:cond delay="13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50" fill="hold"/>
                                  <p:tgtEl>
                                    <p:spTgt spid="16"/>
                                  </p:tgtEl>
                                </p:cBhvr>
                              </p:animEffect>
                            </p:childTnLst>
                          </p:cTn>
                        </p:par>
                        <p:par>
                          <p:cTn id="44" presetID="10" presetClass="entr" presetSubtype="0" fill="hold" grpId="0" nodeType="withEffect">
                            <p:stCondLst>
                              <p:cond delay="13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50" fill="hold"/>
                                  <p:tgtEl>
                                    <p:spTgt spid="17"/>
                                  </p:tgtEl>
                                </p:cBhvr>
                              </p:animEffect>
                            </p:childTnLst>
                          </p:cTn>
                        </p:par>
                        <p:par>
                          <p:cTn id="47" presetID="10" presetClass="entr" presetSubtype="0" fill="hold" grpId="0" nodeType="withEffect">
                            <p:stCondLst>
                              <p:cond delay="13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50" fill="hold"/>
                                  <p:tgtEl>
                                    <p:spTgt spid="18"/>
                                  </p:tgtEl>
                                </p:cBhvr>
                              </p:animEffect>
                            </p:childTnLst>
                          </p:cTn>
                        </p:par>
                        <p:par>
                          <p:cTn id="50" presetID="10" presetClass="entr" presetSubtype="0" fill="hold" grpId="0" nodeType="withEffect">
                            <p:stCondLst>
                              <p:cond delay="13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50" fill="hold"/>
                                  <p:tgtEl>
                                    <p:spTgt spid="1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P spid="5" grpId="0" build="allAtOnce"/>
      <p:bldP spid="6" grpId="0" build="allAtOnce"/>
      <p:bldP spid="7" grpId="0" build="allAtOnce"/>
      <p:bldP spid="8" grpId="0" build="allAtOnce"/>
      <p:bldP spid="9" grpId="0" build="allAtOnce"/>
      <p:bldP spid="10" grpId="0" build="allAtOnce"/>
      <p:bldP spid="11" grpId="0" build="allAtOnce"/>
      <p:bldP spid="12" grpId="0" build="allAtOnce"/>
      <p:bldP spid="13" grpId="0" build="allAtOnce"/>
      <p:bldP spid="14" grpId="0" build="allAtOnce"/>
      <p:bldP spid="15" grpId="0" build="allAtOnce"/>
      <p:bldP spid="16" grpId="0" build="allAtOnce"/>
      <p:bldP spid="17" grpId="0" build="allAtOnce"/>
      <p:bldP spid="18" grpId="0" build="allAtOnce"/>
      <p:bldP spid="19" grpId="0" build="allAtOnce"/>
    </p:bldLst>
  </p:timing>
</p:sld>
</file>

<file path=ppt/slides/slide10.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2A69DE67-F386-4560-800A-7C29C580F81E}"/>
              </a:ext>
            </a:extLst>
          </p:cNvPr>
          <p:cNvPicPr>
            <a:picLocks xmlns:a="http://schemas.openxmlformats.org/drawingml/2006/main" noChangeAspect="1"/>
          </p:cNvPicPr>
          <p:nvPr/>
        </p:nvPicPr>
        <p:blipFill>
          <a:blip xmlns:r="http://schemas.openxmlformats.org/officeDocument/2006/relationships" xmlns:a="http://schemas.openxmlformats.org/drawingml/2006/main" r:embed="Rd5885261e82048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6425454-BCD6-4CE5-8D5B-C7422E57A2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D15">
              <a:alpha val="45000"/>
            </a:srgbClr>
          </a:solidFill>
          <a:ln xmlns:a="http://schemas.openxmlformats.org/drawingml/2006/main" w="0">
            <a:noFill/>
          </a:ln>
        </p:spPr>
      </p:sp>
      <p:sp>
        <p:nvSpPr>
          <p:cNvPr id="3" name="09 / CLIENT WORK AT ZAM STUDIOS">
            <a:extLst xmlns:a="http://schemas.openxmlformats.org/drawingml/2006/main">
              <a:ext uri="{FF2B5EF4-FFF2-40B4-BE49-F238E27FC236}">
                <a16:creationId xmlns:a16="http://schemas.microsoft.com/office/drawing/2014/main" id="{BFE6E2E1-D57C-4A67-8A92-9F547F6B645F}"/>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09 / CLIENT WORK AT ZAM STUDIOS</a:t>
            </a:r>
          </a:p>
        </p:txBody>
      </p:sp>
      <p:sp>
        <p:nvSpPr>
          <p:cNvPr id="4" name="UAE and Pakistan client work">
            <a:extLst xmlns:a="http://schemas.openxmlformats.org/drawingml/2006/main">
              <a:ext uri="{FF2B5EF4-FFF2-40B4-BE49-F238E27FC236}">
                <a16:creationId xmlns:a16="http://schemas.microsoft.com/office/drawing/2014/main" id="{16CCD038-687F-4844-819A-B237AD25FD81}"/>
              </a:ext>
            </a:extLst>
          </p:cNvPr>
          <p:cNvSpPr>
            <a:spLocks xmlns:a="http://schemas.openxmlformats.org/drawingml/2006/main" noGrp="1"/>
          </p:cNvSpPr>
          <p:nvPr/>
        </p:nvSpPr>
        <p:spPr>
          <a:xfrm xmlns:a="http://schemas.openxmlformats.org/drawingml/2006/main">
            <a:off x="609600" y="8572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3600" b="1">
                <a:solidFill>
                  <a:srgbClr val="F3F5F7"/>
                </a:solidFill>
                <a:latin typeface="Sora"/>
                <a:ea typeface="Sora"/>
                <a:cs typeface="Sora"/>
              </a:defRPr>
            </a:pPr>
            <a:r>
              <a:rPr sz="3600" b="1" spc="-30">
                <a:gradFill>
                  <a:gsLst>
                    <a:gs pos="0">
                      <a:srgbClr val="F4F8FF"/>
                    </a:gs>
                    <a:gs pos="55000">
                      <a:srgbClr val="B2DFFF"/>
                    </a:gs>
                    <a:gs pos="100000">
                      <a:srgbClr val="548EE1"/>
                    </a:gs>
                  </a:gsLst>
                  <a:lin ang="0"/>
                </a:gradFill>
                <a:latin typeface="Sora"/>
                <a:ea typeface="Sora"/>
                <a:cs typeface="Sora"/>
              </a:rPr>
              <a:t>UAE and Pakistan client work</a:t>
            </a:r>
          </a:p>
        </p:txBody>
      </p:sp>
      <p:sp>
        <p:nvSpPr>
          <p:cNvPr id="5" name="KHAWAJA SAIM">
            <a:extLst xmlns:a="http://schemas.openxmlformats.org/drawingml/2006/main">
              <a:ext uri="{FF2B5EF4-FFF2-40B4-BE49-F238E27FC236}">
                <a16:creationId xmlns:a16="http://schemas.microsoft.com/office/drawing/2014/main" id="{5A5C3143-DAF6-4357-8950-60827CE8CD1D}"/>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6" name="10">
            <a:extLst xmlns:a="http://schemas.openxmlformats.org/drawingml/2006/main">
              <a:ext uri="{FF2B5EF4-FFF2-40B4-BE49-F238E27FC236}">
                <a16:creationId xmlns:a16="http://schemas.microsoft.com/office/drawing/2014/main" id="{A6CC588F-3DEB-4694-948D-3C25D2C41E07}"/>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10</a:t>
            </a:r>
          </a:p>
        </p:txBody>
      </p:sp>
      <p:sp>
        <p:nvSpPr>
          <p:cNvPr id="7" name="UAE">
            <a:extLst xmlns:a="http://schemas.openxmlformats.org/drawingml/2006/main">
              <a:ext uri="{FF2B5EF4-FFF2-40B4-BE49-F238E27FC236}">
                <a16:creationId xmlns:a16="http://schemas.microsoft.com/office/drawing/2014/main" id="{D77BF1B2-4E17-4D32-90A1-006E6D8E0A66}"/>
              </a:ext>
            </a:extLst>
          </p:cNvPr>
          <p:cNvSpPr>
            <a:spLocks xmlns:a="http://schemas.openxmlformats.org/drawingml/2006/main" noGrp="1"/>
          </p:cNvSpPr>
          <p:nvPr/>
        </p:nvSpPr>
        <p:spPr>
          <a:xfrm xmlns:a="http://schemas.openxmlformats.org/drawingml/2006/main">
            <a:off x="609600" y="2352675"/>
            <a:ext cx="3314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A8D4FF"/>
                </a:solidFill>
                <a:latin typeface="Manrope"/>
                <a:ea typeface="Manrope"/>
                <a:cs typeface="Manrope"/>
              </a:defRPr>
            </a:defPPr>
          </a:lstStyle>
          <a:p xmlns:a="http://schemas.openxmlformats.org/drawingml/2006/main">
            <a:pPr>
              <a:lnSpc>
                <a:spcPct val="105000"/>
              </a:lnSpc>
              <a:buNone/>
              <a:defRPr sz="1200" b="1">
                <a:solidFill>
                  <a:srgbClr val="A8D4FF"/>
                </a:solidFill>
                <a:latin typeface="Manrope"/>
                <a:ea typeface="Manrope"/>
                <a:cs typeface="Manrope"/>
              </a:defRPr>
            </a:pPr>
            <a:r>
              <a:rPr sz="1200" b="1">
                <a:solidFill>
                  <a:srgbClr val="A8D4FF"/>
                </a:solidFill>
                <a:latin typeface="Manrope"/>
                <a:ea typeface="Manrope"/>
                <a:cs typeface="Manrope"/>
              </a:rPr>
              <a:t>UAE</a:t>
            </a:r>
          </a:p>
        </p:txBody>
      </p:sp>
      <p:sp>
        <p:nvSpPr>
          <p:cNvPr id="8" name="Shift 2 Fresh">
            <a:extLst xmlns:a="http://schemas.openxmlformats.org/drawingml/2006/main">
              <a:ext uri="{FF2B5EF4-FFF2-40B4-BE49-F238E27FC236}">
                <a16:creationId xmlns:a16="http://schemas.microsoft.com/office/drawing/2014/main" id="{065CAD78-98B7-4C68-8CAC-FEF09887A5B5}"/>
              </a:ext>
            </a:extLst>
          </p:cNvPr>
          <p:cNvSpPr>
            <a:spLocks xmlns:a="http://schemas.openxmlformats.org/drawingml/2006/main" noGrp="1"/>
          </p:cNvSpPr>
          <p:nvPr/>
        </p:nvSpPr>
        <p:spPr>
          <a:xfrm xmlns:a="http://schemas.openxmlformats.org/drawingml/2006/main">
            <a:off x="609600" y="2895600"/>
            <a:ext cx="3305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F3F5F7"/>
                </a:solidFill>
                <a:latin typeface="Sora"/>
                <a:ea typeface="Sora"/>
                <a:cs typeface="Sora"/>
              </a:defRPr>
            </a:defPPr>
          </a:lstStyle>
          <a:p xmlns:a="http://schemas.openxmlformats.org/drawingml/2006/main">
            <a:pPr>
              <a:lnSpc>
                <a:spcPct val="105000"/>
              </a:lnSpc>
              <a:buNone/>
              <a:defRPr sz="2550" b="1">
                <a:solidFill>
                  <a:srgbClr val="F3F5F7"/>
                </a:solidFill>
                <a:latin typeface="Sora"/>
                <a:ea typeface="Sora"/>
                <a:cs typeface="Sora"/>
              </a:defRPr>
            </a:pPr>
            <a:r>
              <a:rPr sz="2550" b="1" spc="0">
                <a:solidFill>
                  <a:srgbClr val="F3F5F7"/>
                </a:solidFill>
                <a:latin typeface="Sora"/>
                <a:ea typeface="Sora"/>
                <a:cs typeface="Sora"/>
              </a:rPr>
              <a:t>Shift 2 Fresh</a:t>
            </a:r>
          </a:p>
        </p:txBody>
      </p:sp>
      <p:sp>
        <p:nvSpPr>
          <p:cNvPr id="9" name="Social planning and content calendars. Meta lead generation, audience ">
            <a:extLst xmlns:a="http://schemas.openxmlformats.org/drawingml/2006/main">
              <a:ext uri="{FF2B5EF4-FFF2-40B4-BE49-F238E27FC236}">
                <a16:creationId xmlns:a16="http://schemas.microsoft.com/office/drawing/2014/main" id="{EBF0808C-CC03-4675-96EE-6ADAE84A3133}"/>
              </a:ext>
            </a:extLst>
          </p:cNvPr>
          <p:cNvSpPr>
            <a:spLocks xmlns:a="http://schemas.openxmlformats.org/drawingml/2006/main" noGrp="1"/>
          </p:cNvSpPr>
          <p:nvPr/>
        </p:nvSpPr>
        <p:spPr>
          <a:xfrm xmlns:a="http://schemas.openxmlformats.org/drawingml/2006/main">
            <a:off x="609600" y="4038600"/>
            <a:ext cx="32289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A9B8CA"/>
                </a:solidFill>
                <a:latin typeface="Manrope"/>
                <a:ea typeface="Manrope"/>
                <a:cs typeface="Manrope"/>
              </a:defRPr>
            </a:defPPr>
          </a:lstStyle>
          <a:p xmlns:a="http://schemas.openxmlformats.org/drawingml/2006/main">
            <a:pPr>
              <a:lnSpc>
                <a:spcPct val="105000"/>
              </a:lnSpc>
              <a:buNone/>
              <a:defRPr sz="1725" b="0">
                <a:solidFill>
                  <a:srgbClr val="A9B8CA"/>
                </a:solidFill>
                <a:latin typeface="Manrope"/>
                <a:ea typeface="Manrope"/>
                <a:cs typeface="Manrope"/>
              </a:defRPr>
            </a:pPr>
            <a:r>
              <a:rPr sz="1725" b="0" spc="0">
                <a:solidFill>
                  <a:srgbClr val="A9B8CA"/>
                </a:solidFill>
                <a:latin typeface="Manrope"/>
                <a:ea typeface="Manrope"/>
                <a:cs typeface="Manrope"/>
              </a:rPr>
              <a:t>Social planning and content calendars. Meta lead generation, audience targeting and campaign monitoring.</a:t>
            </a:r>
          </a:p>
        </p:txBody>
      </p:sp>
      <p:sp>
        <p:nvSpPr>
          <p:cNvPr id="10" name="Lead generation">
            <a:extLst xmlns:a="http://schemas.openxmlformats.org/drawingml/2006/main">
              <a:ext uri="{FF2B5EF4-FFF2-40B4-BE49-F238E27FC236}">
                <a16:creationId xmlns:a16="http://schemas.microsoft.com/office/drawing/2014/main" id="{8DE3DBFC-3759-4D21-97E1-FE9393CDEC88}"/>
              </a:ext>
            </a:extLst>
          </p:cNvPr>
          <p:cNvSpPr>
            <a:spLocks xmlns:a="http://schemas.openxmlformats.org/drawingml/2006/main" noGrp="1"/>
          </p:cNvSpPr>
          <p:nvPr/>
        </p:nvSpPr>
        <p:spPr>
          <a:xfrm xmlns:a="http://schemas.openxmlformats.org/drawingml/2006/main">
            <a:off x="609600" y="5838825"/>
            <a:ext cx="3228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8D4FF"/>
                </a:solidFill>
                <a:latin typeface="Manrope"/>
                <a:ea typeface="Manrope"/>
                <a:cs typeface="Manrope"/>
              </a:defRPr>
            </a:defPPr>
          </a:lstStyle>
          <a:p xmlns:a="http://schemas.openxmlformats.org/drawingml/2006/main">
            <a:pPr>
              <a:lnSpc>
                <a:spcPct val="105000"/>
              </a:lnSpc>
              <a:buNone/>
              <a:defRPr sz="1575" b="0">
                <a:solidFill>
                  <a:srgbClr val="A8D4FF"/>
                </a:solidFill>
                <a:latin typeface="Manrope"/>
                <a:ea typeface="Manrope"/>
                <a:cs typeface="Manrope"/>
              </a:defRPr>
            </a:pPr>
            <a:r>
              <a:rPr sz="1575" b="0" spc="70">
                <a:solidFill>
                  <a:srgbClr val="A8D4FF"/>
                </a:solidFill>
                <a:latin typeface="Manrope"/>
                <a:ea typeface="Manrope"/>
                <a:cs typeface="Manrope"/>
              </a:rPr>
              <a:t>Lead generation</a:t>
            </a:r>
          </a:p>
        </p:txBody>
      </p:sp>
      <p:sp>
        <p:nvSpPr>
          <p:cNvPr id="11" name="UAE">
            <a:extLst xmlns:a="http://schemas.openxmlformats.org/drawingml/2006/main">
              <a:ext uri="{FF2B5EF4-FFF2-40B4-BE49-F238E27FC236}">
                <a16:creationId xmlns:a16="http://schemas.microsoft.com/office/drawing/2014/main" id="{E34887B6-2892-4B91-9973-206F9C5AC4C6}"/>
              </a:ext>
            </a:extLst>
          </p:cNvPr>
          <p:cNvSpPr>
            <a:spLocks xmlns:a="http://schemas.openxmlformats.org/drawingml/2006/main" noGrp="1"/>
          </p:cNvSpPr>
          <p:nvPr/>
        </p:nvSpPr>
        <p:spPr>
          <a:xfrm xmlns:a="http://schemas.openxmlformats.org/drawingml/2006/main">
            <a:off x="4295775" y="2352675"/>
            <a:ext cx="3314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A8D4FF"/>
                </a:solidFill>
                <a:latin typeface="Manrope"/>
                <a:ea typeface="Manrope"/>
                <a:cs typeface="Manrope"/>
              </a:defRPr>
            </a:defPPr>
          </a:lstStyle>
          <a:p xmlns:a="http://schemas.openxmlformats.org/drawingml/2006/main">
            <a:pPr>
              <a:lnSpc>
                <a:spcPct val="105000"/>
              </a:lnSpc>
              <a:buNone/>
              <a:defRPr sz="1200" b="1">
                <a:solidFill>
                  <a:srgbClr val="A8D4FF"/>
                </a:solidFill>
                <a:latin typeface="Manrope"/>
                <a:ea typeface="Manrope"/>
                <a:cs typeface="Manrope"/>
              </a:defRPr>
            </a:pPr>
            <a:r>
              <a:rPr sz="1200" b="1">
                <a:solidFill>
                  <a:srgbClr val="A8D4FF"/>
                </a:solidFill>
                <a:latin typeface="Manrope"/>
                <a:ea typeface="Manrope"/>
                <a:cs typeface="Manrope"/>
              </a:rPr>
              <a:t>UAE</a:t>
            </a:r>
          </a:p>
        </p:txBody>
      </p:sp>
      <p:sp>
        <p:nvSpPr>
          <p:cNvPr id="12" name="Consumer brand">
            <a:extLst xmlns:a="http://schemas.openxmlformats.org/drawingml/2006/main">
              <a:ext uri="{FF2B5EF4-FFF2-40B4-BE49-F238E27FC236}">
                <a16:creationId xmlns:a16="http://schemas.microsoft.com/office/drawing/2014/main" id="{6A731DBB-0C9D-47E5-B0A4-C779C8FA98A7}"/>
              </a:ext>
            </a:extLst>
          </p:cNvPr>
          <p:cNvSpPr>
            <a:spLocks xmlns:a="http://schemas.openxmlformats.org/drawingml/2006/main" noGrp="1"/>
          </p:cNvSpPr>
          <p:nvPr/>
        </p:nvSpPr>
        <p:spPr>
          <a:xfrm xmlns:a="http://schemas.openxmlformats.org/drawingml/2006/main">
            <a:off x="4295775" y="2895600"/>
            <a:ext cx="3305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F3F5F7"/>
                </a:solidFill>
                <a:latin typeface="Sora"/>
                <a:ea typeface="Sora"/>
                <a:cs typeface="Sora"/>
              </a:defRPr>
            </a:defPPr>
          </a:lstStyle>
          <a:p xmlns:a="http://schemas.openxmlformats.org/drawingml/2006/main">
            <a:pPr>
              <a:lnSpc>
                <a:spcPct val="105000"/>
              </a:lnSpc>
              <a:buNone/>
              <a:defRPr sz="2550" b="1">
                <a:solidFill>
                  <a:srgbClr val="F3F5F7"/>
                </a:solidFill>
                <a:latin typeface="Sora"/>
                <a:ea typeface="Sora"/>
                <a:cs typeface="Sora"/>
              </a:defRPr>
            </a:pPr>
            <a:r>
              <a:rPr sz="2550" b="1" spc="0">
                <a:solidFill>
                  <a:srgbClr val="F3F5F7"/>
                </a:solidFill>
                <a:latin typeface="Sora"/>
                <a:ea typeface="Sora"/>
                <a:cs typeface="Sora"/>
              </a:rPr>
              <a:t>Consumer brand</a:t>
            </a:r>
          </a:p>
        </p:txBody>
      </p:sp>
      <p:sp>
        <p:nvSpPr>
          <p:cNvPr id="13" name="Organic social and community engagement. Buyer-query handling and Meta">
            <a:extLst xmlns:a="http://schemas.openxmlformats.org/drawingml/2006/main">
              <a:ext uri="{FF2B5EF4-FFF2-40B4-BE49-F238E27FC236}">
                <a16:creationId xmlns:a16="http://schemas.microsoft.com/office/drawing/2014/main" id="{E9FD3A4B-6DBF-4B80-AEF9-B6818633E7A6}"/>
              </a:ext>
            </a:extLst>
          </p:cNvPr>
          <p:cNvSpPr>
            <a:spLocks xmlns:a="http://schemas.openxmlformats.org/drawingml/2006/main" noGrp="1"/>
          </p:cNvSpPr>
          <p:nvPr/>
        </p:nvSpPr>
        <p:spPr>
          <a:xfrm xmlns:a="http://schemas.openxmlformats.org/drawingml/2006/main">
            <a:off x="4295775" y="4038600"/>
            <a:ext cx="32289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A9B8CA"/>
                </a:solidFill>
                <a:latin typeface="Manrope"/>
                <a:ea typeface="Manrope"/>
                <a:cs typeface="Manrope"/>
              </a:defRPr>
            </a:defPPr>
          </a:lstStyle>
          <a:p xmlns:a="http://schemas.openxmlformats.org/drawingml/2006/main">
            <a:pPr>
              <a:lnSpc>
                <a:spcPct val="105000"/>
              </a:lnSpc>
              <a:buNone/>
              <a:defRPr sz="1725" b="0">
                <a:solidFill>
                  <a:srgbClr val="A9B8CA"/>
                </a:solidFill>
                <a:latin typeface="Manrope"/>
                <a:ea typeface="Manrope"/>
                <a:cs typeface="Manrope"/>
              </a:defRPr>
            </a:pPr>
            <a:r>
              <a:rPr sz="1725" b="0" spc="0">
                <a:solidFill>
                  <a:srgbClr val="A9B8CA"/>
                </a:solidFill>
                <a:latin typeface="Manrope"/>
                <a:ea typeface="Manrope"/>
                <a:cs typeface="Manrope"/>
              </a:rPr>
              <a:t>Organic social and community engagement. Buyer-query handling and Meta product-sales support.</a:t>
            </a:r>
          </a:p>
        </p:txBody>
      </p:sp>
      <p:sp>
        <p:nvSpPr>
          <p:cNvPr id="14" name="Organic + paid">
            <a:extLst xmlns:a="http://schemas.openxmlformats.org/drawingml/2006/main">
              <a:ext uri="{FF2B5EF4-FFF2-40B4-BE49-F238E27FC236}">
                <a16:creationId xmlns:a16="http://schemas.microsoft.com/office/drawing/2014/main" id="{02C669A0-769C-4F88-9568-FED2779D3E40}"/>
              </a:ext>
            </a:extLst>
          </p:cNvPr>
          <p:cNvSpPr>
            <a:spLocks xmlns:a="http://schemas.openxmlformats.org/drawingml/2006/main" noGrp="1"/>
          </p:cNvSpPr>
          <p:nvPr/>
        </p:nvSpPr>
        <p:spPr>
          <a:xfrm xmlns:a="http://schemas.openxmlformats.org/drawingml/2006/main">
            <a:off x="4295775" y="5838825"/>
            <a:ext cx="3228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8D4FF"/>
                </a:solidFill>
                <a:latin typeface="Manrope"/>
                <a:ea typeface="Manrope"/>
                <a:cs typeface="Manrope"/>
              </a:defRPr>
            </a:defPPr>
          </a:lstStyle>
          <a:p xmlns:a="http://schemas.openxmlformats.org/drawingml/2006/main">
            <a:pPr>
              <a:lnSpc>
                <a:spcPct val="105000"/>
              </a:lnSpc>
              <a:buNone/>
              <a:defRPr sz="1575" b="0">
                <a:solidFill>
                  <a:srgbClr val="A8D4FF"/>
                </a:solidFill>
                <a:latin typeface="Manrope"/>
                <a:ea typeface="Manrope"/>
                <a:cs typeface="Manrope"/>
              </a:defRPr>
            </a:pPr>
            <a:r>
              <a:rPr sz="1575" b="0" spc="70">
                <a:solidFill>
                  <a:srgbClr val="A8D4FF"/>
                </a:solidFill>
                <a:latin typeface="Manrope"/>
                <a:ea typeface="Manrope"/>
                <a:cs typeface="Manrope"/>
              </a:rPr>
              <a:t>Organic + paid</a:t>
            </a:r>
          </a:p>
        </p:txBody>
      </p:sp>
      <p:sp>
        <p:nvSpPr>
          <p:cNvPr id="15" name="PAKISTAN">
            <a:extLst xmlns:a="http://schemas.openxmlformats.org/drawingml/2006/main">
              <a:ext uri="{FF2B5EF4-FFF2-40B4-BE49-F238E27FC236}">
                <a16:creationId xmlns:a16="http://schemas.microsoft.com/office/drawing/2014/main" id="{FF863DD2-BECD-4102-90D1-B5CE4BF1FB52}"/>
              </a:ext>
            </a:extLst>
          </p:cNvPr>
          <p:cNvSpPr>
            <a:spLocks xmlns:a="http://schemas.openxmlformats.org/drawingml/2006/main" noGrp="1"/>
          </p:cNvSpPr>
          <p:nvPr/>
        </p:nvSpPr>
        <p:spPr>
          <a:xfrm xmlns:a="http://schemas.openxmlformats.org/drawingml/2006/main">
            <a:off x="7981950" y="2352675"/>
            <a:ext cx="3314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A8D4FF"/>
                </a:solidFill>
                <a:latin typeface="Manrope"/>
                <a:ea typeface="Manrope"/>
                <a:cs typeface="Manrope"/>
              </a:defRPr>
            </a:defPPr>
          </a:lstStyle>
          <a:p xmlns:a="http://schemas.openxmlformats.org/drawingml/2006/main">
            <a:pPr>
              <a:lnSpc>
                <a:spcPct val="105000"/>
              </a:lnSpc>
              <a:buNone/>
              <a:defRPr sz="1200" b="1">
                <a:solidFill>
                  <a:srgbClr val="A8D4FF"/>
                </a:solidFill>
                <a:latin typeface="Manrope"/>
                <a:ea typeface="Manrope"/>
                <a:cs typeface="Manrope"/>
              </a:defRPr>
            </a:pPr>
            <a:r>
              <a:rPr sz="1200" b="1">
                <a:solidFill>
                  <a:srgbClr val="A8D4FF"/>
                </a:solidFill>
                <a:latin typeface="Manrope"/>
                <a:ea typeface="Manrope"/>
                <a:cs typeface="Manrope"/>
              </a:rPr>
              <a:t>PAKISTAN</a:t>
            </a:r>
          </a:p>
        </p:txBody>
      </p:sp>
      <p:sp>
        <p:nvSpPr>
          <p:cNvPr id="16" name="Apparel brand">
            <a:extLst xmlns:a="http://schemas.openxmlformats.org/drawingml/2006/main">
              <a:ext uri="{FF2B5EF4-FFF2-40B4-BE49-F238E27FC236}">
                <a16:creationId xmlns:a16="http://schemas.microsoft.com/office/drawing/2014/main" id="{F8260029-DC90-4B7C-A2D2-3E118D68ADA7}"/>
              </a:ext>
            </a:extLst>
          </p:cNvPr>
          <p:cNvSpPr>
            <a:spLocks xmlns:a="http://schemas.openxmlformats.org/drawingml/2006/main" noGrp="1"/>
          </p:cNvSpPr>
          <p:nvPr/>
        </p:nvSpPr>
        <p:spPr>
          <a:xfrm xmlns:a="http://schemas.openxmlformats.org/drawingml/2006/main">
            <a:off x="7981950" y="2895600"/>
            <a:ext cx="3305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F3F5F7"/>
                </a:solidFill>
                <a:latin typeface="Sora"/>
                <a:ea typeface="Sora"/>
                <a:cs typeface="Sora"/>
              </a:defRPr>
            </a:defPPr>
          </a:lstStyle>
          <a:p xmlns:a="http://schemas.openxmlformats.org/drawingml/2006/main">
            <a:pPr>
              <a:lnSpc>
                <a:spcPct val="105000"/>
              </a:lnSpc>
              <a:buNone/>
              <a:defRPr sz="2550" b="1">
                <a:solidFill>
                  <a:srgbClr val="F3F5F7"/>
                </a:solidFill>
                <a:latin typeface="Sora"/>
                <a:ea typeface="Sora"/>
                <a:cs typeface="Sora"/>
              </a:defRPr>
            </a:pPr>
            <a:r>
              <a:rPr sz="2550" b="1" spc="0">
                <a:solidFill>
                  <a:srgbClr val="F3F5F7"/>
                </a:solidFill>
                <a:latin typeface="Sora"/>
                <a:ea typeface="Sora"/>
                <a:cs typeface="Sora"/>
              </a:rPr>
              <a:t>Apparel brand</a:t>
            </a:r>
          </a:p>
        </p:txBody>
      </p:sp>
      <p:sp>
        <p:nvSpPr>
          <p:cNvPr id="17" name="Content calendars for T-shirts and apparel. Product messaging, Meta Ad">
            <a:extLst xmlns:a="http://schemas.openxmlformats.org/drawingml/2006/main">
              <a:ext uri="{FF2B5EF4-FFF2-40B4-BE49-F238E27FC236}">
                <a16:creationId xmlns:a16="http://schemas.microsoft.com/office/drawing/2014/main" id="{0626ED8D-FF0A-4E2A-92AC-4F43C15F9B96}"/>
              </a:ext>
            </a:extLst>
          </p:cNvPr>
          <p:cNvSpPr>
            <a:spLocks xmlns:a="http://schemas.openxmlformats.org/drawingml/2006/main" noGrp="1"/>
          </p:cNvSpPr>
          <p:nvPr/>
        </p:nvSpPr>
        <p:spPr>
          <a:xfrm xmlns:a="http://schemas.openxmlformats.org/drawingml/2006/main">
            <a:off x="7981950" y="4038600"/>
            <a:ext cx="32289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A9B8CA"/>
                </a:solidFill>
                <a:latin typeface="Manrope"/>
                <a:ea typeface="Manrope"/>
                <a:cs typeface="Manrope"/>
              </a:defRPr>
            </a:defPPr>
          </a:lstStyle>
          <a:p xmlns:a="http://schemas.openxmlformats.org/drawingml/2006/main">
            <a:pPr>
              <a:lnSpc>
                <a:spcPct val="105000"/>
              </a:lnSpc>
              <a:buNone/>
              <a:defRPr sz="1725" b="0">
                <a:solidFill>
                  <a:srgbClr val="A9B8CA"/>
                </a:solidFill>
                <a:latin typeface="Manrope"/>
                <a:ea typeface="Manrope"/>
                <a:cs typeface="Manrope"/>
              </a:defRPr>
            </a:pPr>
            <a:r>
              <a:rPr sz="1725" b="0" spc="0">
                <a:solidFill>
                  <a:srgbClr val="A9B8CA"/>
                </a:solidFill>
                <a:latin typeface="Manrope"/>
                <a:ea typeface="Manrope"/>
                <a:cs typeface="Manrope"/>
              </a:rPr>
              <a:t>Content calendars for T-shirts and apparel. Product messaging, Meta Ads and creative/audience adjustments.</a:t>
            </a:r>
          </a:p>
        </p:txBody>
      </p:sp>
      <p:sp>
        <p:nvSpPr>
          <p:cNvPr id="18" name="Ecommerce">
            <a:extLst xmlns:a="http://schemas.openxmlformats.org/drawingml/2006/main">
              <a:ext uri="{FF2B5EF4-FFF2-40B4-BE49-F238E27FC236}">
                <a16:creationId xmlns:a16="http://schemas.microsoft.com/office/drawing/2014/main" id="{33858C21-7357-4D50-A509-A5F380CF4CDE}"/>
              </a:ext>
            </a:extLst>
          </p:cNvPr>
          <p:cNvSpPr>
            <a:spLocks xmlns:a="http://schemas.openxmlformats.org/drawingml/2006/main" noGrp="1"/>
          </p:cNvSpPr>
          <p:nvPr/>
        </p:nvSpPr>
        <p:spPr>
          <a:xfrm xmlns:a="http://schemas.openxmlformats.org/drawingml/2006/main">
            <a:off x="7981950" y="5838825"/>
            <a:ext cx="3228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8D4FF"/>
                </a:solidFill>
                <a:latin typeface="Manrope"/>
                <a:ea typeface="Manrope"/>
                <a:cs typeface="Manrope"/>
              </a:defRPr>
            </a:defPPr>
          </a:lstStyle>
          <a:p xmlns:a="http://schemas.openxmlformats.org/drawingml/2006/main">
            <a:pPr>
              <a:lnSpc>
                <a:spcPct val="105000"/>
              </a:lnSpc>
              <a:buNone/>
              <a:defRPr sz="1575" b="0">
                <a:solidFill>
                  <a:srgbClr val="A8D4FF"/>
                </a:solidFill>
                <a:latin typeface="Manrope"/>
                <a:ea typeface="Manrope"/>
                <a:cs typeface="Manrope"/>
              </a:defRPr>
            </a:pPr>
            <a:r>
              <a:rPr sz="1575" b="0" spc="70">
                <a:solidFill>
                  <a:srgbClr val="A8D4FF"/>
                </a:solidFill>
                <a:latin typeface="Manrope"/>
                <a:ea typeface="Manrope"/>
                <a:cs typeface="Manrope"/>
              </a:rPr>
              <a:t>Ecommerce</a:t>
            </a:r>
          </a:p>
        </p:txBody>
      </p:sp>
    </p:spTree>
    <p:extLst>
      <p:ext uri="{BB962C8B-B14F-4D97-AF65-F5344CB8AC3E}">
        <p14:creationId xmlns:p14="http://schemas.microsoft.com/office/powerpoint/2010/main" val="474663683"/>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50" fill="hold"/>
                                  <p:tgtEl>
                                    <p:spTgt spid="4"/>
                                  </p:tgtEl>
                                </p:cBhvr>
                              </p:animEffect>
                              <p:anim calcmode="lin" valueType="num">
                                <p:cBhvr additive="base">
                                  <p:cTn id="7" dur="550" fill="hold" decel="60000"/>
                                  <p:tgtEl>
                                    <p:spTgt spid="4"/>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50" fill="hold"/>
                                  <p:tgtEl>
                                    <p:spTgt spid="8"/>
                                  </p:tgtEl>
                                </p:cBhvr>
                              </p:animEffect>
                              <p:anim calcmode="lin" valueType="num">
                                <p:cBhvr additive="base">
                                  <p:cTn id="11" dur="550" fill="hold" decel="60000"/>
                                  <p:tgtEl>
                                    <p:spTgt spid="8"/>
                                  </p:tgtEl>
                                  <p:attrNameLst>
                                    <p:attrName>ppt_y</p:attrName>
                                  </p:attrNameLst>
                                </p:cBhvr>
                                <p:tavLst>
                                  <p:tav tm="0">
                                    <p:val>
                                      <p:strVal val="#ppt_y+0.025"/>
                                    </p:val>
                                  </p:tav>
                                  <p:tav tm="100000">
                                    <p:val>
                                      <p:strVal val="#ppt_y"/>
                                    </p:val>
                                  </p:tav>
                                </p:tavLst>
                              </p:anim>
                            </p:childTnLst>
                          </p:cTn>
                        </p:par>
                        <p:par>
                          <p:cTn id="12" presetID="10" presetClass="entr" presetSubtype="0" fill="hold" grpId="0" nodeType="withEffect">
                            <p:stCondLst>
                              <p:cond delay="38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50" fill="hold"/>
                                  <p:tgtEl>
                                    <p:spTgt spid="9"/>
                                  </p:tgtEl>
                                </p:cBhvr>
                              </p:animEffect>
                            </p:childTnLst>
                          </p:cTn>
                        </p:par>
                        <p:par>
                          <p:cTn id="15" presetID="10" presetClass="entr" presetSubtype="0" fill="hold" grpId="0" nodeType="withEffect">
                            <p:stCondLst>
                              <p:cond delay="495"/>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50" fill="hold"/>
                                  <p:tgtEl>
                                    <p:spTgt spid="10"/>
                                  </p:tgtEl>
                                </p:cBhvr>
                              </p:animEffect>
                            </p:childTnLst>
                          </p:cTn>
                        </p:par>
                        <p:par>
                          <p:cTn id="18" presetID="10" presetClass="entr" presetSubtype="0" fill="hold" grpId="0" nodeType="withEffect">
                            <p:stCondLst>
                              <p:cond delay="61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fill="hold"/>
                                  <p:tgtEl>
                                    <p:spTgt spid="12"/>
                                  </p:tgtEl>
                                </p:cBhvr>
                              </p:animEffect>
                              <p:anim calcmode="lin" valueType="num">
                                <p:cBhvr additive="base">
                                  <p:cTn id="21" dur="550" fill="hold" decel="60000"/>
                                  <p:tgtEl>
                                    <p:spTgt spid="12"/>
                                  </p:tgtEl>
                                  <p:attrNameLst>
                                    <p:attrName>ppt_y</p:attrName>
                                  </p:attrNameLst>
                                </p:cBhvr>
                                <p:tavLst>
                                  <p:tav tm="0">
                                    <p:val>
                                      <p:strVal val="#ppt_y+0.025"/>
                                    </p:val>
                                  </p:tav>
                                  <p:tav tm="100000">
                                    <p:val>
                                      <p:strVal val="#ppt_y"/>
                                    </p:val>
                                  </p:tav>
                                </p:tavLst>
                              </p:anim>
                            </p:childTnLst>
                          </p:cTn>
                        </p:par>
                        <p:par>
                          <p:cTn id="22" presetID="10" presetClass="entr" presetSubtype="0" fill="hold" grpId="0" nodeType="withEffect">
                            <p:stCondLst>
                              <p:cond delay="725"/>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fill="hold"/>
                                  <p:tgtEl>
                                    <p:spTgt spid="13"/>
                                  </p:tgtEl>
                                </p:cBhvr>
                              </p:animEffect>
                            </p:childTnLst>
                          </p:cTn>
                        </p:par>
                        <p:par>
                          <p:cTn id="25" presetID="10" presetClass="entr" presetSubtype="0" fill="hold" grpId="0" nodeType="withEffect">
                            <p:stCondLst>
                              <p:cond delay="84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50" fill="hold"/>
                                  <p:tgtEl>
                                    <p:spTgt spid="14"/>
                                  </p:tgtEl>
                                </p:cBhvr>
                              </p:animEffect>
                            </p:childTnLst>
                          </p:cTn>
                        </p:par>
                        <p:par>
                          <p:cTn id="28" presetID="10" presetClass="entr" presetSubtype="0" fill="hold" grpId="0" nodeType="withEffect">
                            <p:stCondLst>
                              <p:cond delay="955"/>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50" fill="hold"/>
                                  <p:tgtEl>
                                    <p:spTgt spid="16"/>
                                  </p:tgtEl>
                                </p:cBhvr>
                              </p:animEffect>
                              <p:anim calcmode="lin" valueType="num">
                                <p:cBhvr additive="base">
                                  <p:cTn id="31" dur="550" fill="hold" decel="60000"/>
                                  <p:tgtEl>
                                    <p:spTgt spid="16"/>
                                  </p:tgtEl>
                                  <p:attrNameLst>
                                    <p:attrName>ppt_y</p:attrName>
                                  </p:attrNameLst>
                                </p:cBhvr>
                                <p:tavLst>
                                  <p:tav tm="0">
                                    <p:val>
                                      <p:strVal val="#ppt_y+0.025"/>
                                    </p:val>
                                  </p:tav>
                                  <p:tav tm="100000">
                                    <p:val>
                                      <p:strVal val="#ppt_y"/>
                                    </p:val>
                                  </p:tav>
                                </p:tavLst>
                              </p:anim>
                            </p:childTnLst>
                          </p:cTn>
                        </p:par>
                        <p:par>
                          <p:cTn id="32" presetID="10" presetClass="entr" presetSubtype="0" fill="hold" grpId="0" nodeType="withEffect">
                            <p:stCondLst>
                              <p:cond delay="107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50" fill="hold"/>
                                  <p:tgtEl>
                                    <p:spTgt spid="17"/>
                                  </p:tgtEl>
                                </p:cBhvr>
                              </p:animEffect>
                            </p:childTnLst>
                          </p:cTn>
                        </p:par>
                        <p:par>
                          <p:cTn id="35" presetID="10" presetClass="entr" presetSubtype="0" fill="hold" grpId="0" nodeType="withEffect">
                            <p:stCondLst>
                              <p:cond delay="1185"/>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50" fill="hold"/>
                                  <p:tgtEl>
                                    <p:spTgt spid="1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8" grpId="0" build="allAtOnce"/>
      <p:bldP spid="9" grpId="0" build="allAtOnce"/>
      <p:bldP spid="10" grpId="0" build="allAtOnce"/>
      <p:bldP spid="12" grpId="0" build="allAtOnce"/>
      <p:bldP spid="13" grpId="0" build="allAtOnce"/>
      <p:bldP spid="14" grpId="0" build="allAtOnce"/>
      <p:bldP spid="16" grpId="0" build="allAtOnce"/>
      <p:bldP spid="17" grpId="0" build="allAtOnce"/>
      <p:bldP spid="18" grpId="0" build="allAtOnce"/>
    </p:bldLst>
  </p:timing>
</p:sld>
</file>

<file path=ppt/slides/slide11.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1BDC2FD-B083-42DD-9125-9D33C96BE05F}"/>
              </a:ext>
            </a:extLst>
          </p:cNvPr>
          <p:cNvPicPr>
            <a:picLocks xmlns:a="http://schemas.openxmlformats.org/drawingml/2006/main" noChangeAspect="1"/>
          </p:cNvPicPr>
          <p:nvPr/>
        </p:nvPicPr>
        <p:blipFill>
          <a:blip xmlns:r="http://schemas.openxmlformats.org/officeDocument/2006/relationships" xmlns:a="http://schemas.openxmlformats.org/drawingml/2006/main" r:embed="R2040c94ab0c647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3AAC957-F3F3-4B79-B822-03F0FD79C7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D15">
              <a:alpha val="45000"/>
            </a:srgbClr>
          </a:solidFill>
          <a:ln xmlns:a="http://schemas.openxmlformats.org/drawingml/2006/main" w="0">
            <a:noFill/>
          </a:ln>
        </p:spPr>
      </p:sp>
      <p:sp>
        <p:nvSpPr>
          <p:cNvPr id="3" name="10 / EXPERTISE">
            <a:extLst xmlns:a="http://schemas.openxmlformats.org/drawingml/2006/main">
              <a:ext uri="{FF2B5EF4-FFF2-40B4-BE49-F238E27FC236}">
                <a16:creationId xmlns:a16="http://schemas.microsoft.com/office/drawing/2014/main" id="{7662A5F5-F8C1-4F06-A354-D2943F6D5950}"/>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10 / EXPERTISE</a:t>
            </a:r>
          </a:p>
        </p:txBody>
      </p:sp>
      <p:sp>
        <p:nvSpPr>
          <p:cNvPr id="4" name="KHAWAJA SAIM">
            <a:extLst xmlns:a="http://schemas.openxmlformats.org/drawingml/2006/main">
              <a:ext uri="{FF2B5EF4-FFF2-40B4-BE49-F238E27FC236}">
                <a16:creationId xmlns:a16="http://schemas.microsoft.com/office/drawing/2014/main" id="{AFA176EC-EA36-453B-9BDC-745DF20FAF9D}"/>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5" name="11">
            <a:extLst xmlns:a="http://schemas.openxmlformats.org/drawingml/2006/main">
              <a:ext uri="{FF2B5EF4-FFF2-40B4-BE49-F238E27FC236}">
                <a16:creationId xmlns:a16="http://schemas.microsoft.com/office/drawing/2014/main" id="{6DEA1AB5-89ED-4598-8C48-CB5CFE0D94A9}"/>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11</a:t>
            </a:r>
          </a:p>
        </p:txBody>
      </p:sp>
      <p:sp>
        <p:nvSpPr>
          <p:cNvPr id="6" name="Built around&#10;your goals">
            <a:extLst xmlns:a="http://schemas.openxmlformats.org/drawingml/2006/main">
              <a:ext uri="{FF2B5EF4-FFF2-40B4-BE49-F238E27FC236}">
                <a16:creationId xmlns:a16="http://schemas.microsoft.com/office/drawing/2014/main" id="{1C337B41-033F-4449-9039-320A75EE69E4}"/>
              </a:ext>
            </a:extLst>
          </p:cNvPr>
          <p:cNvSpPr>
            <a:spLocks xmlns:a="http://schemas.openxmlformats.org/drawingml/2006/main" noGrp="1"/>
          </p:cNvSpPr>
          <p:nvPr/>
        </p:nvSpPr>
        <p:spPr>
          <a:xfrm xmlns:a="http://schemas.openxmlformats.org/drawingml/2006/main">
            <a:off x="609600" y="10287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75"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4275" b="1">
                <a:solidFill>
                  <a:srgbClr val="F3F5F7"/>
                </a:solidFill>
                <a:latin typeface="Sora"/>
                <a:ea typeface="Sora"/>
                <a:cs typeface="Sora"/>
              </a:defRPr>
            </a:pPr>
            <a:r>
              <a:rPr sz="4275" b="1" spc="-30">
                <a:gradFill>
                  <a:gsLst>
                    <a:gs pos="0">
                      <a:srgbClr val="F4F8FF"/>
                    </a:gs>
                    <a:gs pos="55000">
                      <a:srgbClr val="B2DFFF"/>
                    </a:gs>
                    <a:gs pos="100000">
                      <a:srgbClr val="548EE1"/>
                    </a:gs>
                  </a:gsLst>
                  <a:lin ang="0"/>
                </a:gradFill>
                <a:latin typeface="Sora"/>
                <a:ea typeface="Sora"/>
                <a:cs typeface="Sora"/>
              </a:rPr>
              <a:t>Built around</a:t>
            </a:r>
          </a:p>
          <a:p xmlns:a="http://schemas.openxmlformats.org/drawingml/2006/main">
            <a:pPr>
              <a:lnSpc>
                <a:spcPct val="105000"/>
              </a:lnSpc>
              <a:buNone/>
              <a:defRPr sz="4275" b="1">
                <a:solidFill>
                  <a:srgbClr val="F3F5F7"/>
                </a:solidFill>
                <a:latin typeface="Sora"/>
                <a:ea typeface="Sora"/>
                <a:cs typeface="Sora"/>
              </a:defRPr>
            </a:pPr>
            <a:r>
              <a:rPr sz="4275" b="1" spc="-30">
                <a:gradFill>
                  <a:gsLst>
                    <a:gs pos="0">
                      <a:srgbClr val="F4F8FF"/>
                    </a:gs>
                    <a:gs pos="55000">
                      <a:srgbClr val="B2DFFF"/>
                    </a:gs>
                    <a:gs pos="100000">
                      <a:srgbClr val="548EE1"/>
                    </a:gs>
                  </a:gsLst>
                  <a:lin ang="0"/>
                </a:gradFill>
                <a:latin typeface="Sora"/>
                <a:ea typeface="Sora"/>
                <a:cs typeface="Sora"/>
              </a:rPr>
              <a:t>your goals</a:t>
            </a:r>
          </a:p>
        </p:txBody>
      </p:sp>
      <p:sp>
        <p:nvSpPr>
          <p:cNvPr id="7" name="Paid advertising">
            <a:extLst xmlns:a="http://schemas.openxmlformats.org/drawingml/2006/main">
              <a:ext uri="{FF2B5EF4-FFF2-40B4-BE49-F238E27FC236}">
                <a16:creationId xmlns:a16="http://schemas.microsoft.com/office/drawing/2014/main" id="{8192F77D-E028-4886-BFEE-2E5B8718ABD4}"/>
              </a:ext>
            </a:extLst>
          </p:cNvPr>
          <p:cNvSpPr>
            <a:spLocks xmlns:a="http://schemas.openxmlformats.org/drawingml/2006/main" noGrp="1"/>
          </p:cNvSpPr>
          <p:nvPr/>
        </p:nvSpPr>
        <p:spPr>
          <a:xfrm xmlns:a="http://schemas.openxmlformats.org/drawingml/2006/main">
            <a:off x="619125" y="3028950"/>
            <a:ext cx="483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A8D4FF"/>
                </a:solidFill>
                <a:latin typeface="Manrope"/>
                <a:ea typeface="Manrope"/>
                <a:cs typeface="Manrope"/>
              </a:defRPr>
            </a:defPPr>
          </a:lstStyle>
          <a:p xmlns:a="http://schemas.openxmlformats.org/drawingml/2006/main">
            <a:pPr>
              <a:lnSpc>
                <a:spcPct val="105000"/>
              </a:lnSpc>
              <a:buNone/>
              <a:defRPr sz="1875" b="1">
                <a:solidFill>
                  <a:srgbClr val="A8D4FF"/>
                </a:solidFill>
                <a:latin typeface="Manrope"/>
                <a:ea typeface="Manrope"/>
                <a:cs typeface="Manrope"/>
              </a:defRPr>
            </a:pPr>
            <a:r>
              <a:rPr sz="1875" b="1" spc="0">
                <a:solidFill>
                  <a:srgbClr val="A8D4FF"/>
                </a:solidFill>
                <a:latin typeface="Manrope"/>
                <a:ea typeface="Manrope"/>
                <a:cs typeface="Manrope"/>
              </a:rPr>
              <a:t>Paid advertising</a:t>
            </a:r>
          </a:p>
        </p:txBody>
      </p:sp>
      <p:sp>
        <p:nvSpPr>
          <p:cNvPr id="8" name="Meta and Google campaigns. Audience strategy, creative testing and con">
            <a:extLst xmlns:a="http://schemas.openxmlformats.org/drawingml/2006/main">
              <a:ext uri="{FF2B5EF4-FFF2-40B4-BE49-F238E27FC236}">
                <a16:creationId xmlns:a16="http://schemas.microsoft.com/office/drawing/2014/main" id="{38071A6F-D70A-4B8F-B776-5BC586587D2E}"/>
              </a:ext>
            </a:extLst>
          </p:cNvPr>
          <p:cNvSpPr>
            <a:spLocks xmlns:a="http://schemas.openxmlformats.org/drawingml/2006/main" noGrp="1"/>
          </p:cNvSpPr>
          <p:nvPr/>
        </p:nvSpPr>
        <p:spPr>
          <a:xfrm xmlns:a="http://schemas.openxmlformats.org/drawingml/2006/main">
            <a:off x="619125" y="3543300"/>
            <a:ext cx="48387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A9B8CA"/>
                </a:solidFill>
                <a:latin typeface="Manrope"/>
                <a:ea typeface="Manrope"/>
                <a:cs typeface="Manrope"/>
              </a:defRPr>
            </a:defPPr>
          </a:lstStyle>
          <a:p xmlns:a="http://schemas.openxmlformats.org/drawingml/2006/main">
            <a:pPr>
              <a:lnSpc>
                <a:spcPct val="105000"/>
              </a:lnSpc>
              <a:buNone/>
              <a:defRPr sz="1650" b="0">
                <a:solidFill>
                  <a:srgbClr val="A9B8CA"/>
                </a:solidFill>
                <a:latin typeface="Manrope"/>
                <a:ea typeface="Manrope"/>
                <a:cs typeface="Manrope"/>
              </a:defRPr>
            </a:pPr>
            <a:r>
              <a:rPr sz="1650" b="0" spc="70">
                <a:solidFill>
                  <a:srgbClr val="A9B8CA"/>
                </a:solidFill>
                <a:latin typeface="Manrope"/>
                <a:ea typeface="Manrope"/>
                <a:cs typeface="Manrope"/>
              </a:rPr>
              <a:t>Meta and Google campaigns. Audience strategy, creative testing and conversion tracking.</a:t>
            </a:r>
          </a:p>
        </p:txBody>
      </p:sp>
      <p:sp>
        <p:nvSpPr>
          <p:cNvPr id="9" name="Social media strategy">
            <a:extLst xmlns:a="http://schemas.openxmlformats.org/drawingml/2006/main">
              <a:ext uri="{FF2B5EF4-FFF2-40B4-BE49-F238E27FC236}">
                <a16:creationId xmlns:a16="http://schemas.microsoft.com/office/drawing/2014/main" id="{D80C7014-C154-46C3-8D77-A68E80EE47D6}"/>
              </a:ext>
            </a:extLst>
          </p:cNvPr>
          <p:cNvSpPr>
            <a:spLocks xmlns:a="http://schemas.openxmlformats.org/drawingml/2006/main" noGrp="1"/>
          </p:cNvSpPr>
          <p:nvPr/>
        </p:nvSpPr>
        <p:spPr>
          <a:xfrm xmlns:a="http://schemas.openxmlformats.org/drawingml/2006/main">
            <a:off x="6496050" y="3028950"/>
            <a:ext cx="4829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A8D4FF"/>
                </a:solidFill>
                <a:latin typeface="Manrope"/>
                <a:ea typeface="Manrope"/>
                <a:cs typeface="Manrope"/>
              </a:defRPr>
            </a:defPPr>
          </a:lstStyle>
          <a:p xmlns:a="http://schemas.openxmlformats.org/drawingml/2006/main">
            <a:pPr>
              <a:lnSpc>
                <a:spcPct val="105000"/>
              </a:lnSpc>
              <a:buNone/>
              <a:defRPr sz="1875" b="1">
                <a:solidFill>
                  <a:srgbClr val="A8D4FF"/>
                </a:solidFill>
                <a:latin typeface="Manrope"/>
                <a:ea typeface="Manrope"/>
                <a:cs typeface="Manrope"/>
              </a:defRPr>
            </a:pPr>
            <a:r>
              <a:rPr sz="1875" b="1" spc="0">
                <a:solidFill>
                  <a:srgbClr val="A8D4FF"/>
                </a:solidFill>
                <a:latin typeface="Manrope"/>
                <a:ea typeface="Manrope"/>
                <a:cs typeface="Manrope"/>
              </a:rPr>
              <a:t>Social media strategy</a:t>
            </a:r>
          </a:p>
        </p:txBody>
      </p:sp>
      <p:sp>
        <p:nvSpPr>
          <p:cNvPr id="10" name="Content planning, community engagement and performance analysis.">
            <a:extLst xmlns:a="http://schemas.openxmlformats.org/drawingml/2006/main">
              <a:ext uri="{FF2B5EF4-FFF2-40B4-BE49-F238E27FC236}">
                <a16:creationId xmlns:a16="http://schemas.microsoft.com/office/drawing/2014/main" id="{FA7011C6-47A6-4C35-8BAA-C2E1A7F34138}"/>
              </a:ext>
            </a:extLst>
          </p:cNvPr>
          <p:cNvSpPr>
            <a:spLocks xmlns:a="http://schemas.openxmlformats.org/drawingml/2006/main" noGrp="1"/>
          </p:cNvSpPr>
          <p:nvPr/>
        </p:nvSpPr>
        <p:spPr>
          <a:xfrm xmlns:a="http://schemas.openxmlformats.org/drawingml/2006/main">
            <a:off x="6496050" y="3543300"/>
            <a:ext cx="48291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A9B8CA"/>
                </a:solidFill>
                <a:latin typeface="Manrope"/>
                <a:ea typeface="Manrope"/>
                <a:cs typeface="Manrope"/>
              </a:defRPr>
            </a:defPPr>
          </a:lstStyle>
          <a:p xmlns:a="http://schemas.openxmlformats.org/drawingml/2006/main">
            <a:pPr>
              <a:lnSpc>
                <a:spcPct val="105000"/>
              </a:lnSpc>
              <a:buNone/>
              <a:defRPr sz="1650" b="0">
                <a:solidFill>
                  <a:srgbClr val="A9B8CA"/>
                </a:solidFill>
                <a:latin typeface="Manrope"/>
                <a:ea typeface="Manrope"/>
                <a:cs typeface="Manrope"/>
              </a:defRPr>
            </a:pPr>
            <a:r>
              <a:rPr sz="1650" b="0" spc="70">
                <a:solidFill>
                  <a:srgbClr val="A9B8CA"/>
                </a:solidFill>
                <a:latin typeface="Manrope"/>
                <a:ea typeface="Manrope"/>
                <a:cs typeface="Manrope"/>
              </a:rPr>
              <a:t>Content planning, community engagement and performance analysis.</a:t>
            </a:r>
          </a:p>
        </p:txBody>
      </p:sp>
      <p:sp>
        <p:nvSpPr>
          <p:cNvPr id="11" name="SEO">
            <a:extLst xmlns:a="http://schemas.openxmlformats.org/drawingml/2006/main">
              <a:ext uri="{FF2B5EF4-FFF2-40B4-BE49-F238E27FC236}">
                <a16:creationId xmlns:a16="http://schemas.microsoft.com/office/drawing/2014/main" id="{BF9D4B4C-FFF5-4A09-9D02-8C1D6A7D6061}"/>
              </a:ext>
            </a:extLst>
          </p:cNvPr>
          <p:cNvSpPr>
            <a:spLocks xmlns:a="http://schemas.openxmlformats.org/drawingml/2006/main" noGrp="1"/>
          </p:cNvSpPr>
          <p:nvPr/>
        </p:nvSpPr>
        <p:spPr>
          <a:xfrm xmlns:a="http://schemas.openxmlformats.org/drawingml/2006/main">
            <a:off x="619125" y="4876800"/>
            <a:ext cx="483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A8D4FF"/>
                </a:solidFill>
                <a:latin typeface="Manrope"/>
                <a:ea typeface="Manrope"/>
                <a:cs typeface="Manrope"/>
              </a:defRPr>
            </a:defPPr>
          </a:lstStyle>
          <a:p xmlns:a="http://schemas.openxmlformats.org/drawingml/2006/main">
            <a:pPr>
              <a:lnSpc>
                <a:spcPct val="105000"/>
              </a:lnSpc>
              <a:buNone/>
              <a:defRPr sz="1875" b="1">
                <a:solidFill>
                  <a:srgbClr val="A8D4FF"/>
                </a:solidFill>
                <a:latin typeface="Manrope"/>
                <a:ea typeface="Manrope"/>
                <a:cs typeface="Manrope"/>
              </a:defRPr>
            </a:pPr>
            <a:r>
              <a:rPr sz="1875" b="1" spc="0">
                <a:solidFill>
                  <a:srgbClr val="A8D4FF"/>
                </a:solidFill>
                <a:latin typeface="Manrope"/>
                <a:ea typeface="Manrope"/>
                <a:cs typeface="Manrope"/>
              </a:rPr>
              <a:t>SEO</a:t>
            </a:r>
          </a:p>
        </p:txBody>
      </p:sp>
      <p:sp>
        <p:nvSpPr>
          <p:cNvPr id="12" name="Keyword research, on-page optimisation and off-page work.">
            <a:extLst xmlns:a="http://schemas.openxmlformats.org/drawingml/2006/main">
              <a:ext uri="{FF2B5EF4-FFF2-40B4-BE49-F238E27FC236}">
                <a16:creationId xmlns:a16="http://schemas.microsoft.com/office/drawing/2014/main" id="{5A993989-B0C8-4337-A811-8592BEBF8327}"/>
              </a:ext>
            </a:extLst>
          </p:cNvPr>
          <p:cNvSpPr>
            <a:spLocks xmlns:a="http://schemas.openxmlformats.org/drawingml/2006/main" noGrp="1"/>
          </p:cNvSpPr>
          <p:nvPr/>
        </p:nvSpPr>
        <p:spPr>
          <a:xfrm xmlns:a="http://schemas.openxmlformats.org/drawingml/2006/main">
            <a:off x="619125" y="5391150"/>
            <a:ext cx="48387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A9B8CA"/>
                </a:solidFill>
                <a:latin typeface="Manrope"/>
                <a:ea typeface="Manrope"/>
                <a:cs typeface="Manrope"/>
              </a:defRPr>
            </a:defPPr>
          </a:lstStyle>
          <a:p xmlns:a="http://schemas.openxmlformats.org/drawingml/2006/main">
            <a:pPr>
              <a:lnSpc>
                <a:spcPct val="105000"/>
              </a:lnSpc>
              <a:buNone/>
              <a:defRPr sz="1650" b="0">
                <a:solidFill>
                  <a:srgbClr val="A9B8CA"/>
                </a:solidFill>
                <a:latin typeface="Manrope"/>
                <a:ea typeface="Manrope"/>
                <a:cs typeface="Manrope"/>
              </a:defRPr>
            </a:pPr>
            <a:r>
              <a:rPr sz="1650" b="0" spc="70">
                <a:solidFill>
                  <a:srgbClr val="A9B8CA"/>
                </a:solidFill>
                <a:latin typeface="Manrope"/>
                <a:ea typeface="Manrope"/>
                <a:cs typeface="Manrope"/>
              </a:rPr>
              <a:t>Keyword research, on-page optimisation and off-page work.</a:t>
            </a:r>
          </a:p>
        </p:txBody>
      </p:sp>
      <p:sp>
        <p:nvSpPr>
          <p:cNvPr id="13" name="AI automation">
            <a:extLst xmlns:a="http://schemas.openxmlformats.org/drawingml/2006/main">
              <a:ext uri="{FF2B5EF4-FFF2-40B4-BE49-F238E27FC236}">
                <a16:creationId xmlns:a16="http://schemas.microsoft.com/office/drawing/2014/main" id="{1ECCA6BF-BAA7-4EFE-AFDA-7AB1D10D0BBE}"/>
              </a:ext>
            </a:extLst>
          </p:cNvPr>
          <p:cNvSpPr>
            <a:spLocks xmlns:a="http://schemas.openxmlformats.org/drawingml/2006/main" noGrp="1"/>
          </p:cNvSpPr>
          <p:nvPr/>
        </p:nvSpPr>
        <p:spPr>
          <a:xfrm xmlns:a="http://schemas.openxmlformats.org/drawingml/2006/main">
            <a:off x="6496050" y="4876800"/>
            <a:ext cx="4829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A8D4FF"/>
                </a:solidFill>
                <a:latin typeface="Manrope"/>
                <a:ea typeface="Manrope"/>
                <a:cs typeface="Manrope"/>
              </a:defRPr>
            </a:defPPr>
          </a:lstStyle>
          <a:p xmlns:a="http://schemas.openxmlformats.org/drawingml/2006/main">
            <a:pPr>
              <a:lnSpc>
                <a:spcPct val="105000"/>
              </a:lnSpc>
              <a:buNone/>
              <a:defRPr sz="1875" b="1">
                <a:solidFill>
                  <a:srgbClr val="A8D4FF"/>
                </a:solidFill>
                <a:latin typeface="Manrope"/>
                <a:ea typeface="Manrope"/>
                <a:cs typeface="Manrope"/>
              </a:defRPr>
            </a:pPr>
            <a:r>
              <a:rPr sz="1875" b="1" spc="0">
                <a:solidFill>
                  <a:srgbClr val="A8D4FF"/>
                </a:solidFill>
                <a:latin typeface="Manrope"/>
                <a:ea typeface="Manrope"/>
                <a:cs typeface="Manrope"/>
              </a:rPr>
              <a:t>AI automation</a:t>
            </a:r>
          </a:p>
        </p:txBody>
      </p:sp>
      <p:sp>
        <p:nvSpPr>
          <p:cNvPr id="14" name="Lead qualification, voice agents, follow-up and appointment booking.">
            <a:extLst xmlns:a="http://schemas.openxmlformats.org/drawingml/2006/main">
              <a:ext uri="{FF2B5EF4-FFF2-40B4-BE49-F238E27FC236}">
                <a16:creationId xmlns:a16="http://schemas.microsoft.com/office/drawing/2014/main" id="{E895F9A3-ED15-4FFD-95C9-DD2C7E59404B}"/>
              </a:ext>
            </a:extLst>
          </p:cNvPr>
          <p:cNvSpPr>
            <a:spLocks xmlns:a="http://schemas.openxmlformats.org/drawingml/2006/main" noGrp="1"/>
          </p:cNvSpPr>
          <p:nvPr/>
        </p:nvSpPr>
        <p:spPr>
          <a:xfrm xmlns:a="http://schemas.openxmlformats.org/drawingml/2006/main">
            <a:off x="6496050" y="5391150"/>
            <a:ext cx="48291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A9B8CA"/>
                </a:solidFill>
                <a:latin typeface="Manrope"/>
                <a:ea typeface="Manrope"/>
                <a:cs typeface="Manrope"/>
              </a:defRPr>
            </a:defPPr>
          </a:lstStyle>
          <a:p xmlns:a="http://schemas.openxmlformats.org/drawingml/2006/main">
            <a:pPr>
              <a:lnSpc>
                <a:spcPct val="105000"/>
              </a:lnSpc>
              <a:buNone/>
              <a:defRPr sz="1650" b="0">
                <a:solidFill>
                  <a:srgbClr val="A9B8CA"/>
                </a:solidFill>
                <a:latin typeface="Manrope"/>
                <a:ea typeface="Manrope"/>
                <a:cs typeface="Manrope"/>
              </a:defRPr>
            </a:pPr>
            <a:r>
              <a:rPr sz="1650" b="0" spc="70">
                <a:solidFill>
                  <a:srgbClr val="A9B8CA"/>
                </a:solidFill>
                <a:latin typeface="Manrope"/>
                <a:ea typeface="Manrope"/>
                <a:cs typeface="Manrope"/>
              </a:rPr>
              <a:t>Lead qualification, voice agents, follow-up and appointment booking.</a:t>
            </a:r>
          </a:p>
        </p:txBody>
      </p:sp>
    </p:spTree>
    <p:extLst>
      <p:ext uri="{BB962C8B-B14F-4D97-AF65-F5344CB8AC3E}">
        <p14:creationId xmlns:p14="http://schemas.microsoft.com/office/powerpoint/2010/main" val="382300452"/>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fill="hold"/>
                                  <p:tgtEl>
                                    <p:spTgt spid="6"/>
                                  </p:tgtEl>
                                </p:cBhvr>
                              </p:animEffect>
                              <p:anim calcmode="lin" valueType="num">
                                <p:cBhvr additive="base">
                                  <p:cTn id="7" dur="550" fill="hold" decel="60000"/>
                                  <p:tgtEl>
                                    <p:spTgt spid="6"/>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50" fill="hold"/>
                                  <p:tgtEl>
                                    <p:spTgt spid="7"/>
                                  </p:tgtEl>
                                </p:cBhvr>
                              </p:animEffect>
                            </p:childTnLst>
                          </p:cTn>
                        </p:par>
                        <p:par>
                          <p:cTn id="11" presetID="10" presetClass="entr" presetSubtype="0" fill="hold" grpId="0" nodeType="withEffect">
                            <p:stCondLst>
                              <p:cond delay="38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50" fill="hold"/>
                                  <p:tgtEl>
                                    <p:spTgt spid="8"/>
                                  </p:tgtEl>
                                </p:cBhvr>
                              </p:animEffect>
                            </p:childTnLst>
                          </p:cTn>
                        </p:par>
                        <p:par>
                          <p:cTn id="14" presetID="10" presetClass="entr" presetSubtype="0" fill="hold" grpId="0" nodeType="withEffect">
                            <p:stCondLst>
                              <p:cond delay="495"/>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50" fill="hold"/>
                                  <p:tgtEl>
                                    <p:spTgt spid="9"/>
                                  </p:tgtEl>
                                </p:cBhvr>
                              </p:animEffect>
                            </p:childTnLst>
                          </p:cTn>
                        </p:par>
                        <p:par>
                          <p:cTn id="17" presetID="10" presetClass="entr" presetSubtype="0" fill="hold" grpId="0" nodeType="withEffect">
                            <p:stCondLst>
                              <p:cond delay="61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50" fill="hold"/>
                                  <p:tgtEl>
                                    <p:spTgt spid="10"/>
                                  </p:tgtEl>
                                </p:cBhvr>
                              </p:animEffect>
                            </p:childTnLst>
                          </p:cTn>
                        </p:par>
                        <p:par>
                          <p:cTn id="20" presetID="10" presetClass="entr" presetSubtype="0" fill="hold" grpId="0" nodeType="withEffect">
                            <p:stCondLst>
                              <p:cond delay="725"/>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fill="hold"/>
                                  <p:tgtEl>
                                    <p:spTgt spid="11"/>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50" fill="hold"/>
                                  <p:tgtEl>
                                    <p:spTgt spid="12"/>
                                  </p:tgtEl>
                                </p:cBhvr>
                              </p:animEffect>
                            </p:childTnLst>
                          </p:cTn>
                        </p:par>
                        <p:par>
                          <p:cTn id="26" presetID="10" presetClass="entr" presetSubtype="0" fill="hold" grpId="0" nodeType="withEffect">
                            <p:stCondLst>
                              <p:cond delay="955"/>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fill="hold"/>
                                  <p:tgtEl>
                                    <p:spTgt spid="13"/>
                                  </p:tgtEl>
                                </p:cBhvr>
                              </p:animEffect>
                            </p:childTnLst>
                          </p:cTn>
                        </p:par>
                        <p:par>
                          <p:cTn id="29" presetID="10" presetClass="entr" presetSubtype="0" fill="hold" grpId="0" nodeType="withEffect">
                            <p:stCondLst>
                              <p:cond delay="107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P spid="9" grpId="0" build="allAtOnce"/>
      <p:bldP spid="10" grpId="0" build="allAtOnce"/>
      <p:bldP spid="11" grpId="0" build="allAtOnce"/>
      <p:bldP spid="12" grpId="0" build="allAtOnce"/>
      <p:bldP spid="13" grpId="0" build="allAtOnce"/>
      <p:bldP spid="14" grpId="0" build="allAtOnce"/>
    </p:bldLst>
  </p:timing>
</p:sld>
</file>

<file path=ppt/slides/slide12.xml><?xml version="1.0" encoding="utf-8"?>
<p:sld xmlns:p="http://schemas.openxmlformats.org/presentationml/2006/main">
  <p:cSld>
    <p:bg>
      <p:bgPr>
        <a:solidFill xmlns:a="http://schemas.openxmlformats.org/drawingml/2006/main">
          <a:srgbClr val="F3F5F7"/>
        </a:solidFill>
      </p:bgPr>
    </p:bg>
    <p:spTree>
      <p:nvGrpSpPr>
        <p:cNvPr id="1" name=""/>
        <p:cNvGrpSpPr/>
        <p:nvPr/>
      </p:nvGrpSpPr>
      <p:grpSpPr>
        <a:xfrm xmlns:a="http://schemas.openxmlformats.org/drawingml/2006/main"/>
      </p:grpSpPr>
      <p:sp>
        <p:nvSpPr>
          <p:cNvPr id="8" name="11 / BEHIND THE WORK">
            <a:extLst xmlns:a="http://schemas.openxmlformats.org/drawingml/2006/main">
              <a:ext uri="{FF2B5EF4-FFF2-40B4-BE49-F238E27FC236}">
                <a16:creationId xmlns:a16="http://schemas.microsoft.com/office/drawing/2014/main" id="{EFE85F7D-F57F-4446-A5B3-C93B29370DE3}"/>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15375B"/>
                </a:solidFill>
                <a:latin typeface="Manrope"/>
                <a:ea typeface="Manrope"/>
                <a:cs typeface="Manrope"/>
              </a:defRPr>
            </a:defPPr>
          </a:lstStyle>
          <a:p xmlns:a="http://schemas.openxmlformats.org/drawingml/2006/main">
            <a:pPr>
              <a:lnSpc>
                <a:spcPct val="105000"/>
              </a:lnSpc>
              <a:buNone/>
              <a:defRPr sz="1050" b="1">
                <a:solidFill>
                  <a:srgbClr val="15375B"/>
                </a:solidFill>
                <a:latin typeface="Manrope"/>
                <a:ea typeface="Manrope"/>
                <a:cs typeface="Manrope"/>
              </a:defRPr>
            </a:pPr>
            <a:r>
              <a:rPr sz="1050" b="1">
                <a:solidFill>
                  <a:srgbClr val="15375B"/>
                </a:solidFill>
                <a:latin typeface="Manrope"/>
                <a:ea typeface="Manrope"/>
                <a:cs typeface="Manrope"/>
              </a:rPr>
              <a:t>11 / BEHIND THE WORK</a:t>
            </a:r>
          </a:p>
        </p:txBody>
      </p:sp>
      <p:sp>
        <p:nvSpPr>
          <p:cNvPr id="2" name="KHAWAJA SAIM">
            <a:extLst xmlns:a="http://schemas.openxmlformats.org/drawingml/2006/main">
              <a:ext uri="{FF2B5EF4-FFF2-40B4-BE49-F238E27FC236}">
                <a16:creationId xmlns:a16="http://schemas.microsoft.com/office/drawing/2014/main" id="{5F8DF0CC-9717-49AC-BEBD-A5D6CF735859}"/>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15375B"/>
                </a:solidFill>
                <a:latin typeface="Manrope"/>
                <a:ea typeface="Manrope"/>
                <a:cs typeface="Manrope"/>
              </a:defRPr>
            </a:defPPr>
          </a:lstStyle>
          <a:p xmlns:a="http://schemas.openxmlformats.org/drawingml/2006/main">
            <a:pPr>
              <a:lnSpc>
                <a:spcPct val="105000"/>
              </a:lnSpc>
              <a:buNone/>
              <a:defRPr sz="900" b="1">
                <a:solidFill>
                  <a:srgbClr val="15375B"/>
                </a:solidFill>
                <a:latin typeface="Manrope"/>
                <a:ea typeface="Manrope"/>
                <a:cs typeface="Manrope"/>
              </a:defRPr>
            </a:pPr>
            <a:r>
              <a:rPr sz="900" b="1">
                <a:solidFill>
                  <a:srgbClr val="15375B"/>
                </a:solidFill>
                <a:latin typeface="Manrope"/>
                <a:ea typeface="Manrope"/>
                <a:cs typeface="Manrope"/>
              </a:rPr>
              <a:t>KHAWAJA SAIM</a:t>
            </a:r>
          </a:p>
        </p:txBody>
      </p:sp>
      <p:sp>
        <p:nvSpPr>
          <p:cNvPr id="3" name="12">
            <a:extLst xmlns:a="http://schemas.openxmlformats.org/drawingml/2006/main">
              <a:ext uri="{FF2B5EF4-FFF2-40B4-BE49-F238E27FC236}">
                <a16:creationId xmlns:a16="http://schemas.microsoft.com/office/drawing/2014/main" id="{EC38CB85-BCD3-422C-A1CD-FDE58AAC49F5}"/>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15375B"/>
                </a:solidFill>
                <a:latin typeface="Manrope"/>
                <a:ea typeface="Manrope"/>
                <a:cs typeface="Manrope"/>
              </a:defRPr>
            </a:defPPr>
          </a:lstStyle>
          <a:p xmlns:a="http://schemas.openxmlformats.org/drawingml/2006/main">
            <a:pPr>
              <a:lnSpc>
                <a:spcPct val="105000"/>
              </a:lnSpc>
              <a:buNone/>
              <a:defRPr sz="1050" b="0">
                <a:solidFill>
                  <a:srgbClr val="15375B"/>
                </a:solidFill>
                <a:latin typeface="Manrope"/>
                <a:ea typeface="Manrope"/>
                <a:cs typeface="Manrope"/>
              </a:defRPr>
            </a:pPr>
            <a:r>
              <a:rPr sz="1050" b="0">
                <a:solidFill>
                  <a:srgbClr val="15375B"/>
                </a:solidFill>
                <a:latin typeface="Manrope"/>
                <a:ea typeface="Manrope"/>
                <a:cs typeface="Manrope"/>
              </a:rPr>
              <a:t>12</a:t>
            </a:r>
          </a:p>
        </p:txBody>
      </p:sp>
      <p:sp>
        <p:nvSpPr>
          <p:cNvPr id="4" name="Five years.&#10;One connected&#10;approach.">
            <a:extLst xmlns:a="http://schemas.openxmlformats.org/drawingml/2006/main">
              <a:ext uri="{FF2B5EF4-FFF2-40B4-BE49-F238E27FC236}">
                <a16:creationId xmlns:a16="http://schemas.microsoft.com/office/drawing/2014/main" id="{C3721917-3ED3-4C0A-8E22-B42FB6BFA79E}"/>
              </a:ext>
            </a:extLst>
          </p:cNvPr>
          <p:cNvSpPr>
            <a:spLocks xmlns:a="http://schemas.openxmlformats.org/drawingml/2006/main" noGrp="1"/>
          </p:cNvSpPr>
          <p:nvPr/>
        </p:nvSpPr>
        <p:spPr>
          <a:xfrm xmlns:a="http://schemas.openxmlformats.org/drawingml/2006/main">
            <a:off x="600075" y="1104900"/>
            <a:ext cx="1038225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025" b="1">
                <a:solidFill>
                  <a:srgbClr val="080D15"/>
                </a:solidFill>
                <a:latin typeface="Sora"/>
                <a:ea typeface="Sora"/>
                <a:cs typeface="Sora"/>
              </a:defRPr>
            </a:defPPr>
          </a:lstStyle>
          <a:p xmlns:a="http://schemas.openxmlformats.org/drawingml/2006/main">
            <a:pPr>
              <a:lnSpc>
                <a:spcPct val="105000"/>
              </a:lnSpc>
              <a:buNone/>
              <a:defRPr sz="5025" b="1">
                <a:solidFill>
                  <a:srgbClr val="080D15"/>
                </a:solidFill>
                <a:latin typeface="Sora"/>
                <a:ea typeface="Sora"/>
                <a:cs typeface="Sora"/>
              </a:defRPr>
            </a:pPr>
            <a:r>
              <a:rPr sz="5025" b="1" spc="-30">
                <a:solidFill>
                  <a:srgbClr val="080D15"/>
                </a:solidFill>
                <a:latin typeface="Sora"/>
                <a:ea typeface="Sora"/>
                <a:cs typeface="Sora"/>
              </a:rPr>
              <a:t>Five years.</a:t>
            </a:r>
          </a:p>
          <a:p xmlns:a="http://schemas.openxmlformats.org/drawingml/2006/main">
            <a:pPr>
              <a:lnSpc>
                <a:spcPct val="105000"/>
              </a:lnSpc>
              <a:buNone/>
              <a:defRPr sz="5025" b="1">
                <a:solidFill>
                  <a:srgbClr val="080D15"/>
                </a:solidFill>
                <a:latin typeface="Sora"/>
                <a:ea typeface="Sora"/>
                <a:cs typeface="Sora"/>
              </a:defRPr>
            </a:pPr>
            <a:r>
              <a:rPr sz="5025" b="1" spc="-30">
                <a:solidFill>
                  <a:srgbClr val="080D15"/>
                </a:solidFill>
                <a:latin typeface="Sora"/>
                <a:ea typeface="Sora"/>
                <a:cs typeface="Sora"/>
              </a:rPr>
              <a:t>One connected</a:t>
            </a:r>
          </a:p>
          <a:p xmlns:a="http://schemas.openxmlformats.org/drawingml/2006/main">
            <a:pPr>
              <a:lnSpc>
                <a:spcPct val="105000"/>
              </a:lnSpc>
              <a:buNone/>
              <a:defRPr sz="5025" b="1">
                <a:solidFill>
                  <a:srgbClr val="080D15"/>
                </a:solidFill>
                <a:latin typeface="Sora"/>
                <a:ea typeface="Sora"/>
                <a:cs typeface="Sora"/>
              </a:defRPr>
            </a:pPr>
            <a:r>
              <a:rPr sz="5025" b="1" spc="-30">
                <a:solidFill>
                  <a:srgbClr val="080D15"/>
                </a:solidFill>
                <a:latin typeface="Sora"/>
                <a:ea typeface="Sora"/>
                <a:cs typeface="Sora"/>
              </a:rPr>
              <a:t>approach.</a:t>
            </a:r>
          </a:p>
        </p:txBody>
      </p:sp>
      <p:sp>
        <p:nvSpPr>
          <p:cNvPr id="5" name="Khawaja Saim Sohail">
            <a:extLst xmlns:a="http://schemas.openxmlformats.org/drawingml/2006/main">
              <a:ext uri="{FF2B5EF4-FFF2-40B4-BE49-F238E27FC236}">
                <a16:creationId xmlns:a16="http://schemas.microsoft.com/office/drawing/2014/main" id="{FF65E5F1-8577-44DA-8211-669674499FD6}"/>
              </a:ext>
            </a:extLst>
          </p:cNvPr>
          <p:cNvSpPr>
            <a:spLocks xmlns:a="http://schemas.openxmlformats.org/drawingml/2006/main" noGrp="1"/>
          </p:cNvSpPr>
          <p:nvPr/>
        </p:nvSpPr>
        <p:spPr>
          <a:xfrm xmlns:a="http://schemas.openxmlformats.org/drawingml/2006/main">
            <a:off x="638175" y="40195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15375B"/>
                </a:solidFill>
                <a:latin typeface="Sora"/>
                <a:ea typeface="Sora"/>
                <a:cs typeface="Sora"/>
              </a:defRPr>
            </a:defPPr>
          </a:lstStyle>
          <a:p xmlns:a="http://schemas.openxmlformats.org/drawingml/2006/main">
            <a:pPr>
              <a:lnSpc>
                <a:spcPct val="105000"/>
              </a:lnSpc>
              <a:buNone/>
              <a:defRPr sz="2625" b="1">
                <a:solidFill>
                  <a:srgbClr val="15375B"/>
                </a:solidFill>
                <a:latin typeface="Sora"/>
                <a:ea typeface="Sora"/>
                <a:cs typeface="Sora"/>
              </a:defRPr>
            </a:pPr>
            <a:r>
              <a:rPr sz="2625" b="1" spc="0">
                <a:solidFill>
                  <a:srgbClr val="15375B"/>
                </a:solidFill>
                <a:latin typeface="Sora"/>
                <a:ea typeface="Sora"/>
                <a:cs typeface="Sora"/>
              </a:rPr>
              <a:t>Khawaja Saim Sohail</a:t>
            </a:r>
          </a:p>
        </p:txBody>
      </p:sp>
      <p:sp>
        <p:nvSpPr>
          <p:cNvPr id="6" name="Based in Lahore, Pakistan. I connect paid advertising, social media an">
            <a:extLst xmlns:a="http://schemas.openxmlformats.org/drawingml/2006/main">
              <a:ext uri="{FF2B5EF4-FFF2-40B4-BE49-F238E27FC236}">
                <a16:creationId xmlns:a16="http://schemas.microsoft.com/office/drawing/2014/main" id="{D320BB34-361B-4CAC-BA41-DA898286B3DD}"/>
              </a:ext>
            </a:extLst>
          </p:cNvPr>
          <p:cNvSpPr>
            <a:spLocks xmlns:a="http://schemas.openxmlformats.org/drawingml/2006/main" noGrp="1"/>
          </p:cNvSpPr>
          <p:nvPr/>
        </p:nvSpPr>
        <p:spPr>
          <a:xfrm xmlns:a="http://schemas.openxmlformats.org/drawingml/2006/main">
            <a:off x="638175" y="4762500"/>
            <a:ext cx="73723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06079"/>
                </a:solidFill>
                <a:latin typeface="Manrope"/>
                <a:ea typeface="Manrope"/>
                <a:cs typeface="Manrope"/>
              </a:defRPr>
            </a:defPPr>
          </a:lstStyle>
          <a:p xmlns:a="http://schemas.openxmlformats.org/drawingml/2006/main">
            <a:pPr>
              <a:lnSpc>
                <a:spcPct val="105000"/>
              </a:lnSpc>
              <a:buNone/>
              <a:defRPr sz="2025" b="0">
                <a:solidFill>
                  <a:srgbClr val="506079"/>
                </a:solidFill>
                <a:latin typeface="Manrope"/>
                <a:ea typeface="Manrope"/>
                <a:cs typeface="Manrope"/>
              </a:defRPr>
            </a:pPr>
            <a:r>
              <a:rPr sz="2025" b="0" spc="0">
                <a:solidFill>
                  <a:srgbClr val="506079"/>
                </a:solidFill>
                <a:latin typeface="Manrope"/>
                <a:ea typeface="Manrope"/>
                <a:cs typeface="Manrope"/>
              </a:rPr>
              <a:t>Based in Lahore, Pakistan. I connect paid advertising, social media and SEO with the full customer journey.</a:t>
            </a:r>
          </a:p>
        </p:txBody>
      </p:sp>
      <p:sp>
        <p:nvSpPr>
          <p:cNvPr id="7" name="Khawaja Saim">
            <a:extLst xmlns:a="http://schemas.openxmlformats.org/drawingml/2006/main">
              <a:ext uri="{FF2B5EF4-FFF2-40B4-BE49-F238E27FC236}">
                <a16:creationId xmlns:a16="http://schemas.microsoft.com/office/drawing/2014/main" id="{AEBB7662-E41B-4EFE-AC9A-60F022AB8A22}"/>
              </a:ext>
            </a:extLst>
          </p:cNvPr>
          <p:cNvSpPr>
            <a:spLocks xmlns:a="http://schemas.openxmlformats.org/drawingml/2006/main" noGrp="1"/>
          </p:cNvSpPr>
          <p:nvPr/>
        </p:nvSpPr>
        <p:spPr>
          <a:xfrm xmlns:a="http://schemas.openxmlformats.org/drawingml/2006/main">
            <a:off x="8562975" y="5057775"/>
            <a:ext cx="2971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75" b="0">
                <a:solidFill>
                  <a:srgbClr val="15375B"/>
                </a:solidFill>
                <a:latin typeface="Caveat"/>
                <a:ea typeface="Caveat"/>
                <a:cs typeface="Caveat"/>
              </a:defRPr>
            </a:defPPr>
          </a:lstStyle>
          <a:p xmlns:a="http://schemas.openxmlformats.org/drawingml/2006/main">
            <a:pPr>
              <a:lnSpc>
                <a:spcPct val="105000"/>
              </a:lnSpc>
              <a:buNone/>
              <a:defRPr sz="3375" b="0">
                <a:solidFill>
                  <a:srgbClr val="15375B"/>
                </a:solidFill>
                <a:latin typeface="Caveat"/>
                <a:ea typeface="Caveat"/>
                <a:cs typeface="Caveat"/>
              </a:defRPr>
            </a:pPr>
            <a:r>
              <a:rPr sz="3375" b="0" spc="-30">
                <a:solidFill>
                  <a:srgbClr val="15375B"/>
                </a:solidFill>
                <a:latin typeface="Caveat"/>
                <a:ea typeface="Caveat"/>
                <a:cs typeface="Caveat"/>
              </a:rPr>
              <a:t>Khawaja Saim</a:t>
            </a:r>
          </a:p>
        </p:txBody>
      </p:sp>
    </p:spTree>
    <p:extLst>
      <p:ext uri="{BB962C8B-B14F-4D97-AF65-F5344CB8AC3E}">
        <p14:creationId xmlns:p14="http://schemas.microsoft.com/office/powerpoint/2010/main" val="1762200262"/>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720" fill="hold"/>
                                  <p:tgtEl>
                                    <p:spTgt spid="4"/>
                                  </p:tgtEl>
                                </p:cBhvr>
                              </p:animEffect>
                              <p:anim calcmode="lin" valueType="num">
                                <p:cBhvr additive="base">
                                  <p:cTn id="7" dur="720" fill="hold" decel="60000"/>
                                  <p:tgtEl>
                                    <p:spTgt spid="4"/>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fill="hold"/>
                                  <p:tgtEl>
                                    <p:spTgt spid="5"/>
                                  </p:tgtEl>
                                </p:cBhvr>
                              </p:animEffect>
                              <p:anim calcmode="lin" valueType="num">
                                <p:cBhvr additive="base">
                                  <p:cTn id="11" dur="550" fill="hold" decel="60000"/>
                                  <p:tgtEl>
                                    <p:spTgt spid="5"/>
                                  </p:tgtEl>
                                  <p:attrNameLst>
                                    <p:attrName>ppt_y</p:attrName>
                                  </p:attrNameLst>
                                </p:cBhvr>
                                <p:tavLst>
                                  <p:tav tm="0">
                                    <p:val>
                                      <p:strVal val="#ppt_y+0.025"/>
                                    </p:val>
                                  </p:tav>
                                  <p:tav tm="100000">
                                    <p:val>
                                      <p:strVal val="#ppt_y"/>
                                    </p:val>
                                  </p:tav>
                                </p:tavLst>
                              </p:anim>
                            </p:childTnLst>
                          </p:cTn>
                        </p:par>
                        <p:par>
                          <p:cTn id="12" presetID="10" presetClass="entr" presetSubtype="0" fill="hold" grpId="0" nodeType="withEffect">
                            <p:stCondLst>
                              <p:cond delay="38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50" fill="hold"/>
                                  <p:tgtEl>
                                    <p:spTgt spid="6"/>
                                  </p:tgtEl>
                                </p:cBhvr>
                              </p:animEffect>
                            </p:childTnLst>
                          </p:cTn>
                        </p:par>
                        <p:par>
                          <p:cTn id="15" presetID="10" presetClass="entr" presetSubtype="0" fill="hold" grpId="0" nodeType="withEffect">
                            <p:stCondLst>
                              <p:cond delay="495"/>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fill="hold"/>
                                  <p:tgtEl>
                                    <p:spTgt spid="7"/>
                                  </p:tgtEl>
                                </p:cBhvr>
                              </p:animEffect>
                              <p:anim calcmode="lin" valueType="num">
                                <p:cBhvr additive="base">
                                  <p:cTn id="18" dur="550" fill="hold" decel="60000"/>
                                  <p:tgtEl>
                                    <p:spTgt spid="7"/>
                                  </p:tgtEl>
                                  <p:attrNameLst>
                                    <p:attrName>ppt_y</p:attrName>
                                  </p:attrNameLst>
                                </p:cBhvr>
                                <p:tavLst>
                                  <p:tav tm="0">
                                    <p:val>
                                      <p:strVal val="#ppt_y+0.025"/>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7" grpId="0" build="allAtOnce"/>
    </p:bldLst>
  </p:timing>
</p:sld>
</file>

<file path=ppt/slides/slide13.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02101DB2-D1D0-40C0-8BD5-DD356856FBB0}"/>
              </a:ext>
            </a:extLst>
          </p:cNvPr>
          <p:cNvPicPr>
            <a:picLocks xmlns:a="http://schemas.openxmlformats.org/drawingml/2006/main" noChangeAspect="1"/>
          </p:cNvPicPr>
          <p:nvPr/>
        </p:nvPicPr>
        <p:blipFill>
          <a:blip xmlns:r="http://schemas.openxmlformats.org/officeDocument/2006/relationships" xmlns:a="http://schemas.openxmlformats.org/drawingml/2006/main" r:embed="R891991d099e3472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D82076-71A5-406C-BBF3-C7C859A03B5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D15">
              <a:alpha val="45000"/>
            </a:srgbClr>
          </a:solidFill>
          <a:ln xmlns:a="http://schemas.openxmlformats.org/drawingml/2006/main" w="0">
            <a:noFill/>
          </a:ln>
        </p:spPr>
      </p:sp>
      <p:sp>
        <p:nvSpPr>
          <p:cNvPr id="3" name="12 / THE GROWTH SYSTEM">
            <a:extLst xmlns:a="http://schemas.openxmlformats.org/drawingml/2006/main">
              <a:ext uri="{FF2B5EF4-FFF2-40B4-BE49-F238E27FC236}">
                <a16:creationId xmlns:a16="http://schemas.microsoft.com/office/drawing/2014/main" id="{D65E3F07-A2B3-4F9F-8B36-5C820B2AF22A}"/>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12 / THE GROWTH SYSTEM</a:t>
            </a:r>
          </a:p>
        </p:txBody>
      </p:sp>
      <p:sp>
        <p:nvSpPr>
          <p:cNvPr id="4" name="KHAWAJA SAIM">
            <a:extLst xmlns:a="http://schemas.openxmlformats.org/drawingml/2006/main">
              <a:ext uri="{FF2B5EF4-FFF2-40B4-BE49-F238E27FC236}">
                <a16:creationId xmlns:a16="http://schemas.microsoft.com/office/drawing/2014/main" id="{E8AC2999-A1C1-4957-97C9-0DFBADE8BCFE}"/>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5" name="13">
            <a:extLst xmlns:a="http://schemas.openxmlformats.org/drawingml/2006/main">
              <a:ext uri="{FF2B5EF4-FFF2-40B4-BE49-F238E27FC236}">
                <a16:creationId xmlns:a16="http://schemas.microsoft.com/office/drawing/2014/main" id="{811DEDB4-F774-4857-9A2F-080BDBDF2434}"/>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13</a:t>
            </a:r>
          </a:p>
        </p:txBody>
      </p:sp>
      <p:sp>
        <p:nvSpPr>
          <p:cNvPr id="6" name="Attention is&#10;the beginning.">
            <a:extLst xmlns:a="http://schemas.openxmlformats.org/drawingml/2006/main">
              <a:ext uri="{FF2B5EF4-FFF2-40B4-BE49-F238E27FC236}">
                <a16:creationId xmlns:a16="http://schemas.microsoft.com/office/drawing/2014/main" id="{545A2D90-96F5-481F-BA60-64BDE0E23979}"/>
              </a:ext>
            </a:extLst>
          </p:cNvPr>
          <p:cNvSpPr>
            <a:spLocks xmlns:a="http://schemas.openxmlformats.org/drawingml/2006/main" noGrp="1"/>
          </p:cNvSpPr>
          <p:nvPr/>
        </p:nvSpPr>
        <p:spPr>
          <a:xfrm xmlns:a="http://schemas.openxmlformats.org/drawingml/2006/main">
            <a:off x="600075" y="1190625"/>
            <a:ext cx="4953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05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4050" b="1">
                <a:solidFill>
                  <a:srgbClr val="F3F5F7"/>
                </a:solidFill>
                <a:latin typeface="Sora"/>
                <a:ea typeface="Sora"/>
                <a:cs typeface="Sora"/>
              </a:defRPr>
            </a:pPr>
            <a:r>
              <a:rPr sz="4050" b="1" spc="-30">
                <a:gradFill>
                  <a:gsLst>
                    <a:gs pos="0">
                      <a:srgbClr val="F4F8FF"/>
                    </a:gs>
                    <a:gs pos="55000">
                      <a:srgbClr val="B2DFFF"/>
                    </a:gs>
                    <a:gs pos="100000">
                      <a:srgbClr val="548EE1"/>
                    </a:gs>
                  </a:gsLst>
                  <a:lin ang="0"/>
                </a:gradFill>
                <a:latin typeface="Sora"/>
                <a:ea typeface="Sora"/>
                <a:cs typeface="Sora"/>
              </a:rPr>
              <a:t>Attention is</a:t>
            </a:r>
          </a:p>
          <a:p xmlns:a="http://schemas.openxmlformats.org/drawingml/2006/main">
            <a:pPr>
              <a:lnSpc>
                <a:spcPct val="105000"/>
              </a:lnSpc>
              <a:buNone/>
              <a:defRPr sz="4050" b="1">
                <a:solidFill>
                  <a:srgbClr val="F3F5F7"/>
                </a:solidFill>
                <a:latin typeface="Sora"/>
                <a:ea typeface="Sora"/>
                <a:cs typeface="Sora"/>
              </a:defRPr>
            </a:pPr>
            <a:r>
              <a:rPr sz="4050" b="1" spc="-30">
                <a:gradFill>
                  <a:gsLst>
                    <a:gs pos="0">
                      <a:srgbClr val="F4F8FF"/>
                    </a:gs>
                    <a:gs pos="55000">
                      <a:srgbClr val="B2DFFF"/>
                    </a:gs>
                    <a:gs pos="100000">
                      <a:srgbClr val="548EE1"/>
                    </a:gs>
                  </a:gsLst>
                  <a:lin ang="0"/>
                </a:gradFill>
                <a:latin typeface="Sora"/>
                <a:ea typeface="Sora"/>
                <a:cs typeface="Sora"/>
              </a:rPr>
              <a:t>the beginning.</a:t>
            </a:r>
          </a:p>
        </p:txBody>
      </p:sp>
      <p:sp>
        <p:nvSpPr>
          <p:cNvPr id="7" name="The campaign continues through acquisition, conversion and follow-up.">
            <a:extLst xmlns:a="http://schemas.openxmlformats.org/drawingml/2006/main">
              <a:ext uri="{FF2B5EF4-FFF2-40B4-BE49-F238E27FC236}">
                <a16:creationId xmlns:a16="http://schemas.microsoft.com/office/drawing/2014/main" id="{0CA4423D-7341-4F34-BBCA-829A4068866B}"/>
              </a:ext>
            </a:extLst>
          </p:cNvPr>
          <p:cNvSpPr>
            <a:spLocks xmlns:a="http://schemas.openxmlformats.org/drawingml/2006/main" noGrp="1"/>
          </p:cNvSpPr>
          <p:nvPr/>
        </p:nvSpPr>
        <p:spPr>
          <a:xfrm xmlns:a="http://schemas.openxmlformats.org/drawingml/2006/main">
            <a:off x="638175" y="3390900"/>
            <a:ext cx="441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A9B8CA"/>
                </a:solidFill>
                <a:latin typeface="Manrope"/>
                <a:ea typeface="Manrope"/>
                <a:cs typeface="Manrope"/>
              </a:defRPr>
            </a:defPPr>
          </a:lstStyle>
          <a:p xmlns:a="http://schemas.openxmlformats.org/drawingml/2006/main">
            <a:pPr>
              <a:lnSpc>
                <a:spcPct val="105000"/>
              </a:lnSpc>
              <a:buNone/>
              <a:defRPr sz="2100" b="0">
                <a:solidFill>
                  <a:srgbClr val="A9B8CA"/>
                </a:solidFill>
                <a:latin typeface="Manrope"/>
                <a:ea typeface="Manrope"/>
                <a:cs typeface="Manrope"/>
              </a:defRPr>
            </a:pPr>
            <a:r>
              <a:rPr sz="2100" b="0" spc="0">
                <a:solidFill>
                  <a:srgbClr val="A9B8CA"/>
                </a:solidFill>
                <a:latin typeface="Manrope"/>
                <a:ea typeface="Manrope"/>
                <a:cs typeface="Manrope"/>
              </a:rPr>
              <a:t>The campaign continues through acquisition, conversion and follow-up.</a:t>
            </a:r>
          </a:p>
        </p:txBody>
      </p:sp>
      <p:sp>
        <p:nvSpPr>
          <p:cNvPr id="8" name="01  Attention">
            <a:extLst xmlns:a="http://schemas.openxmlformats.org/drawingml/2006/main">
              <a:ext uri="{FF2B5EF4-FFF2-40B4-BE49-F238E27FC236}">
                <a16:creationId xmlns:a16="http://schemas.microsoft.com/office/drawing/2014/main" id="{886C03E5-EBDE-4405-A511-816DEE5C2401}"/>
              </a:ext>
            </a:extLst>
          </p:cNvPr>
          <p:cNvSpPr>
            <a:spLocks xmlns:a="http://schemas.openxmlformats.org/drawingml/2006/main" noGrp="1"/>
          </p:cNvSpPr>
          <p:nvPr/>
        </p:nvSpPr>
        <p:spPr>
          <a:xfrm xmlns:a="http://schemas.openxmlformats.org/drawingml/2006/main">
            <a:off x="6134100" y="116205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5F7"/>
                </a:solidFill>
                <a:latin typeface="Manrope"/>
                <a:ea typeface="Manrope"/>
                <a:cs typeface="Manrope"/>
              </a:defRPr>
            </a:defPPr>
          </a:lstStyle>
          <a:p xmlns:a="http://schemas.openxmlformats.org/drawingml/2006/main">
            <a:pPr>
              <a:lnSpc>
                <a:spcPct val="105000"/>
              </a:lnSpc>
              <a:buNone/>
              <a:defRPr sz="1800" b="1">
                <a:solidFill>
                  <a:srgbClr val="F3F5F7"/>
                </a:solidFill>
                <a:latin typeface="Manrope"/>
                <a:ea typeface="Manrope"/>
                <a:cs typeface="Manrope"/>
              </a:defRPr>
            </a:pPr>
            <a:r>
              <a:rPr sz="1800" b="1" spc="0">
                <a:solidFill>
                  <a:srgbClr val="F3F5F7"/>
                </a:solidFill>
                <a:latin typeface="Manrope"/>
                <a:ea typeface="Manrope"/>
                <a:cs typeface="Manrope"/>
              </a:rPr>
              <a:t>01  Attention</a:t>
            </a:r>
          </a:p>
        </p:txBody>
      </p:sp>
      <p:sp>
        <p:nvSpPr>
          <p:cNvPr id="9" name="Content creates relevance, familiarity and demand.">
            <a:extLst xmlns:a="http://schemas.openxmlformats.org/drawingml/2006/main">
              <a:ext uri="{FF2B5EF4-FFF2-40B4-BE49-F238E27FC236}">
                <a16:creationId xmlns:a16="http://schemas.microsoft.com/office/drawing/2014/main" id="{7ACB71A9-FD11-4696-9D7B-BE889C5CABEA}"/>
              </a:ext>
            </a:extLst>
          </p:cNvPr>
          <p:cNvSpPr>
            <a:spLocks xmlns:a="http://schemas.openxmlformats.org/drawingml/2006/main" noGrp="1"/>
          </p:cNvSpPr>
          <p:nvPr/>
        </p:nvSpPr>
        <p:spPr>
          <a:xfrm xmlns:a="http://schemas.openxmlformats.org/drawingml/2006/main">
            <a:off x="6134100" y="160972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Content creates relevance, familiarity and demand.</a:t>
            </a:r>
          </a:p>
        </p:txBody>
      </p:sp>
      <p:sp>
        <p:nvSpPr>
          <p:cNvPr id="10" name="02  Acquisition">
            <a:extLst xmlns:a="http://schemas.openxmlformats.org/drawingml/2006/main">
              <a:ext uri="{FF2B5EF4-FFF2-40B4-BE49-F238E27FC236}">
                <a16:creationId xmlns:a16="http://schemas.microsoft.com/office/drawing/2014/main" id="{C4E9103E-5D73-4F0D-9F79-E220752875BC}"/>
              </a:ext>
            </a:extLst>
          </p:cNvPr>
          <p:cNvSpPr>
            <a:spLocks xmlns:a="http://schemas.openxmlformats.org/drawingml/2006/main" noGrp="1"/>
          </p:cNvSpPr>
          <p:nvPr/>
        </p:nvSpPr>
        <p:spPr>
          <a:xfrm xmlns:a="http://schemas.openxmlformats.org/drawingml/2006/main">
            <a:off x="6134100" y="216217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5F7"/>
                </a:solidFill>
                <a:latin typeface="Manrope"/>
                <a:ea typeface="Manrope"/>
                <a:cs typeface="Manrope"/>
              </a:defRPr>
            </a:defPPr>
          </a:lstStyle>
          <a:p xmlns:a="http://schemas.openxmlformats.org/drawingml/2006/main">
            <a:pPr>
              <a:lnSpc>
                <a:spcPct val="105000"/>
              </a:lnSpc>
              <a:buNone/>
              <a:defRPr sz="1800" b="1">
                <a:solidFill>
                  <a:srgbClr val="F3F5F7"/>
                </a:solidFill>
                <a:latin typeface="Manrope"/>
                <a:ea typeface="Manrope"/>
                <a:cs typeface="Manrope"/>
              </a:defRPr>
            </a:pPr>
            <a:r>
              <a:rPr sz="1800" b="1" spc="0">
                <a:solidFill>
                  <a:srgbClr val="F3F5F7"/>
                </a:solidFill>
                <a:latin typeface="Manrope"/>
                <a:ea typeface="Manrope"/>
                <a:cs typeface="Manrope"/>
              </a:rPr>
              <a:t>02  Acquisition</a:t>
            </a:r>
          </a:p>
        </p:txBody>
      </p:sp>
      <p:sp>
        <p:nvSpPr>
          <p:cNvPr id="11" name="Ads connect the offer with the right audience.">
            <a:extLst xmlns:a="http://schemas.openxmlformats.org/drawingml/2006/main">
              <a:ext uri="{FF2B5EF4-FFF2-40B4-BE49-F238E27FC236}">
                <a16:creationId xmlns:a16="http://schemas.microsoft.com/office/drawing/2014/main" id="{8F7628EF-D8C6-429F-AD2F-40EF05FCAC1C}"/>
              </a:ext>
            </a:extLst>
          </p:cNvPr>
          <p:cNvSpPr>
            <a:spLocks xmlns:a="http://schemas.openxmlformats.org/drawingml/2006/main" noGrp="1"/>
          </p:cNvSpPr>
          <p:nvPr/>
        </p:nvSpPr>
        <p:spPr>
          <a:xfrm xmlns:a="http://schemas.openxmlformats.org/drawingml/2006/main">
            <a:off x="6134100" y="26098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Ads connect the offer with the right audience.</a:t>
            </a:r>
          </a:p>
        </p:txBody>
      </p:sp>
      <p:sp>
        <p:nvSpPr>
          <p:cNvPr id="12" name="03  Conversion">
            <a:extLst xmlns:a="http://schemas.openxmlformats.org/drawingml/2006/main">
              <a:ext uri="{FF2B5EF4-FFF2-40B4-BE49-F238E27FC236}">
                <a16:creationId xmlns:a16="http://schemas.microsoft.com/office/drawing/2014/main" id="{67A0F185-4931-4D1E-A840-B486E87A087D}"/>
              </a:ext>
            </a:extLst>
          </p:cNvPr>
          <p:cNvSpPr>
            <a:spLocks xmlns:a="http://schemas.openxmlformats.org/drawingml/2006/main" noGrp="1"/>
          </p:cNvSpPr>
          <p:nvPr/>
        </p:nvSpPr>
        <p:spPr>
          <a:xfrm xmlns:a="http://schemas.openxmlformats.org/drawingml/2006/main">
            <a:off x="6134100" y="316230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5F7"/>
                </a:solidFill>
                <a:latin typeface="Manrope"/>
                <a:ea typeface="Manrope"/>
                <a:cs typeface="Manrope"/>
              </a:defRPr>
            </a:defPPr>
          </a:lstStyle>
          <a:p xmlns:a="http://schemas.openxmlformats.org/drawingml/2006/main">
            <a:pPr>
              <a:lnSpc>
                <a:spcPct val="105000"/>
              </a:lnSpc>
              <a:buNone/>
              <a:defRPr sz="1800" b="1">
                <a:solidFill>
                  <a:srgbClr val="F3F5F7"/>
                </a:solidFill>
                <a:latin typeface="Manrope"/>
                <a:ea typeface="Manrope"/>
                <a:cs typeface="Manrope"/>
              </a:defRPr>
            </a:pPr>
            <a:r>
              <a:rPr sz="1800" b="1" spc="0">
                <a:solidFill>
                  <a:srgbClr val="F3F5F7"/>
                </a:solidFill>
                <a:latin typeface="Manrope"/>
                <a:ea typeface="Manrope"/>
                <a:cs typeface="Manrope"/>
              </a:rPr>
              <a:t>03  Conversion</a:t>
            </a:r>
          </a:p>
        </p:txBody>
      </p:sp>
      <p:sp>
        <p:nvSpPr>
          <p:cNvPr id="13" name="Forms and landing pages reduce friction.">
            <a:extLst xmlns:a="http://schemas.openxmlformats.org/drawingml/2006/main">
              <a:ext uri="{FF2B5EF4-FFF2-40B4-BE49-F238E27FC236}">
                <a16:creationId xmlns:a16="http://schemas.microsoft.com/office/drawing/2014/main" id="{6C3764D2-8956-4DA7-AFA5-400F71450D83}"/>
              </a:ext>
            </a:extLst>
          </p:cNvPr>
          <p:cNvSpPr>
            <a:spLocks xmlns:a="http://schemas.openxmlformats.org/drawingml/2006/main" noGrp="1"/>
          </p:cNvSpPr>
          <p:nvPr/>
        </p:nvSpPr>
        <p:spPr>
          <a:xfrm xmlns:a="http://schemas.openxmlformats.org/drawingml/2006/main">
            <a:off x="6134100" y="36099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Forms and landing pages reduce friction.</a:t>
            </a:r>
          </a:p>
        </p:txBody>
      </p:sp>
      <p:sp>
        <p:nvSpPr>
          <p:cNvPr id="14" name="04  Automation">
            <a:extLst xmlns:a="http://schemas.openxmlformats.org/drawingml/2006/main">
              <a:ext uri="{FF2B5EF4-FFF2-40B4-BE49-F238E27FC236}">
                <a16:creationId xmlns:a16="http://schemas.microsoft.com/office/drawing/2014/main" id="{02FE2E45-E1B0-461B-93FE-F3C53D7557B8}"/>
              </a:ext>
            </a:extLst>
          </p:cNvPr>
          <p:cNvSpPr>
            <a:spLocks xmlns:a="http://schemas.openxmlformats.org/drawingml/2006/main" noGrp="1"/>
          </p:cNvSpPr>
          <p:nvPr/>
        </p:nvSpPr>
        <p:spPr>
          <a:xfrm xmlns:a="http://schemas.openxmlformats.org/drawingml/2006/main">
            <a:off x="6134100" y="416242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5F7"/>
                </a:solidFill>
                <a:latin typeface="Manrope"/>
                <a:ea typeface="Manrope"/>
                <a:cs typeface="Manrope"/>
              </a:defRPr>
            </a:defPPr>
          </a:lstStyle>
          <a:p xmlns:a="http://schemas.openxmlformats.org/drawingml/2006/main">
            <a:pPr>
              <a:lnSpc>
                <a:spcPct val="105000"/>
              </a:lnSpc>
              <a:buNone/>
              <a:defRPr sz="1800" b="1">
                <a:solidFill>
                  <a:srgbClr val="F3F5F7"/>
                </a:solidFill>
                <a:latin typeface="Manrope"/>
                <a:ea typeface="Manrope"/>
                <a:cs typeface="Manrope"/>
              </a:defRPr>
            </a:pPr>
            <a:r>
              <a:rPr sz="1800" b="1" spc="0">
                <a:solidFill>
                  <a:srgbClr val="F3F5F7"/>
                </a:solidFill>
                <a:latin typeface="Manrope"/>
                <a:ea typeface="Manrope"/>
                <a:cs typeface="Manrope"/>
              </a:rPr>
              <a:t>04  Automation</a:t>
            </a:r>
          </a:p>
        </p:txBody>
      </p:sp>
      <p:sp>
        <p:nvSpPr>
          <p:cNvPr id="15" name="Workflows support response speed and handoffs.">
            <a:extLst xmlns:a="http://schemas.openxmlformats.org/drawingml/2006/main">
              <a:ext uri="{FF2B5EF4-FFF2-40B4-BE49-F238E27FC236}">
                <a16:creationId xmlns:a16="http://schemas.microsoft.com/office/drawing/2014/main" id="{D6F810C4-3C44-4F36-8AB3-4D78F9E2B1A8}"/>
              </a:ext>
            </a:extLst>
          </p:cNvPr>
          <p:cNvSpPr>
            <a:spLocks xmlns:a="http://schemas.openxmlformats.org/drawingml/2006/main" noGrp="1"/>
          </p:cNvSpPr>
          <p:nvPr/>
        </p:nvSpPr>
        <p:spPr>
          <a:xfrm xmlns:a="http://schemas.openxmlformats.org/drawingml/2006/main">
            <a:off x="6134100" y="46101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Workflows support response speed and handoffs.</a:t>
            </a:r>
          </a:p>
        </p:txBody>
      </p:sp>
      <p:sp>
        <p:nvSpPr>
          <p:cNvPr id="16" name="05  Growth">
            <a:extLst xmlns:a="http://schemas.openxmlformats.org/drawingml/2006/main">
              <a:ext uri="{FF2B5EF4-FFF2-40B4-BE49-F238E27FC236}">
                <a16:creationId xmlns:a16="http://schemas.microsoft.com/office/drawing/2014/main" id="{ABFD2215-ACE6-42DA-B722-BDCD955C2425}"/>
              </a:ext>
            </a:extLst>
          </p:cNvPr>
          <p:cNvSpPr>
            <a:spLocks xmlns:a="http://schemas.openxmlformats.org/drawingml/2006/main" noGrp="1"/>
          </p:cNvSpPr>
          <p:nvPr/>
        </p:nvSpPr>
        <p:spPr>
          <a:xfrm xmlns:a="http://schemas.openxmlformats.org/drawingml/2006/main">
            <a:off x="6134100" y="516255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5F7"/>
                </a:solidFill>
                <a:latin typeface="Manrope"/>
                <a:ea typeface="Manrope"/>
                <a:cs typeface="Manrope"/>
              </a:defRPr>
            </a:defPPr>
          </a:lstStyle>
          <a:p xmlns:a="http://schemas.openxmlformats.org/drawingml/2006/main">
            <a:pPr>
              <a:lnSpc>
                <a:spcPct val="105000"/>
              </a:lnSpc>
              <a:buNone/>
              <a:defRPr sz="1800" b="1">
                <a:solidFill>
                  <a:srgbClr val="F3F5F7"/>
                </a:solidFill>
                <a:latin typeface="Manrope"/>
                <a:ea typeface="Manrope"/>
                <a:cs typeface="Manrope"/>
              </a:defRPr>
            </a:pPr>
            <a:r>
              <a:rPr sz="1800" b="1" spc="0">
                <a:solidFill>
                  <a:srgbClr val="F3F5F7"/>
                </a:solidFill>
                <a:latin typeface="Manrope"/>
                <a:ea typeface="Manrope"/>
                <a:cs typeface="Manrope"/>
              </a:rPr>
              <a:t>05  Growth</a:t>
            </a:r>
          </a:p>
        </p:txBody>
      </p:sp>
      <p:sp>
        <p:nvSpPr>
          <p:cNvPr id="17" name="Budget follows the combinations that work.">
            <a:extLst xmlns:a="http://schemas.openxmlformats.org/drawingml/2006/main">
              <a:ext uri="{FF2B5EF4-FFF2-40B4-BE49-F238E27FC236}">
                <a16:creationId xmlns:a16="http://schemas.microsoft.com/office/drawing/2014/main" id="{237965DB-9A6C-4742-9A26-508A88866F0B}"/>
              </a:ext>
            </a:extLst>
          </p:cNvPr>
          <p:cNvSpPr>
            <a:spLocks xmlns:a="http://schemas.openxmlformats.org/drawingml/2006/main" noGrp="1"/>
          </p:cNvSpPr>
          <p:nvPr/>
        </p:nvSpPr>
        <p:spPr>
          <a:xfrm xmlns:a="http://schemas.openxmlformats.org/drawingml/2006/main">
            <a:off x="6134100" y="561022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Budget follows the combinations that work.</a:t>
            </a:r>
          </a:p>
        </p:txBody>
      </p:sp>
    </p:spTree>
    <p:extLst>
      <p:ext uri="{BB962C8B-B14F-4D97-AF65-F5344CB8AC3E}">
        <p14:creationId xmlns:p14="http://schemas.microsoft.com/office/powerpoint/2010/main" val="283493342"/>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fill="hold"/>
                                  <p:tgtEl>
                                    <p:spTgt spid="6"/>
                                  </p:tgtEl>
                                </p:cBhvr>
                              </p:animEffect>
                              <p:anim calcmode="lin" valueType="num">
                                <p:cBhvr additive="base">
                                  <p:cTn id="7" dur="550" fill="hold" decel="60000"/>
                                  <p:tgtEl>
                                    <p:spTgt spid="6"/>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50" fill="hold"/>
                                  <p:tgtEl>
                                    <p:spTgt spid="7"/>
                                  </p:tgtEl>
                                </p:cBhvr>
                              </p:animEffect>
                            </p:childTnLst>
                          </p:cTn>
                        </p:par>
                        <p:par>
                          <p:cTn id="11" presetID="10" presetClass="entr" presetSubtype="0" fill="hold" grpId="0" nodeType="withEffect">
                            <p:stCondLst>
                              <p:cond delay="38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50" fill="hold"/>
                                  <p:tgtEl>
                                    <p:spTgt spid="8"/>
                                  </p:tgtEl>
                                </p:cBhvr>
                              </p:animEffect>
                            </p:childTnLst>
                          </p:cTn>
                        </p:par>
                        <p:par>
                          <p:cTn id="14" presetID="10" presetClass="entr" presetSubtype="0" fill="hold" grpId="0" nodeType="withEffect">
                            <p:stCondLst>
                              <p:cond delay="495"/>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50" fill="hold"/>
                                  <p:tgtEl>
                                    <p:spTgt spid="9"/>
                                  </p:tgtEl>
                                </p:cBhvr>
                              </p:animEffect>
                            </p:childTnLst>
                          </p:cTn>
                        </p:par>
                        <p:par>
                          <p:cTn id="17" presetID="10" presetClass="entr" presetSubtype="0" fill="hold" grpId="0" nodeType="withEffect">
                            <p:stCondLst>
                              <p:cond delay="61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50" fill="hold"/>
                                  <p:tgtEl>
                                    <p:spTgt spid="10"/>
                                  </p:tgtEl>
                                </p:cBhvr>
                              </p:animEffect>
                            </p:childTnLst>
                          </p:cTn>
                        </p:par>
                        <p:par>
                          <p:cTn id="20" presetID="10" presetClass="entr" presetSubtype="0" fill="hold" grpId="0" nodeType="withEffect">
                            <p:stCondLst>
                              <p:cond delay="725"/>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fill="hold"/>
                                  <p:tgtEl>
                                    <p:spTgt spid="11"/>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50" fill="hold"/>
                                  <p:tgtEl>
                                    <p:spTgt spid="12"/>
                                  </p:tgtEl>
                                </p:cBhvr>
                              </p:animEffect>
                            </p:childTnLst>
                          </p:cTn>
                        </p:par>
                        <p:par>
                          <p:cTn id="26" presetID="10" presetClass="entr" presetSubtype="0" fill="hold" grpId="0" nodeType="withEffect">
                            <p:stCondLst>
                              <p:cond delay="955"/>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fill="hold"/>
                                  <p:tgtEl>
                                    <p:spTgt spid="13"/>
                                  </p:tgtEl>
                                </p:cBhvr>
                              </p:animEffect>
                            </p:childTnLst>
                          </p:cTn>
                        </p:par>
                        <p:par>
                          <p:cTn id="29" presetID="10" presetClass="entr" presetSubtype="0" fill="hold" grpId="0" nodeType="withEffect">
                            <p:stCondLst>
                              <p:cond delay="107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50" fill="hold"/>
                                  <p:tgtEl>
                                    <p:spTgt spid="14"/>
                                  </p:tgtEl>
                                </p:cBhvr>
                              </p:animEffect>
                            </p:childTnLst>
                          </p:cTn>
                        </p:par>
                        <p:par>
                          <p:cTn id="32" presetID="10" presetClass="entr" presetSubtype="0" fill="hold" grpId="0" nodeType="withEffect">
                            <p:stCondLst>
                              <p:cond delay="1185"/>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50" fill="hold"/>
                                  <p:tgtEl>
                                    <p:spTgt spid="15"/>
                                  </p:tgtEl>
                                </p:cBhvr>
                              </p:animEffect>
                            </p:childTnLst>
                          </p:cTn>
                        </p:par>
                        <p:par>
                          <p:cTn id="35" presetID="10" presetClass="entr" presetSubtype="0" fill="hold" grpId="0" nodeType="withEffect">
                            <p:stCondLst>
                              <p:cond delay="13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50" fill="hold"/>
                                  <p:tgtEl>
                                    <p:spTgt spid="16"/>
                                  </p:tgtEl>
                                </p:cBhvr>
                              </p:animEffect>
                            </p:childTnLst>
                          </p:cTn>
                        </p:par>
                        <p:par>
                          <p:cTn id="38" presetID="10" presetClass="entr" presetSubtype="0" fill="hold" grpId="0" nodeType="withEffect">
                            <p:stCondLst>
                              <p:cond delay="130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50" fill="hold"/>
                                  <p:tgtEl>
                                    <p:spTgt spid="1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P spid="9" grpId="0" build="allAtOnce"/>
      <p:bldP spid="10" grpId="0" build="allAtOnce"/>
      <p:bldP spid="11" grpId="0" build="allAtOnce"/>
      <p:bldP spid="12" grpId="0" build="allAtOnce"/>
      <p:bldP spid="13" grpId="0" build="allAtOnce"/>
      <p:bldP spid="14" grpId="0" build="allAtOnce"/>
      <p:bldP spid="15" grpId="0" build="allAtOnce"/>
      <p:bldP spid="16" grpId="0" build="allAtOnce"/>
      <p:bldP spid="17" grpId="0" build="allAtOnce"/>
    </p:bldLst>
  </p:timing>
</p:sld>
</file>

<file path=ppt/slides/slide14.xml><?xml version="1.0" encoding="utf-8"?>
<p:sld xmlns:p="http://schemas.openxmlformats.org/presentationml/2006/main">
  <p:cSld>
    <p:bg>
      <p:bgPr>
        <a:solidFill xmlns:a="http://schemas.openxmlformats.org/drawingml/2006/main">
          <a:srgbClr val="F3F5F7"/>
        </a:solidFill>
      </p:bgPr>
    </p:bg>
    <p:spTree>
      <p:nvGrpSpPr>
        <p:cNvPr id="1" name=""/>
        <p:cNvGrpSpPr/>
        <p:nvPr/>
      </p:nvGrpSpPr>
      <p:grpSpPr>
        <a:xfrm xmlns:a="http://schemas.openxmlformats.org/drawingml/2006/main"/>
      </p:grpSpPr>
      <p:sp>
        <p:nvSpPr>
          <p:cNvPr id="15" name="13 / AI AUTOMATION">
            <a:extLst xmlns:a="http://schemas.openxmlformats.org/drawingml/2006/main">
              <a:ext uri="{FF2B5EF4-FFF2-40B4-BE49-F238E27FC236}">
                <a16:creationId xmlns:a16="http://schemas.microsoft.com/office/drawing/2014/main" id="{4E03D717-3119-41E7-873C-B37CCFC7C87B}"/>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15375B"/>
                </a:solidFill>
                <a:latin typeface="Manrope"/>
                <a:ea typeface="Manrope"/>
                <a:cs typeface="Manrope"/>
              </a:defRPr>
            </a:defPPr>
          </a:lstStyle>
          <a:p xmlns:a="http://schemas.openxmlformats.org/drawingml/2006/main">
            <a:pPr>
              <a:lnSpc>
                <a:spcPct val="105000"/>
              </a:lnSpc>
              <a:buNone/>
              <a:defRPr sz="1050" b="1">
                <a:solidFill>
                  <a:srgbClr val="15375B"/>
                </a:solidFill>
                <a:latin typeface="Manrope"/>
                <a:ea typeface="Manrope"/>
                <a:cs typeface="Manrope"/>
              </a:defRPr>
            </a:pPr>
            <a:r>
              <a:rPr sz="1050" b="1">
                <a:solidFill>
                  <a:srgbClr val="15375B"/>
                </a:solidFill>
                <a:latin typeface="Manrope"/>
                <a:ea typeface="Manrope"/>
                <a:cs typeface="Manrope"/>
              </a:rPr>
              <a:t>13 / AI AUTOMATION</a:t>
            </a:r>
          </a:p>
        </p:txBody>
      </p:sp>
      <p:sp>
        <p:nvSpPr>
          <p:cNvPr id="2" name="The system after the lead">
            <a:extLst xmlns:a="http://schemas.openxmlformats.org/drawingml/2006/main">
              <a:ext uri="{FF2B5EF4-FFF2-40B4-BE49-F238E27FC236}">
                <a16:creationId xmlns:a16="http://schemas.microsoft.com/office/drawing/2014/main" id="{947CB950-544D-4044-BE0C-E7BF6FEC1D56}"/>
              </a:ext>
            </a:extLst>
          </p:cNvPr>
          <p:cNvSpPr>
            <a:spLocks xmlns:a="http://schemas.openxmlformats.org/drawingml/2006/main" noGrp="1"/>
          </p:cNvSpPr>
          <p:nvPr/>
        </p:nvSpPr>
        <p:spPr>
          <a:xfrm xmlns:a="http://schemas.openxmlformats.org/drawingml/2006/main">
            <a:off x="609600" y="8572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080D15"/>
                </a:solidFill>
                <a:latin typeface="Sora"/>
                <a:ea typeface="Sora"/>
                <a:cs typeface="Sora"/>
              </a:defRPr>
            </a:defPPr>
          </a:lstStyle>
          <a:p xmlns:a="http://schemas.openxmlformats.org/drawingml/2006/main">
            <a:pPr>
              <a:lnSpc>
                <a:spcPct val="105000"/>
              </a:lnSpc>
              <a:buNone/>
              <a:defRPr sz="3600" b="1">
                <a:solidFill>
                  <a:srgbClr val="080D15"/>
                </a:solidFill>
                <a:latin typeface="Sora"/>
                <a:ea typeface="Sora"/>
                <a:cs typeface="Sora"/>
              </a:defRPr>
            </a:pPr>
            <a:r>
              <a:rPr sz="3600" b="1" spc="-30">
                <a:solidFill>
                  <a:srgbClr val="080D15"/>
                </a:solidFill>
                <a:latin typeface="Sora"/>
                <a:ea typeface="Sora"/>
                <a:cs typeface="Sora"/>
              </a:rPr>
              <a:t>The system after the lead</a:t>
            </a:r>
          </a:p>
        </p:txBody>
      </p:sp>
      <p:sp>
        <p:nvSpPr>
          <p:cNvPr id="3" name="KHAWAJA SAIM">
            <a:extLst xmlns:a="http://schemas.openxmlformats.org/drawingml/2006/main">
              <a:ext uri="{FF2B5EF4-FFF2-40B4-BE49-F238E27FC236}">
                <a16:creationId xmlns:a16="http://schemas.microsoft.com/office/drawing/2014/main" id="{1B25A096-FDB4-43D8-A58F-BCCF48BB7C17}"/>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15375B"/>
                </a:solidFill>
                <a:latin typeface="Manrope"/>
                <a:ea typeface="Manrope"/>
                <a:cs typeface="Manrope"/>
              </a:defRPr>
            </a:defPPr>
          </a:lstStyle>
          <a:p xmlns:a="http://schemas.openxmlformats.org/drawingml/2006/main">
            <a:pPr>
              <a:lnSpc>
                <a:spcPct val="105000"/>
              </a:lnSpc>
              <a:buNone/>
              <a:defRPr sz="900" b="1">
                <a:solidFill>
                  <a:srgbClr val="15375B"/>
                </a:solidFill>
                <a:latin typeface="Manrope"/>
                <a:ea typeface="Manrope"/>
                <a:cs typeface="Manrope"/>
              </a:defRPr>
            </a:pPr>
            <a:r>
              <a:rPr sz="900" b="1">
                <a:solidFill>
                  <a:srgbClr val="15375B"/>
                </a:solidFill>
                <a:latin typeface="Manrope"/>
                <a:ea typeface="Manrope"/>
                <a:cs typeface="Manrope"/>
              </a:rPr>
              <a:t>KHAWAJA SAIM</a:t>
            </a:r>
          </a:p>
        </p:txBody>
      </p:sp>
      <p:sp>
        <p:nvSpPr>
          <p:cNvPr id="4" name="14">
            <a:extLst xmlns:a="http://schemas.openxmlformats.org/drawingml/2006/main">
              <a:ext uri="{FF2B5EF4-FFF2-40B4-BE49-F238E27FC236}">
                <a16:creationId xmlns:a16="http://schemas.microsoft.com/office/drawing/2014/main" id="{D9E30949-3B08-428F-A1E3-40518BAD53F7}"/>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15375B"/>
                </a:solidFill>
                <a:latin typeface="Manrope"/>
                <a:ea typeface="Manrope"/>
                <a:cs typeface="Manrope"/>
              </a:defRPr>
            </a:defPPr>
          </a:lstStyle>
          <a:p xmlns:a="http://schemas.openxmlformats.org/drawingml/2006/main">
            <a:pPr>
              <a:lnSpc>
                <a:spcPct val="105000"/>
              </a:lnSpc>
              <a:buNone/>
              <a:defRPr sz="1050" b="0">
                <a:solidFill>
                  <a:srgbClr val="15375B"/>
                </a:solidFill>
                <a:latin typeface="Manrope"/>
                <a:ea typeface="Manrope"/>
                <a:cs typeface="Manrope"/>
              </a:defRPr>
            </a:pPr>
            <a:r>
              <a:rPr sz="1050" b="0">
                <a:solidFill>
                  <a:srgbClr val="15375B"/>
                </a:solidFill>
                <a:latin typeface="Manrope"/>
                <a:ea typeface="Manrope"/>
                <a:cs typeface="Manrope"/>
              </a:rPr>
              <a:t>14</a:t>
            </a:r>
          </a:p>
        </p:txBody>
      </p:sp>
      <p:sp>
        <p:nvSpPr>
          <p:cNvPr id="5" name="Lead capture">
            <a:extLst xmlns:a="http://schemas.openxmlformats.org/drawingml/2006/main">
              <a:ext uri="{FF2B5EF4-FFF2-40B4-BE49-F238E27FC236}">
                <a16:creationId xmlns:a16="http://schemas.microsoft.com/office/drawing/2014/main" id="{A5AAEF3C-8F07-4B46-BA13-D09F6043F1A1}"/>
              </a:ext>
            </a:extLst>
          </p:cNvPr>
          <p:cNvSpPr>
            <a:spLocks xmlns:a="http://schemas.openxmlformats.org/drawingml/2006/main" noGrp="1"/>
          </p:cNvSpPr>
          <p:nvPr/>
        </p:nvSpPr>
        <p:spPr>
          <a:xfrm xmlns:a="http://schemas.openxmlformats.org/drawingml/2006/main">
            <a:off x="5476875" y="2276475"/>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80D15"/>
                </a:solidFill>
                <a:latin typeface="Manrope"/>
                <a:ea typeface="Manrope"/>
                <a:cs typeface="Manrope"/>
              </a:defRPr>
            </a:defPPr>
          </a:lstStyle>
          <a:p xmlns:a="http://schemas.openxmlformats.org/drawingml/2006/main">
            <a:pPr>
              <a:lnSpc>
                <a:spcPct val="105000"/>
              </a:lnSpc>
              <a:buNone/>
              <a:defRPr sz="1800" b="1">
                <a:solidFill>
                  <a:srgbClr val="080D15"/>
                </a:solidFill>
                <a:latin typeface="Manrope"/>
                <a:ea typeface="Manrope"/>
                <a:cs typeface="Manrope"/>
              </a:defRPr>
            </a:pPr>
            <a:r>
              <a:rPr sz="1800" b="1" spc="0">
                <a:solidFill>
                  <a:srgbClr val="080D15"/>
                </a:solidFill>
                <a:latin typeface="Manrope"/>
                <a:ea typeface="Manrope"/>
                <a:cs typeface="Manrope"/>
              </a:rPr>
              <a:t>Lead capture</a:t>
            </a:r>
          </a:p>
        </p:txBody>
      </p:sp>
      <p:sp>
        <p:nvSpPr>
          <p:cNvPr id="6" name="Collect context from a form, ad or inbound inquiry.">
            <a:extLst xmlns:a="http://schemas.openxmlformats.org/drawingml/2006/main">
              <a:ext uri="{FF2B5EF4-FFF2-40B4-BE49-F238E27FC236}">
                <a16:creationId xmlns:a16="http://schemas.microsoft.com/office/drawing/2014/main" id="{9D635CCC-0105-4817-8A9F-09E14FC1FBD2}"/>
              </a:ext>
            </a:extLst>
          </p:cNvPr>
          <p:cNvSpPr>
            <a:spLocks xmlns:a="http://schemas.openxmlformats.org/drawingml/2006/main" noGrp="1"/>
          </p:cNvSpPr>
          <p:nvPr/>
        </p:nvSpPr>
        <p:spPr>
          <a:xfrm xmlns:a="http://schemas.openxmlformats.org/drawingml/2006/main">
            <a:off x="5476875" y="272415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06079"/>
                </a:solidFill>
                <a:latin typeface="Manrope"/>
                <a:ea typeface="Manrope"/>
                <a:cs typeface="Manrope"/>
              </a:defRPr>
            </a:defPPr>
          </a:lstStyle>
          <a:p xmlns:a="http://schemas.openxmlformats.org/drawingml/2006/main">
            <a:pPr>
              <a:lnSpc>
                <a:spcPct val="105000"/>
              </a:lnSpc>
              <a:buNone/>
              <a:defRPr sz="1575" b="0">
                <a:solidFill>
                  <a:srgbClr val="506079"/>
                </a:solidFill>
                <a:latin typeface="Manrope"/>
                <a:ea typeface="Manrope"/>
                <a:cs typeface="Manrope"/>
              </a:defRPr>
            </a:pPr>
            <a:r>
              <a:rPr sz="1575" b="0" spc="70">
                <a:solidFill>
                  <a:srgbClr val="506079"/>
                </a:solidFill>
                <a:latin typeface="Manrope"/>
                <a:ea typeface="Manrope"/>
                <a:cs typeface="Manrope"/>
              </a:rPr>
              <a:t>Collect context from a form, ad or inbound inquiry.</a:t>
            </a:r>
          </a:p>
        </p:txBody>
      </p:sp>
      <p:sp>
        <p:nvSpPr>
          <p:cNvPr id="7" name="AI qualification">
            <a:extLst xmlns:a="http://schemas.openxmlformats.org/drawingml/2006/main">
              <a:ext uri="{FF2B5EF4-FFF2-40B4-BE49-F238E27FC236}">
                <a16:creationId xmlns:a16="http://schemas.microsoft.com/office/drawing/2014/main" id="{F944F924-F69E-43EE-A5BC-1B8F147C2FF8}"/>
              </a:ext>
            </a:extLst>
          </p:cNvPr>
          <p:cNvSpPr>
            <a:spLocks xmlns:a="http://schemas.openxmlformats.org/drawingml/2006/main" noGrp="1"/>
          </p:cNvSpPr>
          <p:nvPr/>
        </p:nvSpPr>
        <p:spPr>
          <a:xfrm xmlns:a="http://schemas.openxmlformats.org/drawingml/2006/main">
            <a:off x="5476875" y="3276600"/>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80D15"/>
                </a:solidFill>
                <a:latin typeface="Manrope"/>
                <a:ea typeface="Manrope"/>
                <a:cs typeface="Manrope"/>
              </a:defRPr>
            </a:defPPr>
          </a:lstStyle>
          <a:p xmlns:a="http://schemas.openxmlformats.org/drawingml/2006/main">
            <a:pPr>
              <a:lnSpc>
                <a:spcPct val="105000"/>
              </a:lnSpc>
              <a:buNone/>
              <a:defRPr sz="1800" b="1">
                <a:solidFill>
                  <a:srgbClr val="080D15"/>
                </a:solidFill>
                <a:latin typeface="Manrope"/>
                <a:ea typeface="Manrope"/>
                <a:cs typeface="Manrope"/>
              </a:defRPr>
            </a:pPr>
            <a:r>
              <a:rPr sz="1800" b="1" spc="0">
                <a:solidFill>
                  <a:srgbClr val="080D15"/>
                </a:solidFill>
                <a:latin typeface="Manrope"/>
                <a:ea typeface="Manrope"/>
                <a:cs typeface="Manrope"/>
              </a:rPr>
              <a:t>AI qualification</a:t>
            </a:r>
          </a:p>
        </p:txBody>
      </p:sp>
      <p:sp>
        <p:nvSpPr>
          <p:cNvPr id="8" name="Gather useful details and route the inquiry.">
            <a:extLst xmlns:a="http://schemas.openxmlformats.org/drawingml/2006/main">
              <a:ext uri="{FF2B5EF4-FFF2-40B4-BE49-F238E27FC236}">
                <a16:creationId xmlns:a16="http://schemas.microsoft.com/office/drawing/2014/main" id="{725F2DAE-20CE-44F6-AE88-ED421A2FC6A1}"/>
              </a:ext>
            </a:extLst>
          </p:cNvPr>
          <p:cNvSpPr>
            <a:spLocks xmlns:a="http://schemas.openxmlformats.org/drawingml/2006/main" noGrp="1"/>
          </p:cNvSpPr>
          <p:nvPr/>
        </p:nvSpPr>
        <p:spPr>
          <a:xfrm xmlns:a="http://schemas.openxmlformats.org/drawingml/2006/main">
            <a:off x="5476875" y="3724275"/>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06079"/>
                </a:solidFill>
                <a:latin typeface="Manrope"/>
                <a:ea typeface="Manrope"/>
                <a:cs typeface="Manrope"/>
              </a:defRPr>
            </a:defPPr>
          </a:lstStyle>
          <a:p xmlns:a="http://schemas.openxmlformats.org/drawingml/2006/main">
            <a:pPr>
              <a:lnSpc>
                <a:spcPct val="105000"/>
              </a:lnSpc>
              <a:buNone/>
              <a:defRPr sz="1575" b="0">
                <a:solidFill>
                  <a:srgbClr val="506079"/>
                </a:solidFill>
                <a:latin typeface="Manrope"/>
                <a:ea typeface="Manrope"/>
                <a:cs typeface="Manrope"/>
              </a:defRPr>
            </a:pPr>
            <a:r>
              <a:rPr sz="1575" b="0" spc="70">
                <a:solidFill>
                  <a:srgbClr val="506079"/>
                </a:solidFill>
                <a:latin typeface="Manrope"/>
                <a:ea typeface="Manrope"/>
                <a:cs typeface="Manrope"/>
              </a:rPr>
              <a:t>Gather useful details and route the inquiry.</a:t>
            </a:r>
          </a:p>
        </p:txBody>
      </p:sp>
      <p:sp>
        <p:nvSpPr>
          <p:cNvPr id="9" name="Follow-up and booking">
            <a:extLst xmlns:a="http://schemas.openxmlformats.org/drawingml/2006/main">
              <a:ext uri="{FF2B5EF4-FFF2-40B4-BE49-F238E27FC236}">
                <a16:creationId xmlns:a16="http://schemas.microsoft.com/office/drawing/2014/main" id="{696D2C51-D790-4094-9226-0DB766FEAB34}"/>
              </a:ext>
            </a:extLst>
          </p:cNvPr>
          <p:cNvSpPr>
            <a:spLocks xmlns:a="http://schemas.openxmlformats.org/drawingml/2006/main" noGrp="1"/>
          </p:cNvSpPr>
          <p:nvPr/>
        </p:nvSpPr>
        <p:spPr>
          <a:xfrm xmlns:a="http://schemas.openxmlformats.org/drawingml/2006/main">
            <a:off x="5476875" y="4276725"/>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80D15"/>
                </a:solidFill>
                <a:latin typeface="Manrope"/>
                <a:ea typeface="Manrope"/>
                <a:cs typeface="Manrope"/>
              </a:defRPr>
            </a:defPPr>
          </a:lstStyle>
          <a:p xmlns:a="http://schemas.openxmlformats.org/drawingml/2006/main">
            <a:pPr>
              <a:lnSpc>
                <a:spcPct val="105000"/>
              </a:lnSpc>
              <a:buNone/>
              <a:defRPr sz="1800" b="1">
                <a:solidFill>
                  <a:srgbClr val="080D15"/>
                </a:solidFill>
                <a:latin typeface="Manrope"/>
                <a:ea typeface="Manrope"/>
                <a:cs typeface="Manrope"/>
              </a:defRPr>
            </a:pPr>
            <a:r>
              <a:rPr sz="1800" b="1" spc="0">
                <a:solidFill>
                  <a:srgbClr val="080D15"/>
                </a:solidFill>
                <a:latin typeface="Manrope"/>
                <a:ea typeface="Manrope"/>
                <a:cs typeface="Manrope"/>
              </a:rPr>
              <a:t>Follow-up and booking</a:t>
            </a:r>
          </a:p>
        </p:txBody>
      </p:sp>
      <p:sp>
        <p:nvSpPr>
          <p:cNvPr id="10" name="Support responses, availability and reminders.">
            <a:extLst xmlns:a="http://schemas.openxmlformats.org/drawingml/2006/main">
              <a:ext uri="{FF2B5EF4-FFF2-40B4-BE49-F238E27FC236}">
                <a16:creationId xmlns:a16="http://schemas.microsoft.com/office/drawing/2014/main" id="{F19E6223-71F3-4E32-A2C1-2FBDE755DC54}"/>
              </a:ext>
            </a:extLst>
          </p:cNvPr>
          <p:cNvSpPr>
            <a:spLocks xmlns:a="http://schemas.openxmlformats.org/drawingml/2006/main" noGrp="1"/>
          </p:cNvSpPr>
          <p:nvPr/>
        </p:nvSpPr>
        <p:spPr>
          <a:xfrm xmlns:a="http://schemas.openxmlformats.org/drawingml/2006/main">
            <a:off x="5476875" y="472440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06079"/>
                </a:solidFill>
                <a:latin typeface="Manrope"/>
                <a:ea typeface="Manrope"/>
                <a:cs typeface="Manrope"/>
              </a:defRPr>
            </a:defPPr>
          </a:lstStyle>
          <a:p xmlns:a="http://schemas.openxmlformats.org/drawingml/2006/main">
            <a:pPr>
              <a:lnSpc>
                <a:spcPct val="105000"/>
              </a:lnSpc>
              <a:buNone/>
              <a:defRPr sz="1575" b="0">
                <a:solidFill>
                  <a:srgbClr val="506079"/>
                </a:solidFill>
                <a:latin typeface="Manrope"/>
                <a:ea typeface="Manrope"/>
                <a:cs typeface="Manrope"/>
              </a:defRPr>
            </a:pPr>
            <a:r>
              <a:rPr sz="1575" b="0" spc="70">
                <a:solidFill>
                  <a:srgbClr val="506079"/>
                </a:solidFill>
                <a:latin typeface="Manrope"/>
                <a:ea typeface="Manrope"/>
                <a:cs typeface="Manrope"/>
              </a:rPr>
              <a:t>Support responses, availability and reminders.</a:t>
            </a:r>
          </a:p>
        </p:txBody>
      </p:sp>
      <p:sp>
        <p:nvSpPr>
          <p:cNvPr id="11" name="CRM and human handoff">
            <a:extLst xmlns:a="http://schemas.openxmlformats.org/drawingml/2006/main">
              <a:ext uri="{FF2B5EF4-FFF2-40B4-BE49-F238E27FC236}">
                <a16:creationId xmlns:a16="http://schemas.microsoft.com/office/drawing/2014/main" id="{12084AE7-E54D-42E6-B2D7-4D3449357A8F}"/>
              </a:ext>
            </a:extLst>
          </p:cNvPr>
          <p:cNvSpPr>
            <a:spLocks xmlns:a="http://schemas.openxmlformats.org/drawingml/2006/main" noGrp="1"/>
          </p:cNvSpPr>
          <p:nvPr/>
        </p:nvSpPr>
        <p:spPr>
          <a:xfrm xmlns:a="http://schemas.openxmlformats.org/drawingml/2006/main">
            <a:off x="5476875" y="5276850"/>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80D15"/>
                </a:solidFill>
                <a:latin typeface="Manrope"/>
                <a:ea typeface="Manrope"/>
                <a:cs typeface="Manrope"/>
              </a:defRPr>
            </a:defPPr>
          </a:lstStyle>
          <a:p xmlns:a="http://schemas.openxmlformats.org/drawingml/2006/main">
            <a:pPr>
              <a:lnSpc>
                <a:spcPct val="105000"/>
              </a:lnSpc>
              <a:buNone/>
              <a:defRPr sz="1800" b="1">
                <a:solidFill>
                  <a:srgbClr val="080D15"/>
                </a:solidFill>
                <a:latin typeface="Manrope"/>
                <a:ea typeface="Manrope"/>
                <a:cs typeface="Manrope"/>
              </a:defRPr>
            </a:pPr>
            <a:r>
              <a:rPr sz="1800" b="1" spc="0">
                <a:solidFill>
                  <a:srgbClr val="080D15"/>
                </a:solidFill>
                <a:latin typeface="Manrope"/>
                <a:ea typeface="Manrope"/>
                <a:cs typeface="Manrope"/>
              </a:rPr>
              <a:t>CRM and human handoff</a:t>
            </a:r>
          </a:p>
        </p:txBody>
      </p:sp>
      <p:sp>
        <p:nvSpPr>
          <p:cNvPr id="12" name="Keep the next action visible to the team.">
            <a:extLst xmlns:a="http://schemas.openxmlformats.org/drawingml/2006/main">
              <a:ext uri="{FF2B5EF4-FFF2-40B4-BE49-F238E27FC236}">
                <a16:creationId xmlns:a16="http://schemas.microsoft.com/office/drawing/2014/main" id="{0B923896-100E-479C-AED4-B83154D91EBF}"/>
              </a:ext>
            </a:extLst>
          </p:cNvPr>
          <p:cNvSpPr>
            <a:spLocks xmlns:a="http://schemas.openxmlformats.org/drawingml/2006/main" noGrp="1"/>
          </p:cNvSpPr>
          <p:nvPr/>
        </p:nvSpPr>
        <p:spPr>
          <a:xfrm xmlns:a="http://schemas.openxmlformats.org/drawingml/2006/main">
            <a:off x="5476875" y="5724525"/>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06079"/>
                </a:solidFill>
                <a:latin typeface="Manrope"/>
                <a:ea typeface="Manrope"/>
                <a:cs typeface="Manrope"/>
              </a:defRPr>
            </a:defPPr>
          </a:lstStyle>
          <a:p xmlns:a="http://schemas.openxmlformats.org/drawingml/2006/main">
            <a:pPr>
              <a:lnSpc>
                <a:spcPct val="105000"/>
              </a:lnSpc>
              <a:buNone/>
              <a:defRPr sz="1575" b="0">
                <a:solidFill>
                  <a:srgbClr val="506079"/>
                </a:solidFill>
                <a:latin typeface="Manrope"/>
                <a:ea typeface="Manrope"/>
                <a:cs typeface="Manrope"/>
              </a:defRPr>
            </a:pPr>
            <a:r>
              <a:rPr sz="1575" b="0" spc="70">
                <a:solidFill>
                  <a:srgbClr val="506079"/>
                </a:solidFill>
                <a:latin typeface="Manrope"/>
                <a:ea typeface="Manrope"/>
                <a:cs typeface="Manrope"/>
              </a:rPr>
              <a:t>Keep the next action visible to the team.</a:t>
            </a:r>
          </a:p>
        </p:txBody>
      </p:sp>
      <p:sp>
        <p:nvSpPr>
          <p:cNvPr id="13" name="Faster&#10;follow-through.">
            <a:extLst xmlns:a="http://schemas.openxmlformats.org/drawingml/2006/main">
              <a:ext uri="{FF2B5EF4-FFF2-40B4-BE49-F238E27FC236}">
                <a16:creationId xmlns:a16="http://schemas.microsoft.com/office/drawing/2014/main" id="{B657DB12-4862-462D-954F-EF65F1F0E947}"/>
              </a:ext>
            </a:extLst>
          </p:cNvPr>
          <p:cNvSpPr>
            <a:spLocks xmlns:a="http://schemas.openxmlformats.org/drawingml/2006/main" noGrp="1"/>
          </p:cNvSpPr>
          <p:nvPr/>
        </p:nvSpPr>
        <p:spPr>
          <a:xfrm xmlns:a="http://schemas.openxmlformats.org/drawingml/2006/main">
            <a:off x="609600" y="2371725"/>
            <a:ext cx="433387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75" b="1">
                <a:solidFill>
                  <a:srgbClr val="15375B"/>
                </a:solidFill>
                <a:latin typeface="Sora"/>
                <a:ea typeface="Sora"/>
                <a:cs typeface="Sora"/>
              </a:defRPr>
            </a:defPPr>
          </a:lstStyle>
          <a:p xmlns:a="http://schemas.openxmlformats.org/drawingml/2006/main">
            <a:pPr>
              <a:lnSpc>
                <a:spcPct val="105000"/>
              </a:lnSpc>
              <a:buNone/>
              <a:defRPr sz="3675" b="1">
                <a:solidFill>
                  <a:srgbClr val="15375B"/>
                </a:solidFill>
                <a:latin typeface="Sora"/>
                <a:ea typeface="Sora"/>
                <a:cs typeface="Sora"/>
              </a:defRPr>
            </a:pPr>
            <a:r>
              <a:rPr sz="3675" b="1" spc="-30">
                <a:solidFill>
                  <a:srgbClr val="15375B"/>
                </a:solidFill>
                <a:latin typeface="Sora"/>
                <a:ea typeface="Sora"/>
                <a:cs typeface="Sora"/>
              </a:rPr>
              <a:t>Faster</a:t>
            </a:r>
          </a:p>
          <a:p xmlns:a="http://schemas.openxmlformats.org/drawingml/2006/main">
            <a:pPr>
              <a:lnSpc>
                <a:spcPct val="105000"/>
              </a:lnSpc>
              <a:buNone/>
              <a:defRPr sz="3675" b="1">
                <a:solidFill>
                  <a:srgbClr val="15375B"/>
                </a:solidFill>
                <a:latin typeface="Sora"/>
                <a:ea typeface="Sora"/>
                <a:cs typeface="Sora"/>
              </a:defRPr>
            </a:pPr>
            <a:r>
              <a:rPr sz="3675" b="1" spc="-30">
                <a:solidFill>
                  <a:srgbClr val="15375B"/>
                </a:solidFill>
                <a:latin typeface="Sora"/>
                <a:ea typeface="Sora"/>
                <a:cs typeface="Sora"/>
              </a:rPr>
              <a:t>follow-through.</a:t>
            </a:r>
          </a:p>
        </p:txBody>
      </p:sp>
      <p:sp>
        <p:nvSpPr>
          <p:cNvPr id="14" name="Practical workflows that support a clear customer journey.">
            <a:extLst xmlns:a="http://schemas.openxmlformats.org/drawingml/2006/main">
              <a:ext uri="{FF2B5EF4-FFF2-40B4-BE49-F238E27FC236}">
                <a16:creationId xmlns:a16="http://schemas.microsoft.com/office/drawing/2014/main" id="{20DDE802-D747-41F0-8B04-6A90D78C144D}"/>
              </a:ext>
            </a:extLst>
          </p:cNvPr>
          <p:cNvSpPr>
            <a:spLocks xmlns:a="http://schemas.openxmlformats.org/drawingml/2006/main" noGrp="1"/>
          </p:cNvSpPr>
          <p:nvPr/>
        </p:nvSpPr>
        <p:spPr>
          <a:xfrm xmlns:a="http://schemas.openxmlformats.org/drawingml/2006/main">
            <a:off x="638175" y="4505325"/>
            <a:ext cx="41624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079"/>
                </a:solidFill>
                <a:latin typeface="Manrope"/>
                <a:ea typeface="Manrope"/>
                <a:cs typeface="Manrope"/>
              </a:defRPr>
            </a:defPPr>
          </a:lstStyle>
          <a:p xmlns:a="http://schemas.openxmlformats.org/drawingml/2006/main">
            <a:pPr>
              <a:lnSpc>
                <a:spcPct val="105000"/>
              </a:lnSpc>
              <a:buNone/>
              <a:defRPr sz="1950" b="0">
                <a:solidFill>
                  <a:srgbClr val="506079"/>
                </a:solidFill>
                <a:latin typeface="Manrope"/>
                <a:ea typeface="Manrope"/>
                <a:cs typeface="Manrope"/>
              </a:defRPr>
            </a:pPr>
            <a:r>
              <a:rPr sz="1950" b="0" spc="0">
                <a:solidFill>
                  <a:srgbClr val="506079"/>
                </a:solidFill>
                <a:latin typeface="Manrope"/>
                <a:ea typeface="Manrope"/>
                <a:cs typeface="Manrope"/>
              </a:rPr>
              <a:t>Practical workflows that support a clear customer journey.</a:t>
            </a:r>
          </a:p>
        </p:txBody>
      </p:sp>
    </p:spTree>
    <p:extLst>
      <p:ext uri="{BB962C8B-B14F-4D97-AF65-F5344CB8AC3E}">
        <p14:creationId xmlns:p14="http://schemas.microsoft.com/office/powerpoint/2010/main" val="1672348979"/>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50" fill="hold"/>
                                  <p:tgtEl>
                                    <p:spTgt spid="2"/>
                                  </p:tgtEl>
                                </p:cBhvr>
                              </p:animEffect>
                              <p:anim calcmode="lin" valueType="num">
                                <p:cBhvr additive="base">
                                  <p:cTn id="7" dur="550" fill="hold" decel="60000"/>
                                  <p:tgtEl>
                                    <p:spTgt spid="2"/>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fill="hold"/>
                                  <p:tgtEl>
                                    <p:spTgt spid="5"/>
                                  </p:tgtEl>
                                </p:cBhvr>
                              </p:animEffect>
                            </p:childTnLst>
                          </p:cTn>
                        </p:par>
                        <p:par>
                          <p:cTn id="11" presetID="10" presetClass="entr" presetSubtype="0" fill="hold" grpId="0" nodeType="withEffect">
                            <p:stCondLst>
                              <p:cond delay="38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50" fill="hold"/>
                                  <p:tgtEl>
                                    <p:spTgt spid="6"/>
                                  </p:tgtEl>
                                </p:cBhvr>
                              </p:animEffect>
                            </p:childTnLst>
                          </p:cTn>
                        </p:par>
                        <p:par>
                          <p:cTn id="14" presetID="10" presetClass="entr" presetSubtype="0" fill="hold" grpId="0" nodeType="withEffect">
                            <p:stCondLst>
                              <p:cond delay="495"/>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50" fill="hold"/>
                                  <p:tgtEl>
                                    <p:spTgt spid="7"/>
                                  </p:tgtEl>
                                </p:cBhvr>
                              </p:animEffect>
                            </p:childTnLst>
                          </p:cTn>
                        </p:par>
                        <p:par>
                          <p:cTn id="17" presetID="10" presetClass="entr" presetSubtype="0" fill="hold" grpId="0" nodeType="withEffect">
                            <p:stCondLst>
                              <p:cond delay="61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50" fill="hold"/>
                                  <p:tgtEl>
                                    <p:spTgt spid="8"/>
                                  </p:tgtEl>
                                </p:cBhvr>
                              </p:animEffect>
                            </p:childTnLst>
                          </p:cTn>
                        </p:par>
                        <p:par>
                          <p:cTn id="20" presetID="10" presetClass="entr" presetSubtype="0" fill="hold" grpId="0" nodeType="withEffect">
                            <p:stCondLst>
                              <p:cond delay="725"/>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50" fill="hold"/>
                                  <p:tgtEl>
                                    <p:spTgt spid="9"/>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50" fill="hold"/>
                                  <p:tgtEl>
                                    <p:spTgt spid="10"/>
                                  </p:tgtEl>
                                </p:cBhvr>
                              </p:animEffect>
                            </p:childTnLst>
                          </p:cTn>
                        </p:par>
                        <p:par>
                          <p:cTn id="26" presetID="10" presetClass="entr" presetSubtype="0" fill="hold" grpId="0" nodeType="withEffect">
                            <p:stCondLst>
                              <p:cond delay="955"/>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50" fill="hold"/>
                                  <p:tgtEl>
                                    <p:spTgt spid="11"/>
                                  </p:tgtEl>
                                </p:cBhvr>
                              </p:animEffect>
                            </p:childTnLst>
                          </p:cTn>
                        </p:par>
                        <p:par>
                          <p:cTn id="29" presetID="10" presetClass="entr" presetSubtype="0" fill="hold" grpId="0" nodeType="withEffect">
                            <p:stCondLst>
                              <p:cond delay="107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50" fill="hold"/>
                                  <p:tgtEl>
                                    <p:spTgt spid="12"/>
                                  </p:tgtEl>
                                </p:cBhvr>
                              </p:animEffect>
                            </p:childTnLst>
                          </p:cTn>
                        </p:par>
                        <p:par>
                          <p:cTn id="32" presetID="10" presetClass="entr" presetSubtype="0" fill="hold" grpId="0" nodeType="withEffect">
                            <p:stCondLst>
                              <p:cond delay="1185"/>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fill="hold"/>
                                  <p:tgtEl>
                                    <p:spTgt spid="13"/>
                                  </p:tgtEl>
                                </p:cBhvr>
                              </p:animEffect>
                              <p:anim calcmode="lin" valueType="num">
                                <p:cBhvr additive="base">
                                  <p:cTn id="35" dur="550" fill="hold" decel="60000"/>
                                  <p:tgtEl>
                                    <p:spTgt spid="13"/>
                                  </p:tgtEl>
                                  <p:attrNameLst>
                                    <p:attrName>ppt_y</p:attrName>
                                  </p:attrNameLst>
                                </p:cBhvr>
                                <p:tavLst>
                                  <p:tav tm="0">
                                    <p:val>
                                      <p:strVal val="#ppt_y+0.025"/>
                                    </p:val>
                                  </p:tav>
                                  <p:tav tm="100000">
                                    <p:val>
                                      <p:strVal val="#ppt_y"/>
                                    </p:val>
                                  </p:tav>
                                </p:tavLst>
                              </p:anim>
                            </p:childTnLst>
                          </p:cTn>
                        </p:par>
                        <p:par>
                          <p:cTn id="36" presetID="10" presetClass="entr" presetSubtype="0" fill="hold" grpId="0" nodeType="withEffect">
                            <p:stCondLst>
                              <p:cond delay="13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P spid="5" grpId="0" build="allAtOnce"/>
      <p:bldP spid="6" grpId="0" build="allAtOnce"/>
      <p:bldP spid="7" grpId="0" build="allAtOnce"/>
      <p:bldP spid="8" grpId="0" build="allAtOnce"/>
      <p:bldP spid="9" grpId="0" build="allAtOnce"/>
      <p:bldP spid="10" grpId="0" build="allAtOnce"/>
      <p:bldP spid="11" grpId="0" build="allAtOnce"/>
      <p:bldP spid="12" grpId="0" build="allAtOnce"/>
      <p:bldP spid="13" grpId="0" build="allAtOnce"/>
      <p:bldP spid="14" grpId="0" build="allAtOnce"/>
    </p:bldLst>
  </p:timing>
</p:sld>
</file>

<file path=ppt/slides/slide15.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BF83143F-F898-4019-B1D2-6B31ADEA9BDB}"/>
              </a:ext>
            </a:extLst>
          </p:cNvPr>
          <p:cNvPicPr>
            <a:picLocks xmlns:a="http://schemas.openxmlformats.org/drawingml/2006/main" noChangeAspect="1"/>
          </p:cNvPicPr>
          <p:nvPr/>
        </p:nvPicPr>
        <p:blipFill>
          <a:blip xmlns:r="http://schemas.openxmlformats.org/officeDocument/2006/relationships" xmlns:a="http://schemas.openxmlformats.org/drawingml/2006/main" r:embed="Rcdc86393b8e04da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A7FBB6-F3B2-4F7E-977C-7E7800EF7D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D15">
              <a:alpha val="45000"/>
            </a:srgbClr>
          </a:solidFill>
          <a:ln xmlns:a="http://schemas.openxmlformats.org/drawingml/2006/main" w="0">
            <a:noFill/>
          </a:ln>
        </p:spPr>
      </p:sp>
      <p:sp>
        <p:nvSpPr>
          <p:cNvPr id="3" name="14 / WORKING TOOLKIT">
            <a:extLst xmlns:a="http://schemas.openxmlformats.org/drawingml/2006/main">
              <a:ext uri="{FF2B5EF4-FFF2-40B4-BE49-F238E27FC236}">
                <a16:creationId xmlns:a16="http://schemas.microsoft.com/office/drawing/2014/main" id="{289B2847-003C-479A-9EA5-AB801253B34F}"/>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14 / WORKING TOOLKIT</a:t>
            </a:r>
          </a:p>
        </p:txBody>
      </p:sp>
      <p:sp>
        <p:nvSpPr>
          <p:cNvPr id="4" name="KHAWAJA SAIM">
            <a:extLst xmlns:a="http://schemas.openxmlformats.org/drawingml/2006/main">
              <a:ext uri="{FF2B5EF4-FFF2-40B4-BE49-F238E27FC236}">
                <a16:creationId xmlns:a16="http://schemas.microsoft.com/office/drawing/2014/main" id="{19503BEC-49F7-48EB-A128-340DBA647558}"/>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5" name="15">
            <a:extLst xmlns:a="http://schemas.openxmlformats.org/drawingml/2006/main">
              <a:ext uri="{FF2B5EF4-FFF2-40B4-BE49-F238E27FC236}">
                <a16:creationId xmlns:a16="http://schemas.microsoft.com/office/drawing/2014/main" id="{CBDD66F8-210F-42E6-9568-27E41838381B}"/>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15</a:t>
            </a:r>
          </a:p>
        </p:txBody>
      </p:sp>
      <p:sp>
        <p:nvSpPr>
          <p:cNvPr id="6" name="Tools behind&#10;the outcome.">
            <a:extLst xmlns:a="http://schemas.openxmlformats.org/drawingml/2006/main">
              <a:ext uri="{FF2B5EF4-FFF2-40B4-BE49-F238E27FC236}">
                <a16:creationId xmlns:a16="http://schemas.microsoft.com/office/drawing/2014/main" id="{96CB6905-27AF-4D8A-9F5C-BB9323390995}"/>
              </a:ext>
            </a:extLst>
          </p:cNvPr>
          <p:cNvSpPr>
            <a:spLocks xmlns:a="http://schemas.openxmlformats.org/drawingml/2006/main" noGrp="1"/>
          </p:cNvSpPr>
          <p:nvPr/>
        </p:nvSpPr>
        <p:spPr>
          <a:xfrm xmlns:a="http://schemas.openxmlformats.org/drawingml/2006/main">
            <a:off x="609600" y="1133475"/>
            <a:ext cx="10477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75"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4275" b="1">
                <a:solidFill>
                  <a:srgbClr val="F3F5F7"/>
                </a:solidFill>
                <a:latin typeface="Sora"/>
                <a:ea typeface="Sora"/>
                <a:cs typeface="Sora"/>
              </a:defRPr>
            </a:pPr>
            <a:r>
              <a:rPr sz="4275" b="1" spc="-30">
                <a:gradFill>
                  <a:gsLst>
                    <a:gs pos="0">
                      <a:srgbClr val="F4F8FF"/>
                    </a:gs>
                    <a:gs pos="55000">
                      <a:srgbClr val="B2DFFF"/>
                    </a:gs>
                    <a:gs pos="100000">
                      <a:srgbClr val="548EE1"/>
                    </a:gs>
                  </a:gsLst>
                  <a:lin ang="0"/>
                </a:gradFill>
                <a:latin typeface="Sora"/>
                <a:ea typeface="Sora"/>
                <a:cs typeface="Sora"/>
              </a:rPr>
              <a:t>Tools behind</a:t>
            </a:r>
          </a:p>
          <a:p xmlns:a="http://schemas.openxmlformats.org/drawingml/2006/main">
            <a:pPr>
              <a:lnSpc>
                <a:spcPct val="105000"/>
              </a:lnSpc>
              <a:buNone/>
              <a:defRPr sz="4275" b="1">
                <a:solidFill>
                  <a:srgbClr val="F3F5F7"/>
                </a:solidFill>
                <a:latin typeface="Sora"/>
                <a:ea typeface="Sora"/>
                <a:cs typeface="Sora"/>
              </a:defRPr>
            </a:pPr>
            <a:r>
              <a:rPr sz="4275" b="1" spc="-30">
                <a:gradFill>
                  <a:gsLst>
                    <a:gs pos="0">
                      <a:srgbClr val="F4F8FF"/>
                    </a:gs>
                    <a:gs pos="55000">
                      <a:srgbClr val="B2DFFF"/>
                    </a:gs>
                    <a:gs pos="100000">
                      <a:srgbClr val="548EE1"/>
                    </a:gs>
                  </a:gsLst>
                  <a:lin ang="0"/>
                </a:gradFill>
                <a:latin typeface="Sora"/>
                <a:ea typeface="Sora"/>
                <a:cs typeface="Sora"/>
              </a:rPr>
              <a:t>the outcome.</a:t>
            </a:r>
          </a:p>
        </p:txBody>
      </p:sp>
      <p:sp>
        <p:nvSpPr>
          <p:cNvPr id="7" name="Campaigns">
            <a:extLst xmlns:a="http://schemas.openxmlformats.org/drawingml/2006/main">
              <a:ext uri="{FF2B5EF4-FFF2-40B4-BE49-F238E27FC236}">
                <a16:creationId xmlns:a16="http://schemas.microsoft.com/office/drawing/2014/main" id="{DC25A05A-0A7D-4C86-AFD7-18F8392D4B31}"/>
              </a:ext>
            </a:extLst>
          </p:cNvPr>
          <p:cNvSpPr>
            <a:spLocks xmlns:a="http://schemas.openxmlformats.org/drawingml/2006/main" noGrp="1"/>
          </p:cNvSpPr>
          <p:nvPr/>
        </p:nvSpPr>
        <p:spPr>
          <a:xfrm xmlns:a="http://schemas.openxmlformats.org/drawingml/2006/main">
            <a:off x="609600" y="340042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A8D4FF"/>
                </a:solidFill>
                <a:latin typeface="Manrope"/>
                <a:ea typeface="Manrope"/>
                <a:cs typeface="Manrope"/>
              </a:defRPr>
            </a:defPPr>
          </a:lstStyle>
          <a:p xmlns:a="http://schemas.openxmlformats.org/drawingml/2006/main">
            <a:pPr>
              <a:lnSpc>
                <a:spcPct val="105000"/>
              </a:lnSpc>
              <a:buNone/>
              <a:defRPr sz="2025" b="1">
                <a:solidFill>
                  <a:srgbClr val="A8D4FF"/>
                </a:solidFill>
                <a:latin typeface="Manrope"/>
                <a:ea typeface="Manrope"/>
                <a:cs typeface="Manrope"/>
              </a:defRPr>
            </a:pPr>
            <a:r>
              <a:rPr sz="2025" b="1" spc="0">
                <a:solidFill>
                  <a:srgbClr val="A8D4FF"/>
                </a:solidFill>
                <a:latin typeface="Manrope"/>
                <a:ea typeface="Manrope"/>
                <a:cs typeface="Manrope"/>
              </a:rPr>
              <a:t>Campaigns</a:t>
            </a:r>
          </a:p>
        </p:txBody>
      </p:sp>
      <p:sp>
        <p:nvSpPr>
          <p:cNvPr id="8" name="Meta Ads Manager&#10;Google Ads">
            <a:extLst xmlns:a="http://schemas.openxmlformats.org/drawingml/2006/main">
              <a:ext uri="{FF2B5EF4-FFF2-40B4-BE49-F238E27FC236}">
                <a16:creationId xmlns:a16="http://schemas.microsoft.com/office/drawing/2014/main" id="{8420DA02-4807-4979-841D-72605261CF03}"/>
              </a:ext>
            </a:extLst>
          </p:cNvPr>
          <p:cNvSpPr>
            <a:spLocks xmlns:a="http://schemas.openxmlformats.org/drawingml/2006/main" noGrp="1"/>
          </p:cNvSpPr>
          <p:nvPr/>
        </p:nvSpPr>
        <p:spPr>
          <a:xfrm xmlns:a="http://schemas.openxmlformats.org/drawingml/2006/main">
            <a:off x="609600" y="4162425"/>
            <a:ext cx="24574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A9B8CA"/>
                </a:solidFill>
                <a:latin typeface="Manrope"/>
                <a:ea typeface="Manrope"/>
                <a:cs typeface="Manrope"/>
              </a:defRPr>
            </a:defPPr>
          </a:lstStyle>
          <a:p xmlns:a="http://schemas.openxmlformats.org/drawingml/2006/main">
            <a:pPr>
              <a:lnSpc>
                <a:spcPct val="105000"/>
              </a:lnSpc>
              <a:buNone/>
              <a:defRPr sz="2025" b="0">
                <a:solidFill>
                  <a:srgbClr val="A9B8CA"/>
                </a:solidFill>
                <a:latin typeface="Manrope"/>
                <a:ea typeface="Manrope"/>
                <a:cs typeface="Manrope"/>
              </a:defRPr>
            </a:pPr>
            <a:r>
              <a:rPr sz="2025" b="0" spc="0">
                <a:solidFill>
                  <a:srgbClr val="A9B8CA"/>
                </a:solidFill>
                <a:latin typeface="Manrope"/>
                <a:ea typeface="Manrope"/>
                <a:cs typeface="Manrope"/>
              </a:rPr>
              <a:t>Meta Ads Manager</a:t>
            </a:r>
          </a:p>
          <a:p xmlns:a="http://schemas.openxmlformats.org/drawingml/2006/main">
            <a:pPr>
              <a:lnSpc>
                <a:spcPct val="105000"/>
              </a:lnSpc>
              <a:buNone/>
              <a:defRPr sz="2025" b="0">
                <a:solidFill>
                  <a:srgbClr val="A9B8CA"/>
                </a:solidFill>
                <a:latin typeface="Manrope"/>
                <a:ea typeface="Manrope"/>
                <a:cs typeface="Manrope"/>
              </a:defRPr>
            </a:pPr>
            <a:r>
              <a:rPr sz="2025" b="0" spc="0">
                <a:solidFill>
                  <a:srgbClr val="A9B8CA"/>
                </a:solidFill>
                <a:latin typeface="Manrope"/>
                <a:ea typeface="Manrope"/>
                <a:cs typeface="Manrope"/>
              </a:rPr>
              <a:t>Google Ads</a:t>
            </a:r>
          </a:p>
        </p:txBody>
      </p:sp>
      <p:sp>
        <p:nvSpPr>
          <p:cNvPr id="9" name="Measurement">
            <a:extLst xmlns:a="http://schemas.openxmlformats.org/drawingml/2006/main">
              <a:ext uri="{FF2B5EF4-FFF2-40B4-BE49-F238E27FC236}">
                <a16:creationId xmlns:a16="http://schemas.microsoft.com/office/drawing/2014/main" id="{FC2D6B2A-3B7C-461E-9AE0-C04EADA4F447}"/>
              </a:ext>
            </a:extLst>
          </p:cNvPr>
          <p:cNvSpPr>
            <a:spLocks xmlns:a="http://schemas.openxmlformats.org/drawingml/2006/main" noGrp="1"/>
          </p:cNvSpPr>
          <p:nvPr/>
        </p:nvSpPr>
        <p:spPr>
          <a:xfrm xmlns:a="http://schemas.openxmlformats.org/drawingml/2006/main">
            <a:off x="3371850" y="340042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A8D4FF"/>
                </a:solidFill>
                <a:latin typeface="Manrope"/>
                <a:ea typeface="Manrope"/>
                <a:cs typeface="Manrope"/>
              </a:defRPr>
            </a:defPPr>
          </a:lstStyle>
          <a:p xmlns:a="http://schemas.openxmlformats.org/drawingml/2006/main">
            <a:pPr>
              <a:lnSpc>
                <a:spcPct val="105000"/>
              </a:lnSpc>
              <a:buNone/>
              <a:defRPr sz="2025" b="1">
                <a:solidFill>
                  <a:srgbClr val="A8D4FF"/>
                </a:solidFill>
                <a:latin typeface="Manrope"/>
                <a:ea typeface="Manrope"/>
                <a:cs typeface="Manrope"/>
              </a:defRPr>
            </a:pPr>
            <a:r>
              <a:rPr sz="2025" b="1" spc="0">
                <a:solidFill>
                  <a:srgbClr val="A8D4FF"/>
                </a:solidFill>
                <a:latin typeface="Manrope"/>
                <a:ea typeface="Manrope"/>
                <a:cs typeface="Manrope"/>
              </a:rPr>
              <a:t>Measurement</a:t>
            </a:r>
          </a:p>
        </p:txBody>
      </p:sp>
      <p:sp>
        <p:nvSpPr>
          <p:cNvPr id="10" name="Google Analytics&#10;Google Tag Manager">
            <a:extLst xmlns:a="http://schemas.openxmlformats.org/drawingml/2006/main">
              <a:ext uri="{FF2B5EF4-FFF2-40B4-BE49-F238E27FC236}">
                <a16:creationId xmlns:a16="http://schemas.microsoft.com/office/drawing/2014/main" id="{3E7071E1-1919-40A5-8E92-AEE239385D0B}"/>
              </a:ext>
            </a:extLst>
          </p:cNvPr>
          <p:cNvSpPr>
            <a:spLocks xmlns:a="http://schemas.openxmlformats.org/drawingml/2006/main" noGrp="1"/>
          </p:cNvSpPr>
          <p:nvPr/>
        </p:nvSpPr>
        <p:spPr>
          <a:xfrm xmlns:a="http://schemas.openxmlformats.org/drawingml/2006/main">
            <a:off x="3371850" y="4162425"/>
            <a:ext cx="24574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A9B8CA"/>
                </a:solidFill>
                <a:latin typeface="Manrope"/>
                <a:ea typeface="Manrope"/>
                <a:cs typeface="Manrope"/>
              </a:defRPr>
            </a:defPPr>
          </a:lstStyle>
          <a:p xmlns:a="http://schemas.openxmlformats.org/drawingml/2006/main">
            <a:pPr>
              <a:lnSpc>
                <a:spcPct val="105000"/>
              </a:lnSpc>
              <a:buNone/>
              <a:defRPr sz="2025" b="0">
                <a:solidFill>
                  <a:srgbClr val="A9B8CA"/>
                </a:solidFill>
                <a:latin typeface="Manrope"/>
                <a:ea typeface="Manrope"/>
                <a:cs typeface="Manrope"/>
              </a:defRPr>
            </a:pPr>
            <a:r>
              <a:rPr sz="2025" b="0" spc="0">
                <a:solidFill>
                  <a:srgbClr val="A9B8CA"/>
                </a:solidFill>
                <a:latin typeface="Manrope"/>
                <a:ea typeface="Manrope"/>
                <a:cs typeface="Manrope"/>
              </a:rPr>
              <a:t>Google Analytics</a:t>
            </a:r>
          </a:p>
          <a:p xmlns:a="http://schemas.openxmlformats.org/drawingml/2006/main">
            <a:pPr>
              <a:lnSpc>
                <a:spcPct val="105000"/>
              </a:lnSpc>
              <a:buNone/>
              <a:defRPr sz="2025" b="0">
                <a:solidFill>
                  <a:srgbClr val="A9B8CA"/>
                </a:solidFill>
                <a:latin typeface="Manrope"/>
                <a:ea typeface="Manrope"/>
                <a:cs typeface="Manrope"/>
              </a:defRPr>
            </a:pPr>
            <a:r>
              <a:rPr sz="2025" b="0" spc="0">
                <a:solidFill>
                  <a:srgbClr val="A9B8CA"/>
                </a:solidFill>
                <a:latin typeface="Manrope"/>
                <a:ea typeface="Manrope"/>
                <a:cs typeface="Manrope"/>
              </a:rPr>
              <a:t>Google Tag Manager</a:t>
            </a:r>
          </a:p>
        </p:txBody>
      </p:sp>
      <p:sp>
        <p:nvSpPr>
          <p:cNvPr id="11" name="Automation">
            <a:extLst xmlns:a="http://schemas.openxmlformats.org/drawingml/2006/main">
              <a:ext uri="{FF2B5EF4-FFF2-40B4-BE49-F238E27FC236}">
                <a16:creationId xmlns:a16="http://schemas.microsoft.com/office/drawing/2014/main" id="{4FAFBB96-326A-40DE-8B08-B592D6C9DA57}"/>
              </a:ext>
            </a:extLst>
          </p:cNvPr>
          <p:cNvSpPr>
            <a:spLocks xmlns:a="http://schemas.openxmlformats.org/drawingml/2006/main" noGrp="1"/>
          </p:cNvSpPr>
          <p:nvPr/>
        </p:nvSpPr>
        <p:spPr>
          <a:xfrm xmlns:a="http://schemas.openxmlformats.org/drawingml/2006/main">
            <a:off x="6134100" y="340042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A8D4FF"/>
                </a:solidFill>
                <a:latin typeface="Manrope"/>
                <a:ea typeface="Manrope"/>
                <a:cs typeface="Manrope"/>
              </a:defRPr>
            </a:defPPr>
          </a:lstStyle>
          <a:p xmlns:a="http://schemas.openxmlformats.org/drawingml/2006/main">
            <a:pPr>
              <a:lnSpc>
                <a:spcPct val="105000"/>
              </a:lnSpc>
              <a:buNone/>
              <a:defRPr sz="2025" b="1">
                <a:solidFill>
                  <a:srgbClr val="A8D4FF"/>
                </a:solidFill>
                <a:latin typeface="Manrope"/>
                <a:ea typeface="Manrope"/>
                <a:cs typeface="Manrope"/>
              </a:defRPr>
            </a:pPr>
            <a:r>
              <a:rPr sz="2025" b="1" spc="0">
                <a:solidFill>
                  <a:srgbClr val="A8D4FF"/>
                </a:solidFill>
                <a:latin typeface="Manrope"/>
                <a:ea typeface="Manrope"/>
                <a:cs typeface="Manrope"/>
              </a:rPr>
              <a:t>Automation</a:t>
            </a:r>
          </a:p>
        </p:txBody>
      </p:sp>
      <p:sp>
        <p:nvSpPr>
          <p:cNvPr id="12" name="n8n&#10;AI voice agents&#10;CRM systems">
            <a:extLst xmlns:a="http://schemas.openxmlformats.org/drawingml/2006/main">
              <a:ext uri="{FF2B5EF4-FFF2-40B4-BE49-F238E27FC236}">
                <a16:creationId xmlns:a16="http://schemas.microsoft.com/office/drawing/2014/main" id="{46C35102-B57F-46E6-90C7-E1D43F45AEC0}"/>
              </a:ext>
            </a:extLst>
          </p:cNvPr>
          <p:cNvSpPr>
            <a:spLocks xmlns:a="http://schemas.openxmlformats.org/drawingml/2006/main" noGrp="1"/>
          </p:cNvSpPr>
          <p:nvPr/>
        </p:nvSpPr>
        <p:spPr>
          <a:xfrm xmlns:a="http://schemas.openxmlformats.org/drawingml/2006/main">
            <a:off x="6134100" y="4162425"/>
            <a:ext cx="24574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A9B8CA"/>
                </a:solidFill>
                <a:latin typeface="Manrope"/>
                <a:ea typeface="Manrope"/>
                <a:cs typeface="Manrope"/>
              </a:defRPr>
            </a:defPPr>
          </a:lstStyle>
          <a:p xmlns:a="http://schemas.openxmlformats.org/drawingml/2006/main">
            <a:pPr>
              <a:lnSpc>
                <a:spcPct val="105000"/>
              </a:lnSpc>
              <a:buNone/>
              <a:defRPr sz="2025" b="0">
                <a:solidFill>
                  <a:srgbClr val="A9B8CA"/>
                </a:solidFill>
                <a:latin typeface="Manrope"/>
                <a:ea typeface="Manrope"/>
                <a:cs typeface="Manrope"/>
              </a:defRPr>
            </a:pPr>
            <a:r>
              <a:rPr sz="2025" b="0" spc="0">
                <a:solidFill>
                  <a:srgbClr val="A9B8CA"/>
                </a:solidFill>
                <a:latin typeface="Manrope"/>
                <a:ea typeface="Manrope"/>
                <a:cs typeface="Manrope"/>
              </a:rPr>
              <a:t>n8n</a:t>
            </a:r>
          </a:p>
          <a:p xmlns:a="http://schemas.openxmlformats.org/drawingml/2006/main">
            <a:pPr>
              <a:lnSpc>
                <a:spcPct val="105000"/>
              </a:lnSpc>
              <a:buNone/>
              <a:defRPr sz="2025" b="0">
                <a:solidFill>
                  <a:srgbClr val="A9B8CA"/>
                </a:solidFill>
                <a:latin typeface="Manrope"/>
                <a:ea typeface="Manrope"/>
                <a:cs typeface="Manrope"/>
              </a:defRPr>
            </a:pPr>
            <a:r>
              <a:rPr sz="2025" b="0" spc="0">
                <a:solidFill>
                  <a:srgbClr val="A9B8CA"/>
                </a:solidFill>
                <a:latin typeface="Manrope"/>
                <a:ea typeface="Manrope"/>
                <a:cs typeface="Manrope"/>
              </a:rPr>
              <a:t>AI voice agents</a:t>
            </a:r>
          </a:p>
          <a:p xmlns:a="http://schemas.openxmlformats.org/drawingml/2006/main">
            <a:pPr>
              <a:lnSpc>
                <a:spcPct val="105000"/>
              </a:lnSpc>
              <a:buNone/>
              <a:defRPr sz="2025" b="0">
                <a:solidFill>
                  <a:srgbClr val="A9B8CA"/>
                </a:solidFill>
                <a:latin typeface="Manrope"/>
                <a:ea typeface="Manrope"/>
                <a:cs typeface="Manrope"/>
              </a:defRPr>
            </a:pPr>
            <a:r>
              <a:rPr sz="2025" b="0" spc="0">
                <a:solidFill>
                  <a:srgbClr val="A9B8CA"/>
                </a:solidFill>
                <a:latin typeface="Manrope"/>
                <a:ea typeface="Manrope"/>
                <a:cs typeface="Manrope"/>
              </a:rPr>
              <a:t>CRM systems</a:t>
            </a:r>
          </a:p>
        </p:txBody>
      </p:sp>
      <p:sp>
        <p:nvSpPr>
          <p:cNvPr id="13" name="Content">
            <a:extLst xmlns:a="http://schemas.openxmlformats.org/drawingml/2006/main">
              <a:ext uri="{FF2B5EF4-FFF2-40B4-BE49-F238E27FC236}">
                <a16:creationId xmlns:a16="http://schemas.microsoft.com/office/drawing/2014/main" id="{B90364E2-1932-49A7-BDFD-CA9A9A2A044C}"/>
              </a:ext>
            </a:extLst>
          </p:cNvPr>
          <p:cNvSpPr>
            <a:spLocks xmlns:a="http://schemas.openxmlformats.org/drawingml/2006/main" noGrp="1"/>
          </p:cNvSpPr>
          <p:nvPr/>
        </p:nvSpPr>
        <p:spPr>
          <a:xfrm xmlns:a="http://schemas.openxmlformats.org/drawingml/2006/main">
            <a:off x="8896350" y="340042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A8D4FF"/>
                </a:solidFill>
                <a:latin typeface="Manrope"/>
                <a:ea typeface="Manrope"/>
                <a:cs typeface="Manrope"/>
              </a:defRPr>
            </a:defPPr>
          </a:lstStyle>
          <a:p xmlns:a="http://schemas.openxmlformats.org/drawingml/2006/main">
            <a:pPr>
              <a:lnSpc>
                <a:spcPct val="105000"/>
              </a:lnSpc>
              <a:buNone/>
              <a:defRPr sz="2025" b="1">
                <a:solidFill>
                  <a:srgbClr val="A8D4FF"/>
                </a:solidFill>
                <a:latin typeface="Manrope"/>
                <a:ea typeface="Manrope"/>
                <a:cs typeface="Manrope"/>
              </a:defRPr>
            </a:pPr>
            <a:r>
              <a:rPr sz="2025" b="1" spc="0">
                <a:solidFill>
                  <a:srgbClr val="A8D4FF"/>
                </a:solidFill>
                <a:latin typeface="Manrope"/>
                <a:ea typeface="Manrope"/>
                <a:cs typeface="Manrope"/>
              </a:rPr>
              <a:t>Content</a:t>
            </a:r>
          </a:p>
        </p:txBody>
      </p:sp>
      <p:sp>
        <p:nvSpPr>
          <p:cNvPr id="14" name="Canva&#10;CapCut">
            <a:extLst xmlns:a="http://schemas.openxmlformats.org/drawingml/2006/main">
              <a:ext uri="{FF2B5EF4-FFF2-40B4-BE49-F238E27FC236}">
                <a16:creationId xmlns:a16="http://schemas.microsoft.com/office/drawing/2014/main" id="{D63ED1A7-4A5C-4C76-A54A-94298D81CB77}"/>
              </a:ext>
            </a:extLst>
          </p:cNvPr>
          <p:cNvSpPr>
            <a:spLocks xmlns:a="http://schemas.openxmlformats.org/drawingml/2006/main" noGrp="1"/>
          </p:cNvSpPr>
          <p:nvPr/>
        </p:nvSpPr>
        <p:spPr>
          <a:xfrm xmlns:a="http://schemas.openxmlformats.org/drawingml/2006/main">
            <a:off x="8896350" y="4162425"/>
            <a:ext cx="24574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A9B8CA"/>
                </a:solidFill>
                <a:latin typeface="Manrope"/>
                <a:ea typeface="Manrope"/>
                <a:cs typeface="Manrope"/>
              </a:defRPr>
            </a:defPPr>
          </a:lstStyle>
          <a:p xmlns:a="http://schemas.openxmlformats.org/drawingml/2006/main">
            <a:pPr>
              <a:lnSpc>
                <a:spcPct val="105000"/>
              </a:lnSpc>
              <a:buNone/>
              <a:defRPr sz="2025" b="0">
                <a:solidFill>
                  <a:srgbClr val="A9B8CA"/>
                </a:solidFill>
                <a:latin typeface="Manrope"/>
                <a:ea typeface="Manrope"/>
                <a:cs typeface="Manrope"/>
              </a:defRPr>
            </a:pPr>
            <a:r>
              <a:rPr sz="2025" b="0" spc="0">
                <a:solidFill>
                  <a:srgbClr val="A9B8CA"/>
                </a:solidFill>
                <a:latin typeface="Manrope"/>
                <a:ea typeface="Manrope"/>
                <a:cs typeface="Manrope"/>
              </a:rPr>
              <a:t>Canva</a:t>
            </a:r>
          </a:p>
          <a:p xmlns:a="http://schemas.openxmlformats.org/drawingml/2006/main">
            <a:pPr>
              <a:lnSpc>
                <a:spcPct val="105000"/>
              </a:lnSpc>
              <a:buNone/>
              <a:defRPr sz="2025" b="0">
                <a:solidFill>
                  <a:srgbClr val="A9B8CA"/>
                </a:solidFill>
                <a:latin typeface="Manrope"/>
                <a:ea typeface="Manrope"/>
                <a:cs typeface="Manrope"/>
              </a:defRPr>
            </a:pPr>
            <a:r>
              <a:rPr sz="2025" b="0" spc="0">
                <a:solidFill>
                  <a:srgbClr val="A9B8CA"/>
                </a:solidFill>
                <a:latin typeface="Manrope"/>
                <a:ea typeface="Manrope"/>
                <a:cs typeface="Manrope"/>
              </a:rPr>
              <a:t>CapCut</a:t>
            </a:r>
          </a:p>
        </p:txBody>
      </p:sp>
      <p:sp>
        <p:nvSpPr>
          <p:cNvPr id="15" name="The tool follows the job">
            <a:extLst xmlns:a="http://schemas.openxmlformats.org/drawingml/2006/main">
              <a:ext uri="{FF2B5EF4-FFF2-40B4-BE49-F238E27FC236}">
                <a16:creationId xmlns:a16="http://schemas.microsoft.com/office/drawing/2014/main" id="{1F083550-5BE6-4B0D-B235-0D0ED2245CD3}"/>
              </a:ext>
            </a:extLst>
          </p:cNvPr>
          <p:cNvSpPr>
            <a:spLocks xmlns:a="http://schemas.openxmlformats.org/drawingml/2006/main" noGrp="1"/>
          </p:cNvSpPr>
          <p:nvPr/>
        </p:nvSpPr>
        <p:spPr>
          <a:xfrm xmlns:a="http://schemas.openxmlformats.org/drawingml/2006/main">
            <a:off x="609600" y="5953125"/>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A9B8CA"/>
                </a:solidFill>
                <a:latin typeface="Manrope"/>
                <a:ea typeface="Manrope"/>
                <a:cs typeface="Manrope"/>
              </a:defRPr>
            </a:defPPr>
          </a:lstStyle>
          <a:p xmlns:a="http://schemas.openxmlformats.org/drawingml/2006/main">
            <a:pPr>
              <a:lnSpc>
                <a:spcPct val="105000"/>
              </a:lnSpc>
              <a:buNone/>
              <a:defRPr sz="1725" b="0">
                <a:solidFill>
                  <a:srgbClr val="A9B8CA"/>
                </a:solidFill>
                <a:latin typeface="Manrope"/>
                <a:ea typeface="Manrope"/>
                <a:cs typeface="Manrope"/>
              </a:defRPr>
            </a:pPr>
            <a:r>
              <a:rPr sz="1725" b="0" spc="0">
                <a:solidFill>
                  <a:srgbClr val="A9B8CA"/>
                </a:solidFill>
                <a:latin typeface="Manrope"/>
                <a:ea typeface="Manrope"/>
                <a:cs typeface="Manrope"/>
              </a:rPr>
              <a:t>The tool follows the job</a:t>
            </a:r>
          </a:p>
        </p:txBody>
      </p:sp>
    </p:spTree>
    <p:extLst>
      <p:ext uri="{BB962C8B-B14F-4D97-AF65-F5344CB8AC3E}">
        <p14:creationId xmlns:p14="http://schemas.microsoft.com/office/powerpoint/2010/main" val="2094292254"/>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fill="hold"/>
                                  <p:tgtEl>
                                    <p:spTgt spid="6"/>
                                  </p:tgtEl>
                                </p:cBhvr>
                              </p:animEffect>
                              <p:anim calcmode="lin" valueType="num">
                                <p:cBhvr additive="base">
                                  <p:cTn id="7" dur="550" fill="hold" decel="60000"/>
                                  <p:tgtEl>
                                    <p:spTgt spid="6"/>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50" fill="hold"/>
                                  <p:tgtEl>
                                    <p:spTgt spid="7"/>
                                  </p:tgtEl>
                                </p:cBhvr>
                              </p:animEffect>
                            </p:childTnLst>
                          </p:cTn>
                        </p:par>
                        <p:par>
                          <p:cTn id="11" presetID="10" presetClass="entr" presetSubtype="0" fill="hold" grpId="0" nodeType="withEffect">
                            <p:stCondLst>
                              <p:cond delay="38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50" fill="hold"/>
                                  <p:tgtEl>
                                    <p:spTgt spid="8"/>
                                  </p:tgtEl>
                                </p:cBhvr>
                              </p:animEffect>
                            </p:childTnLst>
                          </p:cTn>
                        </p:par>
                        <p:par>
                          <p:cTn id="14" presetID="10" presetClass="entr" presetSubtype="0" fill="hold" grpId="0" nodeType="withEffect">
                            <p:stCondLst>
                              <p:cond delay="495"/>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50" fill="hold"/>
                                  <p:tgtEl>
                                    <p:spTgt spid="9"/>
                                  </p:tgtEl>
                                </p:cBhvr>
                              </p:animEffect>
                            </p:childTnLst>
                          </p:cTn>
                        </p:par>
                        <p:par>
                          <p:cTn id="17" presetID="10" presetClass="entr" presetSubtype="0" fill="hold" grpId="0" nodeType="withEffect">
                            <p:stCondLst>
                              <p:cond delay="61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50" fill="hold"/>
                                  <p:tgtEl>
                                    <p:spTgt spid="10"/>
                                  </p:tgtEl>
                                </p:cBhvr>
                              </p:animEffect>
                            </p:childTnLst>
                          </p:cTn>
                        </p:par>
                        <p:par>
                          <p:cTn id="20" presetID="10" presetClass="entr" presetSubtype="0" fill="hold" grpId="0" nodeType="withEffect">
                            <p:stCondLst>
                              <p:cond delay="725"/>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fill="hold"/>
                                  <p:tgtEl>
                                    <p:spTgt spid="11"/>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50" fill="hold"/>
                                  <p:tgtEl>
                                    <p:spTgt spid="12"/>
                                  </p:tgtEl>
                                </p:cBhvr>
                              </p:animEffect>
                            </p:childTnLst>
                          </p:cTn>
                        </p:par>
                        <p:par>
                          <p:cTn id="26" presetID="10" presetClass="entr" presetSubtype="0" fill="hold" grpId="0" nodeType="withEffect">
                            <p:stCondLst>
                              <p:cond delay="955"/>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fill="hold"/>
                                  <p:tgtEl>
                                    <p:spTgt spid="13"/>
                                  </p:tgtEl>
                                </p:cBhvr>
                              </p:animEffect>
                            </p:childTnLst>
                          </p:cTn>
                        </p:par>
                        <p:par>
                          <p:cTn id="29" presetID="10" presetClass="entr" presetSubtype="0" fill="hold" grpId="0" nodeType="withEffect">
                            <p:stCondLst>
                              <p:cond delay="107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50" fill="hold"/>
                                  <p:tgtEl>
                                    <p:spTgt spid="14"/>
                                  </p:tgtEl>
                                </p:cBhvr>
                              </p:animEffect>
                            </p:childTnLst>
                          </p:cTn>
                        </p:par>
                        <p:par>
                          <p:cTn id="32" presetID="10" presetClass="entr" presetSubtype="0" fill="hold" grpId="0" nodeType="withEffect">
                            <p:stCondLst>
                              <p:cond delay="1185"/>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50" fill="hold"/>
                                  <p:tgtEl>
                                    <p:spTgt spid="1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P spid="9" grpId="0" build="allAtOnce"/>
      <p:bldP spid="10" grpId="0" build="allAtOnce"/>
      <p:bldP spid="11" grpId="0" build="allAtOnce"/>
      <p:bldP spid="12" grpId="0" build="allAtOnce"/>
      <p:bldP spid="13" grpId="0" build="allAtOnce"/>
      <p:bldP spid="14" grpId="0" build="allAtOnce"/>
      <p:bldP spid="15" grpId="0" build="allAtOnce"/>
    </p:bldLst>
  </p:timing>
</p:sld>
</file>

<file path=ppt/slides/slide16.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F599312A-4B3F-4B6A-8780-27B404363AD1}"/>
              </a:ext>
            </a:extLst>
          </p:cNvPr>
          <p:cNvPicPr>
            <a:picLocks xmlns:a="http://schemas.openxmlformats.org/drawingml/2006/main" noChangeAspect="1"/>
          </p:cNvPicPr>
          <p:nvPr/>
        </p:nvPicPr>
        <p:blipFill>
          <a:blip xmlns:r="http://schemas.openxmlformats.org/officeDocument/2006/relationships" xmlns:a="http://schemas.openxmlformats.org/drawingml/2006/main" r:embed="R0f912c3341e14e8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37091C-5EB5-42F4-8E63-2E5450326D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D15">
              <a:alpha val="45000"/>
            </a:srgbClr>
          </a:solidFill>
          <a:ln xmlns:a="http://schemas.openxmlformats.org/drawingml/2006/main" w="0">
            <a:noFill/>
          </a:ln>
        </p:spPr>
      </p:sp>
      <p:sp>
        <p:nvSpPr>
          <p:cNvPr id="3" name="15 / INDEPENDENT CONCEPT / US HOME DECOR">
            <a:extLst xmlns:a="http://schemas.openxmlformats.org/drawingml/2006/main">
              <a:ext uri="{FF2B5EF4-FFF2-40B4-BE49-F238E27FC236}">
                <a16:creationId xmlns:a16="http://schemas.microsoft.com/office/drawing/2014/main" id="{385F072D-028A-4688-886D-564302E61FE6}"/>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15 / INDEPENDENT CONCEPT / US HOME DECOR</a:t>
            </a:r>
          </a:p>
        </p:txBody>
      </p:sp>
      <p:sp>
        <p:nvSpPr>
          <p:cNvPr id="4" name="KHAWAJA SAIM">
            <a:extLst xmlns:a="http://schemas.openxmlformats.org/drawingml/2006/main">
              <a:ext uri="{FF2B5EF4-FFF2-40B4-BE49-F238E27FC236}">
                <a16:creationId xmlns:a16="http://schemas.microsoft.com/office/drawing/2014/main" id="{A29A40F6-22ED-47CB-9E1F-6E9C5051AC67}"/>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5" name="16">
            <a:extLst xmlns:a="http://schemas.openxmlformats.org/drawingml/2006/main">
              <a:ext uri="{FF2B5EF4-FFF2-40B4-BE49-F238E27FC236}">
                <a16:creationId xmlns:a16="http://schemas.microsoft.com/office/drawing/2014/main" id="{BC9E3A1F-DD81-406B-97F9-53DC1BA0241A}"/>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16</a:t>
            </a:r>
          </a:p>
        </p:txBody>
      </p:sp>
      <p:pic>
        <p:nvPicPr>
          <p:cNvPr id="6" name="">
            <a:extLst xmlns:a="http://schemas.openxmlformats.org/drawingml/2006/main">
              <a:ext uri="{FF2B5EF4-FFF2-40B4-BE49-F238E27FC236}">
                <a16:creationId xmlns:a16="http://schemas.microsoft.com/office/drawing/2014/main" id="{DBAE4B38-05B1-4917-B71D-7C9C9EAAC778}"/>
              </a:ext>
            </a:extLst>
          </p:cNvPr>
          <p:cNvPicPr>
            <a:picLocks xmlns:a="http://schemas.openxmlformats.org/drawingml/2006/main" noChangeAspect="1"/>
          </p:cNvPicPr>
          <p:nvPr/>
        </p:nvPicPr>
        <p:blipFill>
          <a:blip xmlns:r="http://schemas.openxmlformats.org/officeDocument/2006/relationships" xmlns:a="http://schemas.openxmlformats.org/drawingml/2006/main" r:embed="Reb6cdfb409ff476c"/>
          <a:srcRect xmlns:a="http://schemas.openxmlformats.org/drawingml/2006/main" l="13033" t="0" r="13033" b="0"/>
          <a:stretch xmlns:a="http://schemas.openxmlformats.org/drawingml/2006/main">
            <a:fillRect l="0" t="0" r="0" b="0"/>
          </a:stretch>
        </p:blipFill>
        <p:spPr>
          <a:xfrm xmlns:a="http://schemas.openxmlformats.org/drawingml/2006/main">
            <a:off x="6819900" y="0"/>
            <a:ext cx="5372100" cy="6858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22F0FF7-3F7E-4B31-8A62-91550FFE1B2D}"/>
              </a:ext>
            </a:extLst>
          </p:cNvPr>
          <p:cNvSpPr>
            <a:spLocks xmlns:a="http://schemas.openxmlformats.org/drawingml/2006/main" noGrp="1"/>
          </p:cNvSpPr>
          <p:nvPr/>
        </p:nvSpPr>
        <p:spPr>
          <a:xfrm xmlns:a="http://schemas.openxmlformats.org/drawingml/2006/main">
            <a:off x="0" y="0"/>
            <a:ext cx="6819900" cy="6858000"/>
          </a:xfrm>
          <a:prstGeom xmlns:a="http://schemas.openxmlformats.org/drawingml/2006/main" prst="rect">
            <a:avLst/>
          </a:prstGeom>
          <a:solidFill xmlns:a="http://schemas.openxmlformats.org/drawingml/2006/main">
            <a:srgbClr val="080D15"/>
          </a:solidFill>
          <a:ln xmlns:a="http://schemas.openxmlformats.org/drawingml/2006/main" w="0">
            <a:noFill/>
          </a:ln>
        </p:spPr>
      </p:sp>
      <p:sp>
        <p:nvSpPr>
          <p:cNvPr id="8" name="Morrow&#10;&amp; Pine">
            <a:extLst xmlns:a="http://schemas.openxmlformats.org/drawingml/2006/main">
              <a:ext uri="{FF2B5EF4-FFF2-40B4-BE49-F238E27FC236}">
                <a16:creationId xmlns:a16="http://schemas.microsoft.com/office/drawing/2014/main" id="{77EE7022-C84E-48E4-A8C8-4C375DDCC8EF}"/>
              </a:ext>
            </a:extLst>
          </p:cNvPr>
          <p:cNvSpPr>
            <a:spLocks xmlns:a="http://schemas.openxmlformats.org/drawingml/2006/main" noGrp="1"/>
          </p:cNvSpPr>
          <p:nvPr/>
        </p:nvSpPr>
        <p:spPr>
          <a:xfrm xmlns:a="http://schemas.openxmlformats.org/drawingml/2006/main">
            <a:off x="600075" y="1095375"/>
            <a:ext cx="5857875"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75"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4575" b="1">
                <a:solidFill>
                  <a:srgbClr val="F3F5F7"/>
                </a:solidFill>
                <a:latin typeface="Sora"/>
                <a:ea typeface="Sora"/>
                <a:cs typeface="Sora"/>
              </a:defRPr>
            </a:pPr>
            <a:r>
              <a:rPr sz="4575" b="1" spc="-30">
                <a:gradFill>
                  <a:gsLst>
                    <a:gs pos="0">
                      <a:srgbClr val="F4F8FF"/>
                    </a:gs>
                    <a:gs pos="55000">
                      <a:srgbClr val="B2DFFF"/>
                    </a:gs>
                    <a:gs pos="100000">
                      <a:srgbClr val="548EE1"/>
                    </a:gs>
                  </a:gsLst>
                  <a:lin ang="0"/>
                </a:gradFill>
                <a:latin typeface="Sora"/>
                <a:ea typeface="Sora"/>
                <a:cs typeface="Sora"/>
              </a:rPr>
              <a:t>Morrow</a:t>
            </a:r>
          </a:p>
          <a:p xmlns:a="http://schemas.openxmlformats.org/drawingml/2006/main">
            <a:pPr>
              <a:lnSpc>
                <a:spcPct val="105000"/>
              </a:lnSpc>
              <a:buNone/>
              <a:defRPr sz="4575" b="1">
                <a:solidFill>
                  <a:srgbClr val="F3F5F7"/>
                </a:solidFill>
                <a:latin typeface="Sora"/>
                <a:ea typeface="Sora"/>
                <a:cs typeface="Sora"/>
              </a:defRPr>
            </a:pPr>
            <a:r>
              <a:rPr sz="4575" b="1" spc="-30">
                <a:gradFill>
                  <a:gsLst>
                    <a:gs pos="0">
                      <a:srgbClr val="F4F8FF"/>
                    </a:gs>
                    <a:gs pos="55000">
                      <a:srgbClr val="B2DFFF"/>
                    </a:gs>
                    <a:gs pos="100000">
                      <a:srgbClr val="548EE1"/>
                    </a:gs>
                  </a:gsLst>
                  <a:lin ang="0"/>
                </a:gradFill>
                <a:latin typeface="Sora"/>
                <a:ea typeface="Sora"/>
                <a:cs typeface="Sora"/>
              </a:rPr>
              <a:t>&amp; Pine</a:t>
            </a:r>
          </a:p>
        </p:txBody>
      </p:sp>
      <p:sp>
        <p:nvSpPr>
          <p:cNvPr id="9" name="Paid acquisition strategy">
            <a:extLst xmlns:a="http://schemas.openxmlformats.org/drawingml/2006/main">
              <a:ext uri="{FF2B5EF4-FFF2-40B4-BE49-F238E27FC236}">
                <a16:creationId xmlns:a16="http://schemas.microsoft.com/office/drawing/2014/main" id="{9EE7542F-467F-4550-9D41-8E9CC3B64E58}"/>
              </a:ext>
            </a:extLst>
          </p:cNvPr>
          <p:cNvSpPr>
            <a:spLocks xmlns:a="http://schemas.openxmlformats.org/drawingml/2006/main" noGrp="1"/>
          </p:cNvSpPr>
          <p:nvPr/>
        </p:nvSpPr>
        <p:spPr>
          <a:xfrm xmlns:a="http://schemas.openxmlformats.org/drawingml/2006/main">
            <a:off x="628650" y="3067050"/>
            <a:ext cx="571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A8D4FF"/>
                </a:solidFill>
                <a:latin typeface="Manrope"/>
                <a:ea typeface="Manrope"/>
                <a:cs typeface="Manrope"/>
              </a:defRPr>
            </a:defPPr>
          </a:lstStyle>
          <a:p xmlns:a="http://schemas.openxmlformats.org/drawingml/2006/main">
            <a:pPr>
              <a:lnSpc>
                <a:spcPct val="105000"/>
              </a:lnSpc>
              <a:buNone/>
              <a:defRPr sz="2175" b="1">
                <a:solidFill>
                  <a:srgbClr val="A8D4FF"/>
                </a:solidFill>
                <a:latin typeface="Manrope"/>
                <a:ea typeface="Manrope"/>
                <a:cs typeface="Manrope"/>
              </a:defRPr>
            </a:pPr>
            <a:r>
              <a:rPr sz="2175" b="1" spc="0">
                <a:solidFill>
                  <a:srgbClr val="A8D4FF"/>
                </a:solidFill>
                <a:latin typeface="Manrope"/>
                <a:ea typeface="Manrope"/>
                <a:cs typeface="Manrope"/>
              </a:rPr>
              <a:t>Paid acquisition strategy</a:t>
            </a:r>
          </a:p>
        </p:txBody>
      </p:sp>
      <p:sp>
        <p:nvSpPr>
          <p:cNvPr id="10" name="Meta and TikTok for discovery. Google Search and Shopping for purchase">
            <a:extLst xmlns:a="http://schemas.openxmlformats.org/drawingml/2006/main">
              <a:ext uri="{FF2B5EF4-FFF2-40B4-BE49-F238E27FC236}">
                <a16:creationId xmlns:a16="http://schemas.microsoft.com/office/drawing/2014/main" id="{095490B6-C82B-4A44-8AA5-FE6E4BCD0131}"/>
              </a:ext>
            </a:extLst>
          </p:cNvPr>
          <p:cNvSpPr>
            <a:spLocks xmlns:a="http://schemas.openxmlformats.org/drawingml/2006/main" noGrp="1"/>
          </p:cNvSpPr>
          <p:nvPr/>
        </p:nvSpPr>
        <p:spPr>
          <a:xfrm xmlns:a="http://schemas.openxmlformats.org/drawingml/2006/main">
            <a:off x="628650" y="3886200"/>
            <a:ext cx="55911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A9B8CA"/>
                </a:solidFill>
                <a:latin typeface="Manrope"/>
                <a:ea typeface="Manrope"/>
                <a:cs typeface="Manrope"/>
              </a:defRPr>
            </a:defPPr>
          </a:lstStyle>
          <a:p xmlns:a="http://schemas.openxmlformats.org/drawingml/2006/main">
            <a:pPr>
              <a:lnSpc>
                <a:spcPct val="105000"/>
              </a:lnSpc>
              <a:buNone/>
              <a:defRPr sz="1875" b="0">
                <a:solidFill>
                  <a:srgbClr val="A9B8CA"/>
                </a:solidFill>
                <a:latin typeface="Manrope"/>
                <a:ea typeface="Manrope"/>
                <a:cs typeface="Manrope"/>
              </a:defRPr>
            </a:pPr>
            <a:r>
              <a:rPr sz="1875" b="0" spc="0">
                <a:solidFill>
                  <a:srgbClr val="A9B8CA"/>
                </a:solidFill>
                <a:latin typeface="Manrope"/>
                <a:ea typeface="Manrope"/>
                <a:cs typeface="Manrope"/>
              </a:rPr>
              <a:t>Meta and TikTok for discovery. Google Search and Shopping for purchase intent.</a:t>
            </a:r>
          </a:p>
        </p:txBody>
      </p:sp>
      <p:sp>
        <p:nvSpPr>
          <p:cNvPr id="11" name="Product context, reviews, dimensions, shipping clarity and bundles sup">
            <a:extLst xmlns:a="http://schemas.openxmlformats.org/drawingml/2006/main">
              <a:ext uri="{FF2B5EF4-FFF2-40B4-BE49-F238E27FC236}">
                <a16:creationId xmlns:a16="http://schemas.microsoft.com/office/drawing/2014/main" id="{5CD2F993-8DD7-4292-A4CE-AA8D3931D39D}"/>
              </a:ext>
            </a:extLst>
          </p:cNvPr>
          <p:cNvSpPr>
            <a:spLocks xmlns:a="http://schemas.openxmlformats.org/drawingml/2006/main" noGrp="1"/>
          </p:cNvSpPr>
          <p:nvPr/>
        </p:nvSpPr>
        <p:spPr>
          <a:xfrm xmlns:a="http://schemas.openxmlformats.org/drawingml/2006/main">
            <a:off x="628650" y="5172075"/>
            <a:ext cx="55911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A9B8CA"/>
                </a:solidFill>
                <a:latin typeface="Manrope"/>
                <a:ea typeface="Manrope"/>
                <a:cs typeface="Manrope"/>
              </a:defRPr>
            </a:defPPr>
          </a:lstStyle>
          <a:p xmlns:a="http://schemas.openxmlformats.org/drawingml/2006/main">
            <a:pPr>
              <a:lnSpc>
                <a:spcPct val="105000"/>
              </a:lnSpc>
              <a:buNone/>
              <a:defRPr sz="1725" b="0">
                <a:solidFill>
                  <a:srgbClr val="A9B8CA"/>
                </a:solidFill>
                <a:latin typeface="Manrope"/>
                <a:ea typeface="Manrope"/>
                <a:cs typeface="Manrope"/>
              </a:defRPr>
            </a:pPr>
            <a:r>
              <a:rPr sz="1725" b="0" spc="0">
                <a:solidFill>
                  <a:srgbClr val="A9B8CA"/>
                </a:solidFill>
                <a:latin typeface="Manrope"/>
                <a:ea typeface="Manrope"/>
                <a:cs typeface="Manrope"/>
              </a:rPr>
              <a:t>Product context, reviews, dimensions, shipping clarity and bundles support conversion.</a:t>
            </a:r>
          </a:p>
        </p:txBody>
      </p:sp>
      <p:sp>
        <p:nvSpPr>
          <p:cNvPr id="12" name="Independent concept, no historical results claimed">
            <a:extLst xmlns:a="http://schemas.openxmlformats.org/drawingml/2006/main">
              <a:ext uri="{FF2B5EF4-FFF2-40B4-BE49-F238E27FC236}">
                <a16:creationId xmlns:a16="http://schemas.microsoft.com/office/drawing/2014/main" id="{BF72F0F5-1298-4C9A-86E8-3A9DF1E5B4ED}"/>
              </a:ext>
            </a:extLst>
          </p:cNvPr>
          <p:cNvSpPr>
            <a:spLocks xmlns:a="http://schemas.openxmlformats.org/drawingml/2006/main" noGrp="1"/>
          </p:cNvSpPr>
          <p:nvPr/>
        </p:nvSpPr>
        <p:spPr>
          <a:xfrm xmlns:a="http://schemas.openxmlformats.org/drawingml/2006/main">
            <a:off x="7029450" y="6000750"/>
            <a:ext cx="442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DDE3E9"/>
                </a:solidFill>
                <a:latin typeface="Manrope"/>
                <a:ea typeface="Manrope"/>
                <a:cs typeface="Manrope"/>
              </a:defRPr>
            </a:defPPr>
          </a:lstStyle>
          <a:p xmlns:a="http://schemas.openxmlformats.org/drawingml/2006/main">
            <a:pPr>
              <a:lnSpc>
                <a:spcPct val="105000"/>
              </a:lnSpc>
              <a:buNone/>
              <a:defRPr sz="1125" b="0">
                <a:solidFill>
                  <a:srgbClr val="DDE3E9"/>
                </a:solidFill>
                <a:latin typeface="Manrope"/>
                <a:ea typeface="Manrope"/>
                <a:cs typeface="Manrope"/>
              </a:defRPr>
            </a:pPr>
            <a:r>
              <a:rPr sz="1125" b="0">
                <a:solidFill>
                  <a:srgbClr val="DDE3E9"/>
                </a:solidFill>
                <a:latin typeface="Manrope"/>
                <a:ea typeface="Manrope"/>
                <a:cs typeface="Manrope"/>
              </a:rPr>
              <a:t>Independent concept, no historical results claimed</a:t>
            </a:r>
          </a:p>
        </p:txBody>
      </p:sp>
      <p:sp>
        <p:nvSpPr>
          <p:cNvPr id="13" name="15 / INDEPENDENT CONCEPT / US HOME DECOR">
            <a:extLst xmlns:a="http://schemas.openxmlformats.org/drawingml/2006/main">
              <a:ext uri="{FF2B5EF4-FFF2-40B4-BE49-F238E27FC236}">
                <a16:creationId xmlns:a16="http://schemas.microsoft.com/office/drawing/2014/main" id="{6AEA793E-0684-4D94-AF56-7ECFDB18F19D}"/>
              </a:ext>
            </a:extLst>
          </p:cNvPr>
          <p:cNvSpPr>
            <a:spLocks xmlns:a="http://schemas.openxmlformats.org/drawingml/2006/main" noGrp="1"/>
          </p:cNvSpPr>
          <p:nvPr/>
        </p:nvSpPr>
        <p:spPr>
          <a:xfrm xmlns:a="http://schemas.openxmlformats.org/drawingml/2006/main">
            <a:off x="609600" y="381000"/>
            <a:ext cx="609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15 / INDEPENDENT CONCEPT / US HOME DECOR</a:t>
            </a:r>
          </a:p>
        </p:txBody>
      </p:sp>
      <p:sp>
        <p:nvSpPr>
          <p:cNvPr id="14" name="KHAWAJA SAIM">
            <a:extLst xmlns:a="http://schemas.openxmlformats.org/drawingml/2006/main">
              <a:ext uri="{FF2B5EF4-FFF2-40B4-BE49-F238E27FC236}">
                <a16:creationId xmlns:a16="http://schemas.microsoft.com/office/drawing/2014/main" id="{338A6754-E2CC-4A57-B642-B9C0A65658D4}"/>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15" name="16">
            <a:extLst xmlns:a="http://schemas.openxmlformats.org/drawingml/2006/main">
              <a:ext uri="{FF2B5EF4-FFF2-40B4-BE49-F238E27FC236}">
                <a16:creationId xmlns:a16="http://schemas.microsoft.com/office/drawing/2014/main" id="{CAA70C70-A0D8-42F3-AC09-1F0B0E296929}"/>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16</a:t>
            </a:r>
          </a:p>
        </p:txBody>
      </p:sp>
    </p:spTree>
    <p:extLst>
      <p:ext uri="{BB962C8B-B14F-4D97-AF65-F5344CB8AC3E}">
        <p14:creationId xmlns:p14="http://schemas.microsoft.com/office/powerpoint/2010/main" val="1362884471"/>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550" fill="hold"/>
                                  <p:tgtEl>
                                    <p:spTgt spid="8"/>
                                  </p:tgtEl>
                                </p:cBhvr>
                              </p:animEffect>
                              <p:anim calcmode="lin" valueType="num">
                                <p:cBhvr additive="base">
                                  <p:cTn id="7" dur="550" fill="hold" decel="60000"/>
                                  <p:tgtEl>
                                    <p:spTgt spid="8"/>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fill="hold"/>
                                  <p:tgtEl>
                                    <p:spTgt spid="9"/>
                                  </p:tgtEl>
                                </p:cBhvr>
                              </p:animEffect>
                            </p:childTnLst>
                          </p:cTn>
                        </p:par>
                        <p:par>
                          <p:cTn id="11" presetID="10" presetClass="entr" presetSubtype="0" fill="hold" grpId="0" nodeType="withEffect">
                            <p:stCondLst>
                              <p:cond delay="38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50" fill="hold"/>
                                  <p:tgtEl>
                                    <p:spTgt spid="10"/>
                                  </p:tgtEl>
                                </p:cBhvr>
                              </p:animEffect>
                            </p:childTnLst>
                          </p:cTn>
                        </p:par>
                        <p:par>
                          <p:cTn id="14" presetID="10" presetClass="entr" presetSubtype="0" fill="hold" grpId="0" nodeType="withEffect">
                            <p:stCondLst>
                              <p:cond delay="495"/>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9" grpId="0" build="allAtOnce"/>
      <p:bldP spid="10" grpId="0" build="allAtOnce"/>
      <p:bldP spid="11" grpId="0" build="allAtOnce"/>
    </p:bldLst>
  </p:timing>
</p:sld>
</file>

<file path=ppt/slides/slide17.xml><?xml version="1.0" encoding="utf-8"?>
<p:sld xmlns:p="http://schemas.openxmlformats.org/presentationml/2006/main">
  <p:cSld>
    <p:bg>
      <p:bgPr>
        <a:solidFill xmlns:a="http://schemas.openxmlformats.org/drawingml/2006/main">
          <a:srgbClr val="F3F5F7"/>
        </a:solidFill>
      </p:bgPr>
    </p:bg>
    <p:spTree>
      <p:nvGrpSpPr>
        <p:cNvPr id="1" name=""/>
        <p:cNvGrpSpPr/>
        <p:nvPr/>
      </p:nvGrpSpPr>
      <p:grpSpPr>
        <a:xfrm xmlns:a="http://schemas.openxmlformats.org/drawingml/2006/main"/>
      </p:grpSpPr>
      <p:sp>
        <p:nvSpPr>
          <p:cNvPr id="19" name="16 / MORROW &amp; PINE / TESTING PLAN">
            <a:extLst xmlns:a="http://schemas.openxmlformats.org/drawingml/2006/main">
              <a:ext uri="{FF2B5EF4-FFF2-40B4-BE49-F238E27FC236}">
                <a16:creationId xmlns:a16="http://schemas.microsoft.com/office/drawing/2014/main" id="{E0BC6538-AA0C-4F87-BD67-9C27E7C8289C}"/>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15375B"/>
                </a:solidFill>
                <a:latin typeface="Manrope"/>
                <a:ea typeface="Manrope"/>
                <a:cs typeface="Manrope"/>
              </a:defRPr>
            </a:defPPr>
          </a:lstStyle>
          <a:p xmlns:a="http://schemas.openxmlformats.org/drawingml/2006/main">
            <a:pPr>
              <a:lnSpc>
                <a:spcPct val="105000"/>
              </a:lnSpc>
              <a:buNone/>
              <a:defRPr sz="1050" b="1">
                <a:solidFill>
                  <a:srgbClr val="15375B"/>
                </a:solidFill>
                <a:latin typeface="Manrope"/>
                <a:ea typeface="Manrope"/>
                <a:cs typeface="Manrope"/>
              </a:defRPr>
            </a:pPr>
            <a:r>
              <a:rPr sz="1050" b="1">
                <a:solidFill>
                  <a:srgbClr val="15375B"/>
                </a:solidFill>
                <a:latin typeface="Manrope"/>
                <a:ea typeface="Manrope"/>
                <a:cs typeface="Manrope"/>
              </a:rPr>
              <a:t>16 / MORROW &amp; PINE / TESTING PLAN</a:t>
            </a:r>
          </a:p>
        </p:txBody>
      </p:sp>
      <p:sp>
        <p:nvSpPr>
          <p:cNvPr id="2" name="An acquisition blueprint">
            <a:extLst xmlns:a="http://schemas.openxmlformats.org/drawingml/2006/main">
              <a:ext uri="{FF2B5EF4-FFF2-40B4-BE49-F238E27FC236}">
                <a16:creationId xmlns:a16="http://schemas.microsoft.com/office/drawing/2014/main" id="{7C9C3185-1390-426B-8CD8-74E6503E8D31}"/>
              </a:ext>
            </a:extLst>
          </p:cNvPr>
          <p:cNvSpPr>
            <a:spLocks xmlns:a="http://schemas.openxmlformats.org/drawingml/2006/main" noGrp="1"/>
          </p:cNvSpPr>
          <p:nvPr/>
        </p:nvSpPr>
        <p:spPr>
          <a:xfrm xmlns:a="http://schemas.openxmlformats.org/drawingml/2006/main">
            <a:off x="609600" y="8572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080D15"/>
                </a:solidFill>
                <a:latin typeface="Sora"/>
                <a:ea typeface="Sora"/>
                <a:cs typeface="Sora"/>
              </a:defRPr>
            </a:defPPr>
          </a:lstStyle>
          <a:p xmlns:a="http://schemas.openxmlformats.org/drawingml/2006/main">
            <a:pPr>
              <a:lnSpc>
                <a:spcPct val="105000"/>
              </a:lnSpc>
              <a:buNone/>
              <a:defRPr sz="3600" b="1">
                <a:solidFill>
                  <a:srgbClr val="080D15"/>
                </a:solidFill>
                <a:latin typeface="Sora"/>
                <a:ea typeface="Sora"/>
                <a:cs typeface="Sora"/>
              </a:defRPr>
            </a:pPr>
            <a:r>
              <a:rPr sz="3600" b="1" spc="-30">
                <a:solidFill>
                  <a:srgbClr val="080D15"/>
                </a:solidFill>
                <a:latin typeface="Sora"/>
                <a:ea typeface="Sora"/>
                <a:cs typeface="Sora"/>
              </a:rPr>
              <a:t>An acquisition blueprint</a:t>
            </a:r>
          </a:p>
        </p:txBody>
      </p:sp>
      <p:sp>
        <p:nvSpPr>
          <p:cNvPr id="3" name="KHAWAJA SAIM">
            <a:extLst xmlns:a="http://schemas.openxmlformats.org/drawingml/2006/main">
              <a:ext uri="{FF2B5EF4-FFF2-40B4-BE49-F238E27FC236}">
                <a16:creationId xmlns:a16="http://schemas.microsoft.com/office/drawing/2014/main" id="{2200C508-13B8-4744-B6E7-DF4082CCD1AB}"/>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15375B"/>
                </a:solidFill>
                <a:latin typeface="Manrope"/>
                <a:ea typeface="Manrope"/>
                <a:cs typeface="Manrope"/>
              </a:defRPr>
            </a:defPPr>
          </a:lstStyle>
          <a:p xmlns:a="http://schemas.openxmlformats.org/drawingml/2006/main">
            <a:pPr>
              <a:lnSpc>
                <a:spcPct val="105000"/>
              </a:lnSpc>
              <a:buNone/>
              <a:defRPr sz="900" b="1">
                <a:solidFill>
                  <a:srgbClr val="15375B"/>
                </a:solidFill>
                <a:latin typeface="Manrope"/>
                <a:ea typeface="Manrope"/>
                <a:cs typeface="Manrope"/>
              </a:defRPr>
            </a:pPr>
            <a:r>
              <a:rPr sz="900" b="1">
                <a:solidFill>
                  <a:srgbClr val="15375B"/>
                </a:solidFill>
                <a:latin typeface="Manrope"/>
                <a:ea typeface="Manrope"/>
                <a:cs typeface="Manrope"/>
              </a:rPr>
              <a:t>KHAWAJA SAIM</a:t>
            </a:r>
          </a:p>
        </p:txBody>
      </p:sp>
      <p:sp>
        <p:nvSpPr>
          <p:cNvPr id="4" name="17">
            <a:extLst xmlns:a="http://schemas.openxmlformats.org/drawingml/2006/main">
              <a:ext uri="{FF2B5EF4-FFF2-40B4-BE49-F238E27FC236}">
                <a16:creationId xmlns:a16="http://schemas.microsoft.com/office/drawing/2014/main" id="{A055E2AB-3048-40A2-8DAE-6CFBEF2A81B8}"/>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15375B"/>
                </a:solidFill>
                <a:latin typeface="Manrope"/>
                <a:ea typeface="Manrope"/>
                <a:cs typeface="Manrope"/>
              </a:defRPr>
            </a:defPPr>
          </a:lstStyle>
          <a:p xmlns:a="http://schemas.openxmlformats.org/drawingml/2006/main">
            <a:pPr>
              <a:lnSpc>
                <a:spcPct val="105000"/>
              </a:lnSpc>
              <a:buNone/>
              <a:defRPr sz="1050" b="0">
                <a:solidFill>
                  <a:srgbClr val="15375B"/>
                </a:solidFill>
                <a:latin typeface="Manrope"/>
                <a:ea typeface="Manrope"/>
                <a:cs typeface="Manrope"/>
              </a:defRPr>
            </a:pPr>
            <a:r>
              <a:rPr sz="1050" b="0">
                <a:solidFill>
                  <a:srgbClr val="15375B"/>
                </a:solidFill>
                <a:latin typeface="Manrope"/>
                <a:ea typeface="Manrope"/>
                <a:cs typeface="Manrope"/>
              </a:rPr>
              <a:t>17</a:t>
            </a:r>
          </a:p>
        </p:txBody>
      </p:sp>
      <p:sp>
        <p:nvSpPr>
          <p:cNvPr id="5" name="01">
            <a:extLst xmlns:a="http://schemas.openxmlformats.org/drawingml/2006/main">
              <a:ext uri="{FF2B5EF4-FFF2-40B4-BE49-F238E27FC236}">
                <a16:creationId xmlns:a16="http://schemas.microsoft.com/office/drawing/2014/main" id="{0F4F41F8-6C00-45B5-887F-86E63126D9F6}"/>
              </a:ext>
            </a:extLst>
          </p:cNvPr>
          <p:cNvSpPr>
            <a:spLocks xmlns:a="http://schemas.openxmlformats.org/drawingml/2006/main" noGrp="1"/>
          </p:cNvSpPr>
          <p:nvPr/>
        </p:nvSpPr>
        <p:spPr>
          <a:xfrm xmlns:a="http://schemas.openxmlformats.org/drawingml/2006/main">
            <a:off x="609600" y="24384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5375B"/>
                </a:solidFill>
                <a:latin typeface="Sora"/>
                <a:ea typeface="Sora"/>
                <a:cs typeface="Sora"/>
              </a:defRPr>
            </a:defPPr>
          </a:lstStyle>
          <a:p xmlns:a="http://schemas.openxmlformats.org/drawingml/2006/main">
            <a:pPr>
              <a:lnSpc>
                <a:spcPct val="105000"/>
              </a:lnSpc>
              <a:buNone/>
              <a:defRPr sz="3600" b="1">
                <a:solidFill>
                  <a:srgbClr val="15375B"/>
                </a:solidFill>
                <a:latin typeface="Sora"/>
                <a:ea typeface="Sora"/>
                <a:cs typeface="Sora"/>
              </a:defRPr>
            </a:pPr>
            <a:r>
              <a:rPr sz="3600" b="1" spc="-30">
                <a:solidFill>
                  <a:srgbClr val="15375B"/>
                </a:solidFill>
                <a:latin typeface="Sora"/>
                <a:ea typeface="Sora"/>
                <a:cs typeface="Sora"/>
              </a:rPr>
              <a:t>01</a:t>
            </a:r>
          </a:p>
        </p:txBody>
      </p:sp>
      <p:sp>
        <p:nvSpPr>
          <p:cNvPr id="6" name="Discovery">
            <a:extLst xmlns:a="http://schemas.openxmlformats.org/drawingml/2006/main">
              <a:ext uri="{FF2B5EF4-FFF2-40B4-BE49-F238E27FC236}">
                <a16:creationId xmlns:a16="http://schemas.microsoft.com/office/drawing/2014/main" id="{975ED8D6-986B-4350-8D85-D6FFCD95EE5A}"/>
              </a:ext>
            </a:extLst>
          </p:cNvPr>
          <p:cNvSpPr>
            <a:spLocks xmlns:a="http://schemas.openxmlformats.org/drawingml/2006/main" noGrp="1"/>
          </p:cNvSpPr>
          <p:nvPr/>
        </p:nvSpPr>
        <p:spPr>
          <a:xfrm xmlns:a="http://schemas.openxmlformats.org/drawingml/2006/main">
            <a:off x="609600" y="3286125"/>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080D15"/>
                </a:solidFill>
                <a:latin typeface="Manrope"/>
                <a:ea typeface="Manrope"/>
                <a:cs typeface="Manrope"/>
              </a:defRPr>
            </a:defPPr>
          </a:lstStyle>
          <a:p xmlns:a="http://schemas.openxmlformats.org/drawingml/2006/main">
            <a:pPr>
              <a:lnSpc>
                <a:spcPct val="105000"/>
              </a:lnSpc>
              <a:buNone/>
              <a:defRPr sz="1950" b="1">
                <a:solidFill>
                  <a:srgbClr val="080D15"/>
                </a:solidFill>
                <a:latin typeface="Manrope"/>
                <a:ea typeface="Manrope"/>
                <a:cs typeface="Manrope"/>
              </a:defRPr>
            </a:pPr>
            <a:r>
              <a:rPr sz="1950" b="1" spc="0">
                <a:solidFill>
                  <a:srgbClr val="080D15"/>
                </a:solidFill>
                <a:latin typeface="Manrope"/>
                <a:ea typeface="Manrope"/>
                <a:cs typeface="Manrope"/>
              </a:rPr>
              <a:t>Discovery</a:t>
            </a:r>
          </a:p>
        </p:txBody>
      </p:sp>
      <p:sp>
        <p:nvSpPr>
          <p:cNvPr id="7" name="Room transformations, product demonstrations and creator-style hooks.">
            <a:extLst xmlns:a="http://schemas.openxmlformats.org/drawingml/2006/main">
              <a:ext uri="{FF2B5EF4-FFF2-40B4-BE49-F238E27FC236}">
                <a16:creationId xmlns:a16="http://schemas.microsoft.com/office/drawing/2014/main" id="{0074F4CC-411D-48A3-89D0-F9B538127A32}"/>
              </a:ext>
            </a:extLst>
          </p:cNvPr>
          <p:cNvSpPr>
            <a:spLocks xmlns:a="http://schemas.openxmlformats.org/drawingml/2006/main" noGrp="1"/>
          </p:cNvSpPr>
          <p:nvPr/>
        </p:nvSpPr>
        <p:spPr>
          <a:xfrm xmlns:a="http://schemas.openxmlformats.org/drawingml/2006/main">
            <a:off x="609600" y="3962400"/>
            <a:ext cx="24574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06079"/>
                </a:solidFill>
                <a:latin typeface="Manrope"/>
                <a:ea typeface="Manrope"/>
                <a:cs typeface="Manrope"/>
              </a:defRPr>
            </a:defPPr>
          </a:lstStyle>
          <a:p xmlns:a="http://schemas.openxmlformats.org/drawingml/2006/main">
            <a:pPr>
              <a:lnSpc>
                <a:spcPct val="105000"/>
              </a:lnSpc>
              <a:buNone/>
              <a:defRPr sz="1725" b="0">
                <a:solidFill>
                  <a:srgbClr val="506079"/>
                </a:solidFill>
                <a:latin typeface="Manrope"/>
                <a:ea typeface="Manrope"/>
                <a:cs typeface="Manrope"/>
              </a:defRPr>
            </a:pPr>
            <a:r>
              <a:rPr sz="1725" b="0" spc="0">
                <a:solidFill>
                  <a:srgbClr val="506079"/>
                </a:solidFill>
                <a:latin typeface="Manrope"/>
                <a:ea typeface="Manrope"/>
                <a:cs typeface="Manrope"/>
              </a:rPr>
              <a:t>Room transformations, product demonstrations and creator-style hooks.</a:t>
            </a:r>
          </a:p>
        </p:txBody>
      </p:sp>
      <p:sp>
        <p:nvSpPr>
          <p:cNvPr id="8" name="02">
            <a:extLst xmlns:a="http://schemas.openxmlformats.org/drawingml/2006/main">
              <a:ext uri="{FF2B5EF4-FFF2-40B4-BE49-F238E27FC236}">
                <a16:creationId xmlns:a16="http://schemas.microsoft.com/office/drawing/2014/main" id="{CCEFBA53-E627-45D2-B1F9-A18706E8E239}"/>
              </a:ext>
            </a:extLst>
          </p:cNvPr>
          <p:cNvSpPr>
            <a:spLocks xmlns:a="http://schemas.openxmlformats.org/drawingml/2006/main" noGrp="1"/>
          </p:cNvSpPr>
          <p:nvPr/>
        </p:nvSpPr>
        <p:spPr>
          <a:xfrm xmlns:a="http://schemas.openxmlformats.org/drawingml/2006/main">
            <a:off x="3371850" y="24384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5375B"/>
                </a:solidFill>
                <a:latin typeface="Sora"/>
                <a:ea typeface="Sora"/>
                <a:cs typeface="Sora"/>
              </a:defRPr>
            </a:defPPr>
          </a:lstStyle>
          <a:p xmlns:a="http://schemas.openxmlformats.org/drawingml/2006/main">
            <a:pPr>
              <a:lnSpc>
                <a:spcPct val="105000"/>
              </a:lnSpc>
              <a:buNone/>
              <a:defRPr sz="3600" b="1">
                <a:solidFill>
                  <a:srgbClr val="15375B"/>
                </a:solidFill>
                <a:latin typeface="Sora"/>
                <a:ea typeface="Sora"/>
                <a:cs typeface="Sora"/>
              </a:defRPr>
            </a:pPr>
            <a:r>
              <a:rPr sz="3600" b="1" spc="-30">
                <a:solidFill>
                  <a:srgbClr val="15375B"/>
                </a:solidFill>
                <a:latin typeface="Sora"/>
                <a:ea typeface="Sora"/>
                <a:cs typeface="Sora"/>
              </a:rPr>
              <a:t>02</a:t>
            </a:r>
          </a:p>
        </p:txBody>
      </p:sp>
      <p:sp>
        <p:nvSpPr>
          <p:cNvPr id="9" name="Intent">
            <a:extLst xmlns:a="http://schemas.openxmlformats.org/drawingml/2006/main">
              <a:ext uri="{FF2B5EF4-FFF2-40B4-BE49-F238E27FC236}">
                <a16:creationId xmlns:a16="http://schemas.microsoft.com/office/drawing/2014/main" id="{DE41A4F6-77E4-4D7E-B996-92BF27D8C13B}"/>
              </a:ext>
            </a:extLst>
          </p:cNvPr>
          <p:cNvSpPr>
            <a:spLocks xmlns:a="http://schemas.openxmlformats.org/drawingml/2006/main" noGrp="1"/>
          </p:cNvSpPr>
          <p:nvPr/>
        </p:nvSpPr>
        <p:spPr>
          <a:xfrm xmlns:a="http://schemas.openxmlformats.org/drawingml/2006/main">
            <a:off x="3371850" y="3286125"/>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080D15"/>
                </a:solidFill>
                <a:latin typeface="Manrope"/>
                <a:ea typeface="Manrope"/>
                <a:cs typeface="Manrope"/>
              </a:defRPr>
            </a:defPPr>
          </a:lstStyle>
          <a:p xmlns:a="http://schemas.openxmlformats.org/drawingml/2006/main">
            <a:pPr>
              <a:lnSpc>
                <a:spcPct val="105000"/>
              </a:lnSpc>
              <a:buNone/>
              <a:defRPr sz="1950" b="1">
                <a:solidFill>
                  <a:srgbClr val="080D15"/>
                </a:solidFill>
                <a:latin typeface="Manrope"/>
                <a:ea typeface="Manrope"/>
                <a:cs typeface="Manrope"/>
              </a:defRPr>
            </a:pPr>
            <a:r>
              <a:rPr sz="1950" b="1" spc="0">
                <a:solidFill>
                  <a:srgbClr val="080D15"/>
                </a:solidFill>
                <a:latin typeface="Manrope"/>
                <a:ea typeface="Manrope"/>
                <a:cs typeface="Manrope"/>
              </a:rPr>
              <a:t>Intent</a:t>
            </a:r>
          </a:p>
        </p:txBody>
      </p:sp>
      <p:sp>
        <p:nvSpPr>
          <p:cNvPr id="10" name="Category search terms, product feeds and focused landing pages.">
            <a:extLst xmlns:a="http://schemas.openxmlformats.org/drawingml/2006/main">
              <a:ext uri="{FF2B5EF4-FFF2-40B4-BE49-F238E27FC236}">
                <a16:creationId xmlns:a16="http://schemas.microsoft.com/office/drawing/2014/main" id="{5ECD8F65-37DA-404A-9933-3F28624C663F}"/>
              </a:ext>
            </a:extLst>
          </p:cNvPr>
          <p:cNvSpPr>
            <a:spLocks xmlns:a="http://schemas.openxmlformats.org/drawingml/2006/main" noGrp="1"/>
          </p:cNvSpPr>
          <p:nvPr/>
        </p:nvSpPr>
        <p:spPr>
          <a:xfrm xmlns:a="http://schemas.openxmlformats.org/drawingml/2006/main">
            <a:off x="3371850" y="3962400"/>
            <a:ext cx="24574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06079"/>
                </a:solidFill>
                <a:latin typeface="Manrope"/>
                <a:ea typeface="Manrope"/>
                <a:cs typeface="Manrope"/>
              </a:defRPr>
            </a:defPPr>
          </a:lstStyle>
          <a:p xmlns:a="http://schemas.openxmlformats.org/drawingml/2006/main">
            <a:pPr>
              <a:lnSpc>
                <a:spcPct val="105000"/>
              </a:lnSpc>
              <a:buNone/>
              <a:defRPr sz="1725" b="0">
                <a:solidFill>
                  <a:srgbClr val="506079"/>
                </a:solidFill>
                <a:latin typeface="Manrope"/>
                <a:ea typeface="Manrope"/>
                <a:cs typeface="Manrope"/>
              </a:defRPr>
            </a:pPr>
            <a:r>
              <a:rPr sz="1725" b="0" spc="0">
                <a:solidFill>
                  <a:srgbClr val="506079"/>
                </a:solidFill>
                <a:latin typeface="Manrope"/>
                <a:ea typeface="Manrope"/>
                <a:cs typeface="Manrope"/>
              </a:rPr>
              <a:t>Category search terms, product feeds and focused landing pages.</a:t>
            </a:r>
          </a:p>
        </p:txBody>
      </p:sp>
      <p:sp>
        <p:nvSpPr>
          <p:cNvPr id="11" name="03">
            <a:extLst xmlns:a="http://schemas.openxmlformats.org/drawingml/2006/main">
              <a:ext uri="{FF2B5EF4-FFF2-40B4-BE49-F238E27FC236}">
                <a16:creationId xmlns:a16="http://schemas.microsoft.com/office/drawing/2014/main" id="{7E35DFE8-2331-48E9-AFC4-E178DF18A844}"/>
              </a:ext>
            </a:extLst>
          </p:cNvPr>
          <p:cNvSpPr>
            <a:spLocks xmlns:a="http://schemas.openxmlformats.org/drawingml/2006/main" noGrp="1"/>
          </p:cNvSpPr>
          <p:nvPr/>
        </p:nvSpPr>
        <p:spPr>
          <a:xfrm xmlns:a="http://schemas.openxmlformats.org/drawingml/2006/main">
            <a:off x="6134100" y="24384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5375B"/>
                </a:solidFill>
                <a:latin typeface="Sora"/>
                <a:ea typeface="Sora"/>
                <a:cs typeface="Sora"/>
              </a:defRPr>
            </a:defPPr>
          </a:lstStyle>
          <a:p xmlns:a="http://schemas.openxmlformats.org/drawingml/2006/main">
            <a:pPr>
              <a:lnSpc>
                <a:spcPct val="105000"/>
              </a:lnSpc>
              <a:buNone/>
              <a:defRPr sz="3600" b="1">
                <a:solidFill>
                  <a:srgbClr val="15375B"/>
                </a:solidFill>
                <a:latin typeface="Sora"/>
                <a:ea typeface="Sora"/>
                <a:cs typeface="Sora"/>
              </a:defRPr>
            </a:pPr>
            <a:r>
              <a:rPr sz="3600" b="1" spc="-30">
                <a:solidFill>
                  <a:srgbClr val="15375B"/>
                </a:solidFill>
                <a:latin typeface="Sora"/>
                <a:ea typeface="Sora"/>
                <a:cs typeface="Sora"/>
              </a:rPr>
              <a:t>03</a:t>
            </a:r>
          </a:p>
        </p:txBody>
      </p:sp>
      <p:sp>
        <p:nvSpPr>
          <p:cNvPr id="12" name="Conversion">
            <a:extLst xmlns:a="http://schemas.openxmlformats.org/drawingml/2006/main">
              <a:ext uri="{FF2B5EF4-FFF2-40B4-BE49-F238E27FC236}">
                <a16:creationId xmlns:a16="http://schemas.microsoft.com/office/drawing/2014/main" id="{E108F2BF-ED27-47DF-99EC-CE474AE67401}"/>
              </a:ext>
            </a:extLst>
          </p:cNvPr>
          <p:cNvSpPr>
            <a:spLocks xmlns:a="http://schemas.openxmlformats.org/drawingml/2006/main" noGrp="1"/>
          </p:cNvSpPr>
          <p:nvPr/>
        </p:nvSpPr>
        <p:spPr>
          <a:xfrm xmlns:a="http://schemas.openxmlformats.org/drawingml/2006/main">
            <a:off x="6134100" y="3286125"/>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080D15"/>
                </a:solidFill>
                <a:latin typeface="Manrope"/>
                <a:ea typeface="Manrope"/>
                <a:cs typeface="Manrope"/>
              </a:defRPr>
            </a:defPPr>
          </a:lstStyle>
          <a:p xmlns:a="http://schemas.openxmlformats.org/drawingml/2006/main">
            <a:pPr>
              <a:lnSpc>
                <a:spcPct val="105000"/>
              </a:lnSpc>
              <a:buNone/>
              <a:defRPr sz="1950" b="1">
                <a:solidFill>
                  <a:srgbClr val="080D15"/>
                </a:solidFill>
                <a:latin typeface="Manrope"/>
                <a:ea typeface="Manrope"/>
                <a:cs typeface="Manrope"/>
              </a:defRPr>
            </a:pPr>
            <a:r>
              <a:rPr sz="1950" b="1" spc="0">
                <a:solidFill>
                  <a:srgbClr val="080D15"/>
                </a:solidFill>
                <a:latin typeface="Manrope"/>
                <a:ea typeface="Manrope"/>
                <a:cs typeface="Manrope"/>
              </a:rPr>
              <a:t>Conversion</a:t>
            </a:r>
          </a:p>
        </p:txBody>
      </p:sp>
      <p:sp>
        <p:nvSpPr>
          <p:cNvPr id="13" name="Retargeting, reviews, shipping clarity and checkout confidence.">
            <a:extLst xmlns:a="http://schemas.openxmlformats.org/drawingml/2006/main">
              <a:ext uri="{FF2B5EF4-FFF2-40B4-BE49-F238E27FC236}">
                <a16:creationId xmlns:a16="http://schemas.microsoft.com/office/drawing/2014/main" id="{0FF74A51-5C6A-4064-BF38-791DB659EAE4}"/>
              </a:ext>
            </a:extLst>
          </p:cNvPr>
          <p:cNvSpPr>
            <a:spLocks xmlns:a="http://schemas.openxmlformats.org/drawingml/2006/main" noGrp="1"/>
          </p:cNvSpPr>
          <p:nvPr/>
        </p:nvSpPr>
        <p:spPr>
          <a:xfrm xmlns:a="http://schemas.openxmlformats.org/drawingml/2006/main">
            <a:off x="6134100" y="3962400"/>
            <a:ext cx="24574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06079"/>
                </a:solidFill>
                <a:latin typeface="Manrope"/>
                <a:ea typeface="Manrope"/>
                <a:cs typeface="Manrope"/>
              </a:defRPr>
            </a:defPPr>
          </a:lstStyle>
          <a:p xmlns:a="http://schemas.openxmlformats.org/drawingml/2006/main">
            <a:pPr>
              <a:lnSpc>
                <a:spcPct val="105000"/>
              </a:lnSpc>
              <a:buNone/>
              <a:defRPr sz="1725" b="0">
                <a:solidFill>
                  <a:srgbClr val="506079"/>
                </a:solidFill>
                <a:latin typeface="Manrope"/>
                <a:ea typeface="Manrope"/>
                <a:cs typeface="Manrope"/>
              </a:defRPr>
            </a:pPr>
            <a:r>
              <a:rPr sz="1725" b="0" spc="0">
                <a:solidFill>
                  <a:srgbClr val="506079"/>
                </a:solidFill>
                <a:latin typeface="Manrope"/>
                <a:ea typeface="Manrope"/>
                <a:cs typeface="Manrope"/>
              </a:rPr>
              <a:t>Retargeting, reviews, shipping clarity and checkout confidence.</a:t>
            </a:r>
          </a:p>
        </p:txBody>
      </p:sp>
      <p:sp>
        <p:nvSpPr>
          <p:cNvPr id="14" name="04">
            <a:extLst xmlns:a="http://schemas.openxmlformats.org/drawingml/2006/main">
              <a:ext uri="{FF2B5EF4-FFF2-40B4-BE49-F238E27FC236}">
                <a16:creationId xmlns:a16="http://schemas.microsoft.com/office/drawing/2014/main" id="{14360B86-2DD0-44F9-A640-D0AFB9461FFF}"/>
              </a:ext>
            </a:extLst>
          </p:cNvPr>
          <p:cNvSpPr>
            <a:spLocks xmlns:a="http://schemas.openxmlformats.org/drawingml/2006/main" noGrp="1"/>
          </p:cNvSpPr>
          <p:nvPr/>
        </p:nvSpPr>
        <p:spPr>
          <a:xfrm xmlns:a="http://schemas.openxmlformats.org/drawingml/2006/main">
            <a:off x="8896350" y="24384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5375B"/>
                </a:solidFill>
                <a:latin typeface="Sora"/>
                <a:ea typeface="Sora"/>
                <a:cs typeface="Sora"/>
              </a:defRPr>
            </a:defPPr>
          </a:lstStyle>
          <a:p xmlns:a="http://schemas.openxmlformats.org/drawingml/2006/main">
            <a:pPr>
              <a:lnSpc>
                <a:spcPct val="105000"/>
              </a:lnSpc>
              <a:buNone/>
              <a:defRPr sz="3600" b="1">
                <a:solidFill>
                  <a:srgbClr val="15375B"/>
                </a:solidFill>
                <a:latin typeface="Sora"/>
                <a:ea typeface="Sora"/>
                <a:cs typeface="Sora"/>
              </a:defRPr>
            </a:pPr>
            <a:r>
              <a:rPr sz="3600" b="1" spc="-30">
                <a:solidFill>
                  <a:srgbClr val="15375B"/>
                </a:solidFill>
                <a:latin typeface="Sora"/>
                <a:ea typeface="Sora"/>
                <a:cs typeface="Sora"/>
              </a:rPr>
              <a:t>04</a:t>
            </a:r>
          </a:p>
        </p:txBody>
      </p:sp>
      <p:sp>
        <p:nvSpPr>
          <p:cNvPr id="15" name="Scale">
            <a:extLst xmlns:a="http://schemas.openxmlformats.org/drawingml/2006/main">
              <a:ext uri="{FF2B5EF4-FFF2-40B4-BE49-F238E27FC236}">
                <a16:creationId xmlns:a16="http://schemas.microsoft.com/office/drawing/2014/main" id="{8DF153A3-1AA9-4E5E-B7A2-9F9C14ECA464}"/>
              </a:ext>
            </a:extLst>
          </p:cNvPr>
          <p:cNvSpPr>
            <a:spLocks xmlns:a="http://schemas.openxmlformats.org/drawingml/2006/main" noGrp="1"/>
          </p:cNvSpPr>
          <p:nvPr/>
        </p:nvSpPr>
        <p:spPr>
          <a:xfrm xmlns:a="http://schemas.openxmlformats.org/drawingml/2006/main">
            <a:off x="8896350" y="3286125"/>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080D15"/>
                </a:solidFill>
                <a:latin typeface="Manrope"/>
                <a:ea typeface="Manrope"/>
                <a:cs typeface="Manrope"/>
              </a:defRPr>
            </a:defPPr>
          </a:lstStyle>
          <a:p xmlns:a="http://schemas.openxmlformats.org/drawingml/2006/main">
            <a:pPr>
              <a:lnSpc>
                <a:spcPct val="105000"/>
              </a:lnSpc>
              <a:buNone/>
              <a:defRPr sz="1950" b="1">
                <a:solidFill>
                  <a:srgbClr val="080D15"/>
                </a:solidFill>
                <a:latin typeface="Manrope"/>
                <a:ea typeface="Manrope"/>
                <a:cs typeface="Manrope"/>
              </a:defRPr>
            </a:pPr>
            <a:r>
              <a:rPr sz="1950" b="1" spc="0">
                <a:solidFill>
                  <a:srgbClr val="080D15"/>
                </a:solidFill>
                <a:latin typeface="Manrope"/>
                <a:ea typeface="Manrope"/>
                <a:cs typeface="Manrope"/>
              </a:rPr>
              <a:t>Scale</a:t>
            </a:r>
          </a:p>
        </p:txBody>
      </p:sp>
      <p:sp>
        <p:nvSpPr>
          <p:cNvPr id="16" name="Move budget based on purchase economics and creative response.">
            <a:extLst xmlns:a="http://schemas.openxmlformats.org/drawingml/2006/main">
              <a:ext uri="{FF2B5EF4-FFF2-40B4-BE49-F238E27FC236}">
                <a16:creationId xmlns:a16="http://schemas.microsoft.com/office/drawing/2014/main" id="{07EABF3B-5993-422D-9449-B4C9632FDF78}"/>
              </a:ext>
            </a:extLst>
          </p:cNvPr>
          <p:cNvSpPr>
            <a:spLocks xmlns:a="http://schemas.openxmlformats.org/drawingml/2006/main" noGrp="1"/>
          </p:cNvSpPr>
          <p:nvPr/>
        </p:nvSpPr>
        <p:spPr>
          <a:xfrm xmlns:a="http://schemas.openxmlformats.org/drawingml/2006/main">
            <a:off x="8896350" y="3962400"/>
            <a:ext cx="24574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06079"/>
                </a:solidFill>
                <a:latin typeface="Manrope"/>
                <a:ea typeface="Manrope"/>
                <a:cs typeface="Manrope"/>
              </a:defRPr>
            </a:defPPr>
          </a:lstStyle>
          <a:p xmlns:a="http://schemas.openxmlformats.org/drawingml/2006/main">
            <a:pPr>
              <a:lnSpc>
                <a:spcPct val="105000"/>
              </a:lnSpc>
              <a:buNone/>
              <a:defRPr sz="1725" b="0">
                <a:solidFill>
                  <a:srgbClr val="506079"/>
                </a:solidFill>
                <a:latin typeface="Manrope"/>
                <a:ea typeface="Manrope"/>
                <a:cs typeface="Manrope"/>
              </a:defRPr>
            </a:pPr>
            <a:r>
              <a:rPr sz="1725" b="0" spc="0">
                <a:solidFill>
                  <a:srgbClr val="506079"/>
                </a:solidFill>
                <a:latin typeface="Manrope"/>
                <a:ea typeface="Manrope"/>
                <a:cs typeface="Manrope"/>
              </a:rPr>
              <a:t>Move budget based on purchase economics and creative response.</a:t>
            </a:r>
          </a:p>
        </p:txBody>
      </p:sp>
      <p:sp>
        <p:nvSpPr>
          <p:cNvPr id="17" name="Measurement: Meta Pixel + CAPI, GA4, Google Ads and TikTok Pixel">
            <a:extLst xmlns:a="http://schemas.openxmlformats.org/drawingml/2006/main">
              <a:ext uri="{FF2B5EF4-FFF2-40B4-BE49-F238E27FC236}">
                <a16:creationId xmlns:a16="http://schemas.microsoft.com/office/drawing/2014/main" id="{BE7D46EE-7A1C-433D-A71E-289DC4FB0200}"/>
              </a:ext>
            </a:extLst>
          </p:cNvPr>
          <p:cNvSpPr>
            <a:spLocks xmlns:a="http://schemas.openxmlformats.org/drawingml/2006/main" noGrp="1"/>
          </p:cNvSpPr>
          <p:nvPr/>
        </p:nvSpPr>
        <p:spPr>
          <a:xfrm xmlns:a="http://schemas.openxmlformats.org/drawingml/2006/main">
            <a:off x="609600" y="55721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15375B"/>
                </a:solidFill>
                <a:latin typeface="Manrope"/>
                <a:ea typeface="Manrope"/>
                <a:cs typeface="Manrope"/>
              </a:defRPr>
            </a:defPPr>
          </a:lstStyle>
          <a:p xmlns:a="http://schemas.openxmlformats.org/drawingml/2006/main">
            <a:pPr>
              <a:lnSpc>
                <a:spcPct val="105000"/>
              </a:lnSpc>
              <a:buNone/>
              <a:defRPr sz="1575" b="0">
                <a:solidFill>
                  <a:srgbClr val="15375B"/>
                </a:solidFill>
                <a:latin typeface="Manrope"/>
                <a:ea typeface="Manrope"/>
                <a:cs typeface="Manrope"/>
              </a:defRPr>
            </a:pPr>
            <a:r>
              <a:rPr sz="1575" b="0" spc="70">
                <a:solidFill>
                  <a:srgbClr val="15375B"/>
                </a:solidFill>
                <a:latin typeface="Manrope"/>
                <a:ea typeface="Manrope"/>
                <a:cs typeface="Manrope"/>
              </a:rPr>
              <a:t>Measurement: Meta Pixel + CAPI, GA4, Google Ads and TikTok Pixel</a:t>
            </a:r>
          </a:p>
        </p:txBody>
      </p:sp>
      <p:sp>
        <p:nvSpPr>
          <p:cNvPr id="18" name="Success measures: CAC, purchase CVR, ROAS, AOV and new-customer revenu">
            <a:extLst xmlns:a="http://schemas.openxmlformats.org/drawingml/2006/main">
              <a:ext uri="{FF2B5EF4-FFF2-40B4-BE49-F238E27FC236}">
                <a16:creationId xmlns:a16="http://schemas.microsoft.com/office/drawing/2014/main" id="{BC95F50B-C9B0-4E6F-A61B-B4509AB487CA}"/>
              </a:ext>
            </a:extLst>
          </p:cNvPr>
          <p:cNvSpPr>
            <a:spLocks xmlns:a="http://schemas.openxmlformats.org/drawingml/2006/main" noGrp="1"/>
          </p:cNvSpPr>
          <p:nvPr/>
        </p:nvSpPr>
        <p:spPr>
          <a:xfrm xmlns:a="http://schemas.openxmlformats.org/drawingml/2006/main">
            <a:off x="609600" y="5981700"/>
            <a:ext cx="10572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06079"/>
                </a:solidFill>
                <a:latin typeface="Manrope"/>
                <a:ea typeface="Manrope"/>
                <a:cs typeface="Manrope"/>
              </a:defRPr>
            </a:defPPr>
          </a:lstStyle>
          <a:p xmlns:a="http://schemas.openxmlformats.org/drawingml/2006/main">
            <a:pPr>
              <a:lnSpc>
                <a:spcPct val="105000"/>
              </a:lnSpc>
              <a:buNone/>
              <a:defRPr sz="1500" b="0">
                <a:solidFill>
                  <a:srgbClr val="506079"/>
                </a:solidFill>
                <a:latin typeface="Manrope"/>
                <a:ea typeface="Manrope"/>
                <a:cs typeface="Manrope"/>
              </a:defRPr>
            </a:pPr>
            <a:r>
              <a:rPr sz="1500" b="0" spc="70">
                <a:solidFill>
                  <a:srgbClr val="506079"/>
                </a:solidFill>
                <a:latin typeface="Manrope"/>
                <a:ea typeface="Manrope"/>
                <a:cs typeface="Manrope"/>
              </a:rPr>
              <a:t>Success measures: CAC, purchase CVR, ROAS, AOV and new-customer revenue</a:t>
            </a:r>
          </a:p>
        </p:txBody>
      </p:sp>
    </p:spTree>
    <p:extLst>
      <p:ext uri="{BB962C8B-B14F-4D97-AF65-F5344CB8AC3E}">
        <p14:creationId xmlns:p14="http://schemas.microsoft.com/office/powerpoint/2010/main" val="787526676"/>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50" fill="hold"/>
                                  <p:tgtEl>
                                    <p:spTgt spid="2"/>
                                  </p:tgtEl>
                                </p:cBhvr>
                              </p:animEffect>
                              <p:anim calcmode="lin" valueType="num">
                                <p:cBhvr additive="base">
                                  <p:cTn id="7" dur="550" fill="hold" decel="60000"/>
                                  <p:tgtEl>
                                    <p:spTgt spid="2"/>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fill="hold"/>
                                  <p:tgtEl>
                                    <p:spTgt spid="5"/>
                                  </p:tgtEl>
                                </p:cBhvr>
                              </p:animEffect>
                              <p:anim calcmode="lin" valueType="num">
                                <p:cBhvr additive="base">
                                  <p:cTn id="11" dur="550" fill="hold" decel="60000"/>
                                  <p:tgtEl>
                                    <p:spTgt spid="5"/>
                                  </p:tgtEl>
                                  <p:attrNameLst>
                                    <p:attrName>ppt_y</p:attrName>
                                  </p:attrNameLst>
                                </p:cBhvr>
                                <p:tavLst>
                                  <p:tav tm="0">
                                    <p:val>
                                      <p:strVal val="#ppt_y+0.025"/>
                                    </p:val>
                                  </p:tav>
                                  <p:tav tm="100000">
                                    <p:val>
                                      <p:strVal val="#ppt_y"/>
                                    </p:val>
                                  </p:tav>
                                </p:tavLst>
                              </p:anim>
                            </p:childTnLst>
                          </p:cTn>
                        </p:par>
                        <p:par>
                          <p:cTn id="12" presetID="10" presetClass="entr" presetSubtype="0" fill="hold" grpId="0" nodeType="withEffect">
                            <p:stCondLst>
                              <p:cond delay="38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50" fill="hold"/>
                                  <p:tgtEl>
                                    <p:spTgt spid="6"/>
                                  </p:tgtEl>
                                </p:cBhvr>
                              </p:animEffect>
                            </p:childTnLst>
                          </p:cTn>
                        </p:par>
                        <p:par>
                          <p:cTn id="15" presetID="10" presetClass="entr" presetSubtype="0" fill="hold" grpId="0" nodeType="withEffect">
                            <p:stCondLst>
                              <p:cond delay="495"/>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fill="hold"/>
                                  <p:tgtEl>
                                    <p:spTgt spid="7"/>
                                  </p:tgtEl>
                                </p:cBhvr>
                              </p:animEffect>
                            </p:childTnLst>
                          </p:cTn>
                        </p:par>
                        <p:par>
                          <p:cTn id="18" presetID="10" presetClass="entr" presetSubtype="0" fill="hold" grpId="0" nodeType="withEffect">
                            <p:stCondLst>
                              <p:cond delay="61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fill="hold"/>
                                  <p:tgtEl>
                                    <p:spTgt spid="8"/>
                                  </p:tgtEl>
                                </p:cBhvr>
                              </p:animEffect>
                              <p:anim calcmode="lin" valueType="num">
                                <p:cBhvr additive="base">
                                  <p:cTn id="21" dur="550" fill="hold" decel="60000"/>
                                  <p:tgtEl>
                                    <p:spTgt spid="8"/>
                                  </p:tgtEl>
                                  <p:attrNameLst>
                                    <p:attrName>ppt_y</p:attrName>
                                  </p:attrNameLst>
                                </p:cBhvr>
                                <p:tavLst>
                                  <p:tav tm="0">
                                    <p:val>
                                      <p:strVal val="#ppt_y+0.025"/>
                                    </p:val>
                                  </p:tav>
                                  <p:tav tm="100000">
                                    <p:val>
                                      <p:strVal val="#ppt_y"/>
                                    </p:val>
                                  </p:tav>
                                </p:tavLst>
                              </p:anim>
                            </p:childTnLst>
                          </p:cTn>
                        </p:par>
                        <p:par>
                          <p:cTn id="22" presetID="10" presetClass="entr" presetSubtype="0" fill="hold" grpId="0" nodeType="withEffect">
                            <p:stCondLst>
                              <p:cond delay="725"/>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50" fill="hold"/>
                                  <p:tgtEl>
                                    <p:spTgt spid="9"/>
                                  </p:tgtEl>
                                </p:cBhvr>
                              </p:animEffect>
                            </p:childTnLst>
                          </p:cTn>
                        </p:par>
                        <p:par>
                          <p:cTn id="25" presetID="10" presetClass="entr" presetSubtype="0" fill="hold" grpId="0" nodeType="withEffect">
                            <p:stCondLst>
                              <p:cond delay="84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50" fill="hold"/>
                                  <p:tgtEl>
                                    <p:spTgt spid="10"/>
                                  </p:tgtEl>
                                </p:cBhvr>
                              </p:animEffect>
                            </p:childTnLst>
                          </p:cTn>
                        </p:par>
                        <p:par>
                          <p:cTn id="28" presetID="10" presetClass="entr" presetSubtype="0" fill="hold" grpId="0" nodeType="withEffect">
                            <p:stCondLst>
                              <p:cond delay="955"/>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50" fill="hold"/>
                                  <p:tgtEl>
                                    <p:spTgt spid="11"/>
                                  </p:tgtEl>
                                </p:cBhvr>
                              </p:animEffect>
                              <p:anim calcmode="lin" valueType="num">
                                <p:cBhvr additive="base">
                                  <p:cTn id="31" dur="550" fill="hold" decel="60000"/>
                                  <p:tgtEl>
                                    <p:spTgt spid="11"/>
                                  </p:tgtEl>
                                  <p:attrNameLst>
                                    <p:attrName>ppt_y</p:attrName>
                                  </p:attrNameLst>
                                </p:cBhvr>
                                <p:tavLst>
                                  <p:tav tm="0">
                                    <p:val>
                                      <p:strVal val="#ppt_y+0.025"/>
                                    </p:val>
                                  </p:tav>
                                  <p:tav tm="100000">
                                    <p:val>
                                      <p:strVal val="#ppt_y"/>
                                    </p:val>
                                  </p:tav>
                                </p:tavLst>
                              </p:anim>
                            </p:childTnLst>
                          </p:cTn>
                        </p:par>
                        <p:par>
                          <p:cTn id="32" presetID="10" presetClass="entr" presetSubtype="0" fill="hold" grpId="0" nodeType="withEffect">
                            <p:stCondLst>
                              <p:cond delay="107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50" fill="hold"/>
                                  <p:tgtEl>
                                    <p:spTgt spid="12"/>
                                  </p:tgtEl>
                                </p:cBhvr>
                              </p:animEffect>
                            </p:childTnLst>
                          </p:cTn>
                        </p:par>
                        <p:par>
                          <p:cTn id="35" presetID="10" presetClass="entr" presetSubtype="0" fill="hold" grpId="0" nodeType="withEffect">
                            <p:stCondLst>
                              <p:cond delay="1185"/>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50" fill="hold"/>
                                  <p:tgtEl>
                                    <p:spTgt spid="13"/>
                                  </p:tgtEl>
                                </p:cBhvr>
                              </p:animEffect>
                            </p:childTnLst>
                          </p:cTn>
                        </p:par>
                        <p:par>
                          <p:cTn id="38" presetID="10" presetClass="entr" presetSubtype="0" fill="hold" grpId="0" nodeType="withEffect">
                            <p:stCondLst>
                              <p:cond delay="130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fill="hold"/>
                                  <p:tgtEl>
                                    <p:spTgt spid="14"/>
                                  </p:tgtEl>
                                </p:cBhvr>
                              </p:animEffect>
                              <p:anim calcmode="lin" valueType="num">
                                <p:cBhvr additive="base">
                                  <p:cTn id="41" dur="550" fill="hold" decel="60000"/>
                                  <p:tgtEl>
                                    <p:spTgt spid="14"/>
                                  </p:tgtEl>
                                  <p:attrNameLst>
                                    <p:attrName>ppt_y</p:attrName>
                                  </p:attrNameLst>
                                </p:cBhvr>
                                <p:tavLst>
                                  <p:tav tm="0">
                                    <p:val>
                                      <p:strVal val="#ppt_y+0.025"/>
                                    </p:val>
                                  </p:tav>
                                  <p:tav tm="100000">
                                    <p:val>
                                      <p:strVal val="#ppt_y"/>
                                    </p:val>
                                  </p:tav>
                                </p:tavLst>
                              </p:anim>
                            </p:childTnLst>
                          </p:cTn>
                        </p:par>
                        <p:par>
                          <p:cTn id="42" presetID="10" presetClass="entr" presetSubtype="0" fill="hold" grpId="0" nodeType="withEffect">
                            <p:stCondLst>
                              <p:cond delay="130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50" fill="hold"/>
                                  <p:tgtEl>
                                    <p:spTgt spid="15"/>
                                  </p:tgtEl>
                                </p:cBhvr>
                              </p:animEffect>
                            </p:childTnLst>
                          </p:cTn>
                        </p:par>
                        <p:par>
                          <p:cTn id="45" presetID="10" presetClass="entr" presetSubtype="0" fill="hold" grpId="0" nodeType="withEffect">
                            <p:stCondLst>
                              <p:cond delay="130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50" fill="hold"/>
                                  <p:tgtEl>
                                    <p:spTgt spid="16"/>
                                  </p:tgtEl>
                                </p:cBhvr>
                              </p:animEffect>
                            </p:childTnLst>
                          </p:cTn>
                        </p:par>
                        <p:par>
                          <p:cTn id="48" presetID="10" presetClass="entr" presetSubtype="0" fill="hold" grpId="0" nodeType="withEffect">
                            <p:stCondLst>
                              <p:cond delay="130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50" fill="hold"/>
                                  <p:tgtEl>
                                    <p:spTgt spid="17"/>
                                  </p:tgtEl>
                                </p:cBhvr>
                              </p:animEffect>
                            </p:childTnLst>
                          </p:cTn>
                        </p:par>
                        <p:par>
                          <p:cTn id="51" presetID="10" presetClass="entr" presetSubtype="0" fill="hold" grpId="0" nodeType="withEffect">
                            <p:stCondLst>
                              <p:cond delay="130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50" fill="hold"/>
                                  <p:tgtEl>
                                    <p:spTgt spid="1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P spid="5" grpId="0" build="allAtOnce"/>
      <p:bldP spid="6" grpId="0" build="allAtOnce"/>
      <p:bldP spid="7" grpId="0" build="allAtOnce"/>
      <p:bldP spid="8" grpId="0" build="allAtOnce"/>
      <p:bldP spid="9" grpId="0" build="allAtOnce"/>
      <p:bldP spid="10" grpId="0" build="allAtOnce"/>
      <p:bldP spid="11" grpId="0" build="allAtOnce"/>
      <p:bldP spid="12" grpId="0" build="allAtOnce"/>
      <p:bldP spid="13" grpId="0" build="allAtOnce"/>
      <p:bldP spid="14" grpId="0" build="allAtOnce"/>
      <p:bldP spid="15" grpId="0" build="allAtOnce"/>
      <p:bldP spid="16" grpId="0" build="allAtOnce"/>
      <p:bldP spid="17" grpId="0" build="allAtOnce"/>
      <p:bldP spid="18" grpId="0" build="allAtOnce"/>
    </p:bldLst>
  </p:timing>
</p:sld>
</file>

<file path=ppt/slides/slide18.xml><?xml version="1.0" encoding="utf-8"?>
<p:sld xmlns:p="http://schemas.openxmlformats.org/presentationml/2006/main">
  <p:cSld>
    <p:bg>
      <p:bgPr>
        <a:solidFill xmlns:a="http://schemas.openxmlformats.org/drawingml/2006/main">
          <a:srgbClr val="F3F5F7"/>
        </a:solidFill>
      </p:bgPr>
    </p:bg>
    <p:spTree>
      <p:nvGrpSpPr>
        <p:cNvPr id="1" name=""/>
        <p:cNvGrpSpPr/>
        <p:nvPr/>
      </p:nvGrpSpPr>
      <p:grpSpPr>
        <a:xfrm xmlns:a="http://schemas.openxmlformats.org/drawingml/2006/main"/>
      </p:grpSpPr>
      <p:sp>
        <p:nvSpPr>
          <p:cNvPr id="13" name="17 / INDEPENDENT CONCEPT / USA SKINCARE">
            <a:extLst xmlns:a="http://schemas.openxmlformats.org/drawingml/2006/main">
              <a:ext uri="{FF2B5EF4-FFF2-40B4-BE49-F238E27FC236}">
                <a16:creationId xmlns:a16="http://schemas.microsoft.com/office/drawing/2014/main" id="{D561CEC2-0F28-480B-BB8B-1F00BDE45CD8}"/>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15375B"/>
                </a:solidFill>
                <a:latin typeface="Manrope"/>
                <a:ea typeface="Manrope"/>
                <a:cs typeface="Manrope"/>
              </a:defRPr>
            </a:defPPr>
          </a:lstStyle>
          <a:p xmlns:a="http://schemas.openxmlformats.org/drawingml/2006/main">
            <a:pPr>
              <a:lnSpc>
                <a:spcPct val="105000"/>
              </a:lnSpc>
              <a:buNone/>
              <a:defRPr sz="1050" b="1">
                <a:solidFill>
                  <a:srgbClr val="15375B"/>
                </a:solidFill>
                <a:latin typeface="Manrope"/>
                <a:ea typeface="Manrope"/>
                <a:cs typeface="Manrope"/>
              </a:defRPr>
            </a:pPr>
            <a:r>
              <a:rPr sz="1050" b="1">
                <a:solidFill>
                  <a:srgbClr val="15375B"/>
                </a:solidFill>
                <a:latin typeface="Manrope"/>
                <a:ea typeface="Manrope"/>
                <a:cs typeface="Manrope"/>
              </a:rPr>
              <a:t>17 / INDEPENDENT CONCEPT / USA SKINCARE</a:t>
            </a:r>
          </a:p>
        </p:txBody>
      </p:sp>
      <p:sp>
        <p:nvSpPr>
          <p:cNvPr id="2" name="KHAWAJA SAIM">
            <a:extLst xmlns:a="http://schemas.openxmlformats.org/drawingml/2006/main">
              <a:ext uri="{FF2B5EF4-FFF2-40B4-BE49-F238E27FC236}">
                <a16:creationId xmlns:a16="http://schemas.microsoft.com/office/drawing/2014/main" id="{2A76F34B-8AFE-4197-A88D-E4E045494C44}"/>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15375B"/>
                </a:solidFill>
                <a:latin typeface="Manrope"/>
                <a:ea typeface="Manrope"/>
                <a:cs typeface="Manrope"/>
              </a:defRPr>
            </a:defPPr>
          </a:lstStyle>
          <a:p xmlns:a="http://schemas.openxmlformats.org/drawingml/2006/main">
            <a:pPr>
              <a:lnSpc>
                <a:spcPct val="105000"/>
              </a:lnSpc>
              <a:buNone/>
              <a:defRPr sz="900" b="1">
                <a:solidFill>
                  <a:srgbClr val="15375B"/>
                </a:solidFill>
                <a:latin typeface="Manrope"/>
                <a:ea typeface="Manrope"/>
                <a:cs typeface="Manrope"/>
              </a:defRPr>
            </a:pPr>
            <a:r>
              <a:rPr sz="900" b="1">
                <a:solidFill>
                  <a:srgbClr val="15375B"/>
                </a:solidFill>
                <a:latin typeface="Manrope"/>
                <a:ea typeface="Manrope"/>
                <a:cs typeface="Manrope"/>
              </a:rPr>
              <a:t>KHAWAJA SAIM</a:t>
            </a:r>
          </a:p>
        </p:txBody>
      </p:sp>
      <p:sp>
        <p:nvSpPr>
          <p:cNvPr id="3" name="18">
            <a:extLst xmlns:a="http://schemas.openxmlformats.org/drawingml/2006/main">
              <a:ext uri="{FF2B5EF4-FFF2-40B4-BE49-F238E27FC236}">
                <a16:creationId xmlns:a16="http://schemas.microsoft.com/office/drawing/2014/main" id="{EB8DB8BC-CB06-43A1-8A8C-F0882398B9DA}"/>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15375B"/>
                </a:solidFill>
                <a:latin typeface="Manrope"/>
                <a:ea typeface="Manrope"/>
                <a:cs typeface="Manrope"/>
              </a:defRPr>
            </a:defPPr>
          </a:lstStyle>
          <a:p xmlns:a="http://schemas.openxmlformats.org/drawingml/2006/main">
            <a:pPr>
              <a:lnSpc>
                <a:spcPct val="105000"/>
              </a:lnSpc>
              <a:buNone/>
              <a:defRPr sz="1050" b="0">
                <a:solidFill>
                  <a:srgbClr val="15375B"/>
                </a:solidFill>
                <a:latin typeface="Manrope"/>
                <a:ea typeface="Manrope"/>
                <a:cs typeface="Manrope"/>
              </a:defRPr>
            </a:pPr>
            <a:r>
              <a:rPr sz="1050" b="0">
                <a:solidFill>
                  <a:srgbClr val="15375B"/>
                </a:solidFill>
                <a:latin typeface="Manrope"/>
                <a:ea typeface="Manrope"/>
                <a:cs typeface="Manrope"/>
              </a:rPr>
              <a:t>18</a:t>
            </a:r>
          </a:p>
        </p:txBody>
      </p:sp>
      <p:pic>
        <p:nvPicPr>
          <p:cNvPr id="4" name="">
            <a:extLst xmlns:a="http://schemas.openxmlformats.org/drawingml/2006/main">
              <a:ext uri="{FF2B5EF4-FFF2-40B4-BE49-F238E27FC236}">
                <a16:creationId xmlns:a16="http://schemas.microsoft.com/office/drawing/2014/main" id="{BEBAA542-25C5-403D-AEEC-BD39E4783F93}"/>
              </a:ext>
            </a:extLst>
          </p:cNvPr>
          <p:cNvPicPr>
            <a:picLocks xmlns:a="http://schemas.openxmlformats.org/drawingml/2006/main" noChangeAspect="1"/>
          </p:cNvPicPr>
          <p:nvPr/>
        </p:nvPicPr>
        <p:blipFill>
          <a:blip xmlns:r="http://schemas.openxmlformats.org/officeDocument/2006/relationships" xmlns:a="http://schemas.openxmlformats.org/drawingml/2006/main" r:embed="R0b0e2bceb543460d"/>
          <a:srcRect xmlns:a="http://schemas.openxmlformats.org/drawingml/2006/main" l="19531" t="0" r="19531" b="0"/>
          <a:stretch xmlns:a="http://schemas.openxmlformats.org/drawingml/2006/main">
            <a:fillRect l="0" t="0" r="0" b="0"/>
          </a:stretch>
        </p:blipFill>
        <p:spPr>
          <a:xfrm xmlns:a="http://schemas.openxmlformats.org/drawingml/2006/main">
            <a:off x="6619875" y="0"/>
            <a:ext cx="5572125" cy="685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8B42D23-9231-4704-AD3E-F343E3282525}"/>
              </a:ext>
            </a:extLst>
          </p:cNvPr>
          <p:cNvSpPr>
            <a:spLocks xmlns:a="http://schemas.openxmlformats.org/drawingml/2006/main" noGrp="1"/>
          </p:cNvSpPr>
          <p:nvPr/>
        </p:nvSpPr>
        <p:spPr>
          <a:xfrm xmlns:a="http://schemas.openxmlformats.org/drawingml/2006/main">
            <a:off x="0" y="0"/>
            <a:ext cx="6619875" cy="6858000"/>
          </a:xfrm>
          <a:prstGeom xmlns:a="http://schemas.openxmlformats.org/drawingml/2006/main" prst="rect">
            <a:avLst/>
          </a:prstGeom>
          <a:solidFill xmlns:a="http://schemas.openxmlformats.org/drawingml/2006/main">
            <a:srgbClr val="F3F5F7"/>
          </a:solidFill>
          <a:ln xmlns:a="http://schemas.openxmlformats.org/drawingml/2006/main" w="0">
            <a:noFill/>
          </a:ln>
        </p:spPr>
      </p:sp>
      <p:sp>
        <p:nvSpPr>
          <p:cNvPr id="6" name="Glow&#10;Theory">
            <a:extLst xmlns:a="http://schemas.openxmlformats.org/drawingml/2006/main">
              <a:ext uri="{FF2B5EF4-FFF2-40B4-BE49-F238E27FC236}">
                <a16:creationId xmlns:a16="http://schemas.microsoft.com/office/drawing/2014/main" id="{F53468E3-A8EE-4013-85F2-0A58B8C0911C}"/>
              </a:ext>
            </a:extLst>
          </p:cNvPr>
          <p:cNvSpPr>
            <a:spLocks xmlns:a="http://schemas.openxmlformats.org/drawingml/2006/main" noGrp="1"/>
          </p:cNvSpPr>
          <p:nvPr/>
        </p:nvSpPr>
        <p:spPr>
          <a:xfrm xmlns:a="http://schemas.openxmlformats.org/drawingml/2006/main">
            <a:off x="600075" y="1076325"/>
            <a:ext cx="569595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800" b="1">
                <a:solidFill>
                  <a:srgbClr val="080D15"/>
                </a:solidFill>
                <a:latin typeface="Sora"/>
                <a:ea typeface="Sora"/>
                <a:cs typeface="Sora"/>
              </a:defRPr>
            </a:defPPr>
          </a:lstStyle>
          <a:p xmlns:a="http://schemas.openxmlformats.org/drawingml/2006/main">
            <a:pPr>
              <a:lnSpc>
                <a:spcPct val="105000"/>
              </a:lnSpc>
              <a:buNone/>
              <a:defRPr sz="4800" b="1">
                <a:solidFill>
                  <a:srgbClr val="080D15"/>
                </a:solidFill>
                <a:latin typeface="Sora"/>
                <a:ea typeface="Sora"/>
                <a:cs typeface="Sora"/>
              </a:defRPr>
            </a:pPr>
            <a:r>
              <a:rPr sz="4800" b="1" spc="-30">
                <a:solidFill>
                  <a:srgbClr val="080D15"/>
                </a:solidFill>
                <a:latin typeface="Sora"/>
                <a:ea typeface="Sora"/>
                <a:cs typeface="Sora"/>
              </a:rPr>
              <a:t>Glow</a:t>
            </a:r>
          </a:p>
          <a:p xmlns:a="http://schemas.openxmlformats.org/drawingml/2006/main">
            <a:pPr>
              <a:lnSpc>
                <a:spcPct val="105000"/>
              </a:lnSpc>
              <a:buNone/>
              <a:defRPr sz="4800" b="1">
                <a:solidFill>
                  <a:srgbClr val="080D15"/>
                </a:solidFill>
                <a:latin typeface="Sora"/>
                <a:ea typeface="Sora"/>
                <a:cs typeface="Sora"/>
              </a:defRPr>
            </a:pPr>
            <a:r>
              <a:rPr sz="4800" b="1" spc="-30">
                <a:solidFill>
                  <a:srgbClr val="080D15"/>
                </a:solidFill>
                <a:latin typeface="Sora"/>
                <a:ea typeface="Sora"/>
                <a:cs typeface="Sora"/>
              </a:rPr>
              <a:t>Theory</a:t>
            </a:r>
          </a:p>
        </p:txBody>
      </p:sp>
      <p:sp>
        <p:nvSpPr>
          <p:cNvPr id="7" name="A TikTok-first&#10;creative strategy">
            <a:extLst xmlns:a="http://schemas.openxmlformats.org/drawingml/2006/main">
              <a:ext uri="{FF2B5EF4-FFF2-40B4-BE49-F238E27FC236}">
                <a16:creationId xmlns:a16="http://schemas.microsoft.com/office/drawing/2014/main" id="{940F589E-2307-448D-8CCA-78F3B6670C08}"/>
              </a:ext>
            </a:extLst>
          </p:cNvPr>
          <p:cNvSpPr>
            <a:spLocks xmlns:a="http://schemas.openxmlformats.org/drawingml/2006/main" noGrp="1"/>
          </p:cNvSpPr>
          <p:nvPr/>
        </p:nvSpPr>
        <p:spPr>
          <a:xfrm xmlns:a="http://schemas.openxmlformats.org/drawingml/2006/main">
            <a:off x="638175" y="3057525"/>
            <a:ext cx="54006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15375B"/>
                </a:solidFill>
                <a:latin typeface="Sora"/>
                <a:ea typeface="Sora"/>
                <a:cs typeface="Sora"/>
              </a:defRPr>
            </a:defPPr>
          </a:lstStyle>
          <a:p xmlns:a="http://schemas.openxmlformats.org/drawingml/2006/main">
            <a:pPr>
              <a:lnSpc>
                <a:spcPct val="105000"/>
              </a:lnSpc>
              <a:buNone/>
              <a:defRPr sz="2850" b="1">
                <a:solidFill>
                  <a:srgbClr val="15375B"/>
                </a:solidFill>
                <a:latin typeface="Sora"/>
                <a:ea typeface="Sora"/>
                <a:cs typeface="Sora"/>
              </a:defRPr>
            </a:pPr>
            <a:r>
              <a:rPr sz="2850" b="1" spc="0">
                <a:solidFill>
                  <a:srgbClr val="15375B"/>
                </a:solidFill>
                <a:latin typeface="Sora"/>
                <a:ea typeface="Sora"/>
                <a:cs typeface="Sora"/>
              </a:rPr>
              <a:t>A TikTok-first</a:t>
            </a:r>
          </a:p>
          <a:p xmlns:a="http://schemas.openxmlformats.org/drawingml/2006/main">
            <a:pPr>
              <a:lnSpc>
                <a:spcPct val="105000"/>
              </a:lnSpc>
              <a:buNone/>
              <a:defRPr sz="2850" b="1">
                <a:solidFill>
                  <a:srgbClr val="15375B"/>
                </a:solidFill>
                <a:latin typeface="Sora"/>
                <a:ea typeface="Sora"/>
                <a:cs typeface="Sora"/>
              </a:defRPr>
            </a:pPr>
            <a:r>
              <a:rPr sz="2850" b="1" spc="0">
                <a:solidFill>
                  <a:srgbClr val="15375B"/>
                </a:solidFill>
                <a:latin typeface="Sora"/>
                <a:ea typeface="Sora"/>
                <a:cs typeface="Sora"/>
              </a:rPr>
              <a:t>creative strategy</a:t>
            </a:r>
          </a:p>
        </p:txBody>
      </p:sp>
      <p:sp>
        <p:nvSpPr>
          <p:cNvPr id="8" name="Routine-based UGC, texture demonstrations and native creator videos. S">
            <a:extLst xmlns:a="http://schemas.openxmlformats.org/drawingml/2006/main">
              <a:ext uri="{FF2B5EF4-FFF2-40B4-BE49-F238E27FC236}">
                <a16:creationId xmlns:a16="http://schemas.microsoft.com/office/drawing/2014/main" id="{27145EB0-135B-49A3-ABC5-A2B14B1D0740}"/>
              </a:ext>
            </a:extLst>
          </p:cNvPr>
          <p:cNvSpPr>
            <a:spLocks xmlns:a="http://schemas.openxmlformats.org/drawingml/2006/main" noGrp="1"/>
          </p:cNvSpPr>
          <p:nvPr/>
        </p:nvSpPr>
        <p:spPr>
          <a:xfrm xmlns:a="http://schemas.openxmlformats.org/drawingml/2006/main">
            <a:off x="638175" y="4429125"/>
            <a:ext cx="53435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06079"/>
                </a:solidFill>
                <a:latin typeface="Manrope"/>
                <a:ea typeface="Manrope"/>
                <a:cs typeface="Manrope"/>
              </a:defRPr>
            </a:defPPr>
          </a:lstStyle>
          <a:p xmlns:a="http://schemas.openxmlformats.org/drawingml/2006/main">
            <a:pPr>
              <a:lnSpc>
                <a:spcPct val="105000"/>
              </a:lnSpc>
              <a:buNone/>
              <a:defRPr sz="1875" b="0">
                <a:solidFill>
                  <a:srgbClr val="506079"/>
                </a:solidFill>
                <a:latin typeface="Manrope"/>
                <a:ea typeface="Manrope"/>
                <a:cs typeface="Manrope"/>
              </a:defRPr>
            </a:pPr>
            <a:r>
              <a:rPr sz="1875" b="0" spc="0">
                <a:solidFill>
                  <a:srgbClr val="506079"/>
                </a:solidFill>
                <a:latin typeface="Manrope"/>
                <a:ea typeface="Manrope"/>
                <a:cs typeface="Manrope"/>
              </a:rPr>
              <a:t>Routine-based UGC, texture demonstrations and native creator videos. Spark Ads amplify strong creator posts.</a:t>
            </a:r>
          </a:p>
        </p:txBody>
      </p:sp>
      <p:sp>
        <p:nvSpPr>
          <p:cNvPr id="9" name="Independent concept. No historical results claimed.">
            <a:extLst xmlns:a="http://schemas.openxmlformats.org/drawingml/2006/main">
              <a:ext uri="{FF2B5EF4-FFF2-40B4-BE49-F238E27FC236}">
                <a16:creationId xmlns:a16="http://schemas.microsoft.com/office/drawing/2014/main" id="{7E2F69FA-AF3F-4277-8803-D50564162D9D}"/>
              </a:ext>
            </a:extLst>
          </p:cNvPr>
          <p:cNvSpPr>
            <a:spLocks xmlns:a="http://schemas.openxmlformats.org/drawingml/2006/main" noGrp="1"/>
          </p:cNvSpPr>
          <p:nvPr/>
        </p:nvSpPr>
        <p:spPr>
          <a:xfrm xmlns:a="http://schemas.openxmlformats.org/drawingml/2006/main">
            <a:off x="638175" y="5972175"/>
            <a:ext cx="53244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06079"/>
                </a:solidFill>
                <a:latin typeface="Manrope"/>
                <a:ea typeface="Manrope"/>
                <a:cs typeface="Manrope"/>
              </a:defRPr>
            </a:defPPr>
          </a:lstStyle>
          <a:p xmlns:a="http://schemas.openxmlformats.org/drawingml/2006/main">
            <a:pPr>
              <a:lnSpc>
                <a:spcPct val="105000"/>
              </a:lnSpc>
              <a:buNone/>
              <a:defRPr sz="1200" b="0">
                <a:solidFill>
                  <a:srgbClr val="506079"/>
                </a:solidFill>
                <a:latin typeface="Manrope"/>
                <a:ea typeface="Manrope"/>
                <a:cs typeface="Manrope"/>
              </a:defRPr>
            </a:pPr>
            <a:r>
              <a:rPr sz="1200" b="0">
                <a:solidFill>
                  <a:srgbClr val="506079"/>
                </a:solidFill>
                <a:latin typeface="Manrope"/>
                <a:ea typeface="Manrope"/>
                <a:cs typeface="Manrope"/>
              </a:rPr>
              <a:t>Independent concept. No historical results claimed.</a:t>
            </a:r>
          </a:p>
        </p:txBody>
      </p:sp>
      <p:sp>
        <p:nvSpPr>
          <p:cNvPr id="10" name="17 / INDEPENDENT CONCEPT / USA SKINCARE">
            <a:extLst xmlns:a="http://schemas.openxmlformats.org/drawingml/2006/main">
              <a:ext uri="{FF2B5EF4-FFF2-40B4-BE49-F238E27FC236}">
                <a16:creationId xmlns:a16="http://schemas.microsoft.com/office/drawing/2014/main" id="{E38784DB-94DA-419A-B0B3-B6BCFAD4A582}"/>
              </a:ext>
            </a:extLst>
          </p:cNvPr>
          <p:cNvSpPr>
            <a:spLocks xmlns:a="http://schemas.openxmlformats.org/drawingml/2006/main" noGrp="1"/>
          </p:cNvSpPr>
          <p:nvPr/>
        </p:nvSpPr>
        <p:spPr>
          <a:xfrm xmlns:a="http://schemas.openxmlformats.org/drawingml/2006/main">
            <a:off x="609600" y="381000"/>
            <a:ext cx="547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15375B"/>
                </a:solidFill>
                <a:latin typeface="Manrope"/>
                <a:ea typeface="Manrope"/>
                <a:cs typeface="Manrope"/>
              </a:defRPr>
            </a:defPPr>
          </a:lstStyle>
          <a:p xmlns:a="http://schemas.openxmlformats.org/drawingml/2006/main">
            <a:pPr>
              <a:lnSpc>
                <a:spcPct val="105000"/>
              </a:lnSpc>
              <a:buNone/>
              <a:defRPr sz="1050" b="1">
                <a:solidFill>
                  <a:srgbClr val="15375B"/>
                </a:solidFill>
                <a:latin typeface="Manrope"/>
                <a:ea typeface="Manrope"/>
                <a:cs typeface="Manrope"/>
              </a:defRPr>
            </a:pPr>
            <a:r>
              <a:rPr sz="1050" b="1">
                <a:solidFill>
                  <a:srgbClr val="15375B"/>
                </a:solidFill>
                <a:latin typeface="Manrope"/>
                <a:ea typeface="Manrope"/>
                <a:cs typeface="Manrope"/>
              </a:rPr>
              <a:t>17 / INDEPENDENT CONCEPT / USA SKINCARE</a:t>
            </a:r>
          </a:p>
        </p:txBody>
      </p:sp>
      <p:sp>
        <p:nvSpPr>
          <p:cNvPr id="11" name="KHAWAJA SAIM">
            <a:extLst xmlns:a="http://schemas.openxmlformats.org/drawingml/2006/main">
              <a:ext uri="{FF2B5EF4-FFF2-40B4-BE49-F238E27FC236}">
                <a16:creationId xmlns:a16="http://schemas.microsoft.com/office/drawing/2014/main" id="{84614B05-9E64-4F84-B966-1D72FD2F02CF}"/>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15375B"/>
                </a:solidFill>
                <a:latin typeface="Manrope"/>
                <a:ea typeface="Manrope"/>
                <a:cs typeface="Manrope"/>
              </a:defRPr>
            </a:defPPr>
          </a:lstStyle>
          <a:p xmlns:a="http://schemas.openxmlformats.org/drawingml/2006/main">
            <a:pPr>
              <a:lnSpc>
                <a:spcPct val="105000"/>
              </a:lnSpc>
              <a:buNone/>
              <a:defRPr sz="900" b="1">
                <a:solidFill>
                  <a:srgbClr val="15375B"/>
                </a:solidFill>
                <a:latin typeface="Manrope"/>
                <a:ea typeface="Manrope"/>
                <a:cs typeface="Manrope"/>
              </a:defRPr>
            </a:pPr>
            <a:r>
              <a:rPr sz="900" b="1">
                <a:solidFill>
                  <a:srgbClr val="15375B"/>
                </a:solidFill>
                <a:latin typeface="Manrope"/>
                <a:ea typeface="Manrope"/>
                <a:cs typeface="Manrope"/>
              </a:rPr>
              <a:t>KHAWAJA SAIM</a:t>
            </a:r>
          </a:p>
        </p:txBody>
      </p:sp>
      <p:sp>
        <p:nvSpPr>
          <p:cNvPr id="12" name="18">
            <a:extLst xmlns:a="http://schemas.openxmlformats.org/drawingml/2006/main">
              <a:ext uri="{FF2B5EF4-FFF2-40B4-BE49-F238E27FC236}">
                <a16:creationId xmlns:a16="http://schemas.microsoft.com/office/drawing/2014/main" id="{E85B92B8-7AE5-4F9A-A093-D326F06966BD}"/>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15375B"/>
                </a:solidFill>
                <a:latin typeface="Manrope"/>
                <a:ea typeface="Manrope"/>
                <a:cs typeface="Manrope"/>
              </a:defRPr>
            </a:defPPr>
          </a:lstStyle>
          <a:p xmlns:a="http://schemas.openxmlformats.org/drawingml/2006/main">
            <a:pPr>
              <a:lnSpc>
                <a:spcPct val="105000"/>
              </a:lnSpc>
              <a:buNone/>
              <a:defRPr sz="1050" b="0">
                <a:solidFill>
                  <a:srgbClr val="15375B"/>
                </a:solidFill>
                <a:latin typeface="Manrope"/>
                <a:ea typeface="Manrope"/>
                <a:cs typeface="Manrope"/>
              </a:defRPr>
            </a:pPr>
            <a:r>
              <a:rPr sz="1050" b="0">
                <a:solidFill>
                  <a:srgbClr val="15375B"/>
                </a:solidFill>
                <a:latin typeface="Manrope"/>
                <a:ea typeface="Manrope"/>
                <a:cs typeface="Manrope"/>
              </a:rPr>
              <a:t>18</a:t>
            </a:r>
          </a:p>
        </p:txBody>
      </p:sp>
    </p:spTree>
    <p:extLst>
      <p:ext uri="{BB962C8B-B14F-4D97-AF65-F5344CB8AC3E}">
        <p14:creationId xmlns:p14="http://schemas.microsoft.com/office/powerpoint/2010/main" val="1087410557"/>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fill="hold"/>
                                  <p:tgtEl>
                                    <p:spTgt spid="6"/>
                                  </p:tgtEl>
                                </p:cBhvr>
                              </p:animEffect>
                              <p:anim calcmode="lin" valueType="num">
                                <p:cBhvr additive="base">
                                  <p:cTn id="7" dur="550" fill="hold" decel="60000"/>
                                  <p:tgtEl>
                                    <p:spTgt spid="6"/>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50" fill="hold"/>
                                  <p:tgtEl>
                                    <p:spTgt spid="7"/>
                                  </p:tgtEl>
                                </p:cBhvr>
                              </p:animEffect>
                              <p:anim calcmode="lin" valueType="num">
                                <p:cBhvr additive="base">
                                  <p:cTn id="11" dur="550" fill="hold" decel="60000"/>
                                  <p:tgtEl>
                                    <p:spTgt spid="7"/>
                                  </p:tgtEl>
                                  <p:attrNameLst>
                                    <p:attrName>ppt_y</p:attrName>
                                  </p:attrNameLst>
                                </p:cBhvr>
                                <p:tavLst>
                                  <p:tav tm="0">
                                    <p:val>
                                      <p:strVal val="#ppt_y+0.025"/>
                                    </p:val>
                                  </p:tav>
                                  <p:tav tm="100000">
                                    <p:val>
                                      <p:strVal val="#ppt_y"/>
                                    </p:val>
                                  </p:tav>
                                </p:tavLst>
                              </p:anim>
                            </p:childTnLst>
                          </p:cTn>
                        </p:par>
                        <p:par>
                          <p:cTn id="12" presetID="10" presetClass="entr" presetSubtype="0" fill="hold" grpId="0" nodeType="withEffect">
                            <p:stCondLst>
                              <p:cond delay="38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Lst>
  </p:timing>
</p:sld>
</file>

<file path=ppt/slides/slide19.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9BA0ABA0-78BE-4F9F-9E55-772ACBEA48C4}"/>
              </a:ext>
            </a:extLst>
          </p:cNvPr>
          <p:cNvPicPr>
            <a:picLocks xmlns:a="http://schemas.openxmlformats.org/drawingml/2006/main" noChangeAspect="1"/>
          </p:cNvPicPr>
          <p:nvPr/>
        </p:nvPicPr>
        <p:blipFill>
          <a:blip xmlns:r="http://schemas.openxmlformats.org/officeDocument/2006/relationships" xmlns:a="http://schemas.openxmlformats.org/drawingml/2006/main" r:embed="R9fddc54dcb3d435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4103816-DD1C-4E25-801C-265FF1201A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D15">
              <a:alpha val="45000"/>
            </a:srgbClr>
          </a:solidFill>
          <a:ln xmlns:a="http://schemas.openxmlformats.org/drawingml/2006/main" w="0">
            <a:noFill/>
          </a:ln>
        </p:spPr>
      </p:sp>
      <p:sp>
        <p:nvSpPr>
          <p:cNvPr id="3" name="18 / GLOW THEORY / CREATIVE TESTING">
            <a:extLst xmlns:a="http://schemas.openxmlformats.org/drawingml/2006/main">
              <a:ext uri="{FF2B5EF4-FFF2-40B4-BE49-F238E27FC236}">
                <a16:creationId xmlns:a16="http://schemas.microsoft.com/office/drawing/2014/main" id="{E9FFCEDE-DA2C-40E6-9ECC-FE0DEF9E0990}"/>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18 / GLOW THEORY / CREATIVE TESTING</a:t>
            </a:r>
          </a:p>
        </p:txBody>
      </p:sp>
      <p:sp>
        <p:nvSpPr>
          <p:cNvPr id="4" name="KHAWAJA SAIM">
            <a:extLst xmlns:a="http://schemas.openxmlformats.org/drawingml/2006/main">
              <a:ext uri="{FF2B5EF4-FFF2-40B4-BE49-F238E27FC236}">
                <a16:creationId xmlns:a16="http://schemas.microsoft.com/office/drawing/2014/main" id="{34A281A2-570B-452D-9548-E551F29CC75A}"/>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5" name="19">
            <a:extLst xmlns:a="http://schemas.openxmlformats.org/drawingml/2006/main">
              <a:ext uri="{FF2B5EF4-FFF2-40B4-BE49-F238E27FC236}">
                <a16:creationId xmlns:a16="http://schemas.microsoft.com/office/drawing/2014/main" id="{3B0A91C4-3AE6-4D10-B986-F23B75ABB1FB}"/>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19</a:t>
            </a:r>
          </a:p>
        </p:txBody>
      </p:sp>
      <p:sp>
        <p:nvSpPr>
          <p:cNvPr id="6" name="The creative&#10;is the test.">
            <a:extLst xmlns:a="http://schemas.openxmlformats.org/drawingml/2006/main">
              <a:ext uri="{FF2B5EF4-FFF2-40B4-BE49-F238E27FC236}">
                <a16:creationId xmlns:a16="http://schemas.microsoft.com/office/drawing/2014/main" id="{90169158-F075-43D7-992E-2D58AE26B9F2}"/>
              </a:ext>
            </a:extLst>
          </p:cNvPr>
          <p:cNvSpPr>
            <a:spLocks xmlns:a="http://schemas.openxmlformats.org/drawingml/2006/main" noGrp="1"/>
          </p:cNvSpPr>
          <p:nvPr/>
        </p:nvSpPr>
        <p:spPr>
          <a:xfrm xmlns:a="http://schemas.openxmlformats.org/drawingml/2006/main">
            <a:off x="609600" y="1171575"/>
            <a:ext cx="45529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050"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4050" b="1">
                <a:solidFill>
                  <a:srgbClr val="F3F5F7"/>
                </a:solidFill>
                <a:latin typeface="Sora"/>
                <a:ea typeface="Sora"/>
                <a:cs typeface="Sora"/>
              </a:defRPr>
            </a:pPr>
            <a:r>
              <a:rPr sz="4050" b="1" spc="-30">
                <a:gradFill>
                  <a:gsLst>
                    <a:gs pos="0">
                      <a:srgbClr val="F4F8FF"/>
                    </a:gs>
                    <a:gs pos="55000">
                      <a:srgbClr val="B2DFFF"/>
                    </a:gs>
                    <a:gs pos="100000">
                      <a:srgbClr val="548EE1"/>
                    </a:gs>
                  </a:gsLst>
                  <a:lin ang="0"/>
                </a:gradFill>
                <a:latin typeface="Sora"/>
                <a:ea typeface="Sora"/>
                <a:cs typeface="Sora"/>
              </a:rPr>
              <a:t>The creative</a:t>
            </a:r>
          </a:p>
          <a:p xmlns:a="http://schemas.openxmlformats.org/drawingml/2006/main">
            <a:pPr>
              <a:lnSpc>
                <a:spcPct val="105000"/>
              </a:lnSpc>
              <a:buNone/>
              <a:defRPr sz="4050" b="1">
                <a:solidFill>
                  <a:srgbClr val="F3F5F7"/>
                </a:solidFill>
                <a:latin typeface="Sora"/>
                <a:ea typeface="Sora"/>
                <a:cs typeface="Sora"/>
              </a:defRPr>
            </a:pPr>
            <a:r>
              <a:rPr sz="4050" b="1" spc="-30">
                <a:gradFill>
                  <a:gsLst>
                    <a:gs pos="0">
                      <a:srgbClr val="F4F8FF"/>
                    </a:gs>
                    <a:gs pos="55000">
                      <a:srgbClr val="B2DFFF"/>
                    </a:gs>
                    <a:gs pos="100000">
                      <a:srgbClr val="548EE1"/>
                    </a:gs>
                  </a:gsLst>
                  <a:lin ang="0"/>
                </a:gradFill>
                <a:latin typeface="Sora"/>
                <a:ea typeface="Sora"/>
                <a:cs typeface="Sora"/>
              </a:rPr>
              <a:t>is the test.</a:t>
            </a:r>
          </a:p>
        </p:txBody>
      </p:sp>
      <p:sp>
        <p:nvSpPr>
          <p:cNvPr id="7" name="Problem hook">
            <a:extLst xmlns:a="http://schemas.openxmlformats.org/drawingml/2006/main">
              <a:ext uri="{FF2B5EF4-FFF2-40B4-BE49-F238E27FC236}">
                <a16:creationId xmlns:a16="http://schemas.microsoft.com/office/drawing/2014/main" id="{C58D32CA-2B4D-46DF-9435-1DC1D4BCF62E}"/>
              </a:ext>
            </a:extLst>
          </p:cNvPr>
          <p:cNvSpPr>
            <a:spLocks xmlns:a="http://schemas.openxmlformats.org/drawingml/2006/main" noGrp="1"/>
          </p:cNvSpPr>
          <p:nvPr/>
        </p:nvSpPr>
        <p:spPr>
          <a:xfrm xmlns:a="http://schemas.openxmlformats.org/drawingml/2006/main">
            <a:off x="5648325" y="1343025"/>
            <a:ext cx="5743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5F7"/>
                </a:solidFill>
                <a:latin typeface="Manrope"/>
                <a:ea typeface="Manrope"/>
                <a:cs typeface="Manrope"/>
              </a:defRPr>
            </a:defPPr>
          </a:lstStyle>
          <a:p xmlns:a="http://schemas.openxmlformats.org/drawingml/2006/main">
            <a:pPr>
              <a:lnSpc>
                <a:spcPct val="105000"/>
              </a:lnSpc>
              <a:buNone/>
              <a:defRPr sz="1800" b="1">
                <a:solidFill>
                  <a:srgbClr val="F3F5F7"/>
                </a:solidFill>
                <a:latin typeface="Manrope"/>
                <a:ea typeface="Manrope"/>
                <a:cs typeface="Manrope"/>
              </a:defRPr>
            </a:pPr>
            <a:r>
              <a:rPr sz="1800" b="1" spc="0">
                <a:solidFill>
                  <a:srgbClr val="F3F5F7"/>
                </a:solidFill>
                <a:latin typeface="Manrope"/>
                <a:ea typeface="Manrope"/>
                <a:cs typeface="Manrope"/>
              </a:rPr>
              <a:t>Problem hook</a:t>
            </a:r>
          </a:p>
        </p:txBody>
      </p:sp>
      <p:sp>
        <p:nvSpPr>
          <p:cNvPr id="8" name="Pain-led opener with a product-texture demonstration.">
            <a:extLst xmlns:a="http://schemas.openxmlformats.org/drawingml/2006/main">
              <a:ext uri="{FF2B5EF4-FFF2-40B4-BE49-F238E27FC236}">
                <a16:creationId xmlns:a16="http://schemas.microsoft.com/office/drawing/2014/main" id="{208148DB-B3DA-4E07-A583-A1A00C24A3D4}"/>
              </a:ext>
            </a:extLst>
          </p:cNvPr>
          <p:cNvSpPr>
            <a:spLocks xmlns:a="http://schemas.openxmlformats.org/drawingml/2006/main" noGrp="1"/>
          </p:cNvSpPr>
          <p:nvPr/>
        </p:nvSpPr>
        <p:spPr>
          <a:xfrm xmlns:a="http://schemas.openxmlformats.org/drawingml/2006/main">
            <a:off x="5648325" y="1790700"/>
            <a:ext cx="57435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Pain-led opener with a product-texture demonstration.</a:t>
            </a:r>
          </a:p>
        </p:txBody>
      </p:sp>
      <p:sp>
        <p:nvSpPr>
          <p:cNvPr id="9" name="Routine and proof">
            <a:extLst xmlns:a="http://schemas.openxmlformats.org/drawingml/2006/main">
              <a:ext uri="{FF2B5EF4-FFF2-40B4-BE49-F238E27FC236}">
                <a16:creationId xmlns:a16="http://schemas.microsoft.com/office/drawing/2014/main" id="{20C150ED-55B2-49CE-88C5-5CFF0715D8A8}"/>
              </a:ext>
            </a:extLst>
          </p:cNvPr>
          <p:cNvSpPr>
            <a:spLocks xmlns:a="http://schemas.openxmlformats.org/drawingml/2006/main" noGrp="1"/>
          </p:cNvSpPr>
          <p:nvPr/>
        </p:nvSpPr>
        <p:spPr>
          <a:xfrm xmlns:a="http://schemas.openxmlformats.org/drawingml/2006/main">
            <a:off x="5648325" y="2409825"/>
            <a:ext cx="5743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5F7"/>
                </a:solidFill>
                <a:latin typeface="Manrope"/>
                <a:ea typeface="Manrope"/>
                <a:cs typeface="Manrope"/>
              </a:defRPr>
            </a:defPPr>
          </a:lstStyle>
          <a:p xmlns:a="http://schemas.openxmlformats.org/drawingml/2006/main">
            <a:pPr>
              <a:lnSpc>
                <a:spcPct val="105000"/>
              </a:lnSpc>
              <a:buNone/>
              <a:defRPr sz="1800" b="1">
                <a:solidFill>
                  <a:srgbClr val="F3F5F7"/>
                </a:solidFill>
                <a:latin typeface="Manrope"/>
                <a:ea typeface="Manrope"/>
                <a:cs typeface="Manrope"/>
              </a:defRPr>
            </a:pPr>
            <a:r>
              <a:rPr sz="1800" b="1" spc="0">
                <a:solidFill>
                  <a:srgbClr val="F3F5F7"/>
                </a:solidFill>
                <a:latin typeface="Manrope"/>
                <a:ea typeface="Manrope"/>
                <a:cs typeface="Manrope"/>
              </a:rPr>
              <a:t>Routine and proof</a:t>
            </a:r>
          </a:p>
        </p:txBody>
      </p:sp>
      <p:sp>
        <p:nvSpPr>
          <p:cNvPr id="10" name="Creator voiceover, routine and close-up product use.">
            <a:extLst xmlns:a="http://schemas.openxmlformats.org/drawingml/2006/main">
              <a:ext uri="{FF2B5EF4-FFF2-40B4-BE49-F238E27FC236}">
                <a16:creationId xmlns:a16="http://schemas.microsoft.com/office/drawing/2014/main" id="{569E53A8-17BC-495F-8967-EED39D11022A}"/>
              </a:ext>
            </a:extLst>
          </p:cNvPr>
          <p:cNvSpPr>
            <a:spLocks xmlns:a="http://schemas.openxmlformats.org/drawingml/2006/main" noGrp="1"/>
          </p:cNvSpPr>
          <p:nvPr/>
        </p:nvSpPr>
        <p:spPr>
          <a:xfrm xmlns:a="http://schemas.openxmlformats.org/drawingml/2006/main">
            <a:off x="5648325" y="2857500"/>
            <a:ext cx="57435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Creator voiceover, routine and close-up product use.</a:t>
            </a:r>
          </a:p>
        </p:txBody>
      </p:sp>
      <p:sp>
        <p:nvSpPr>
          <p:cNvPr id="11" name="Campaign structure">
            <a:extLst xmlns:a="http://schemas.openxmlformats.org/drawingml/2006/main">
              <a:ext uri="{FF2B5EF4-FFF2-40B4-BE49-F238E27FC236}">
                <a16:creationId xmlns:a16="http://schemas.microsoft.com/office/drawing/2014/main" id="{BFB353B1-5A52-4FEB-BB4C-E94585B1671A}"/>
              </a:ext>
            </a:extLst>
          </p:cNvPr>
          <p:cNvSpPr>
            <a:spLocks xmlns:a="http://schemas.openxmlformats.org/drawingml/2006/main" noGrp="1"/>
          </p:cNvSpPr>
          <p:nvPr/>
        </p:nvSpPr>
        <p:spPr>
          <a:xfrm xmlns:a="http://schemas.openxmlformats.org/drawingml/2006/main">
            <a:off x="5648325" y="3476625"/>
            <a:ext cx="5743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5F7"/>
                </a:solidFill>
                <a:latin typeface="Manrope"/>
                <a:ea typeface="Manrope"/>
                <a:cs typeface="Manrope"/>
              </a:defRPr>
            </a:defPPr>
          </a:lstStyle>
          <a:p xmlns:a="http://schemas.openxmlformats.org/drawingml/2006/main">
            <a:pPr>
              <a:lnSpc>
                <a:spcPct val="105000"/>
              </a:lnSpc>
              <a:buNone/>
              <a:defRPr sz="1800" b="1">
                <a:solidFill>
                  <a:srgbClr val="F3F5F7"/>
                </a:solidFill>
                <a:latin typeface="Manrope"/>
                <a:ea typeface="Manrope"/>
                <a:cs typeface="Manrope"/>
              </a:defRPr>
            </a:pPr>
            <a:r>
              <a:rPr sz="1800" b="1" spc="0">
                <a:solidFill>
                  <a:srgbClr val="F3F5F7"/>
                </a:solidFill>
                <a:latin typeface="Manrope"/>
                <a:ea typeface="Manrope"/>
                <a:cs typeface="Manrope"/>
              </a:rPr>
              <a:t>Campaign structure</a:t>
            </a:r>
          </a:p>
        </p:txBody>
      </p:sp>
      <p:sp>
        <p:nvSpPr>
          <p:cNvPr id="12" name="US prospecting, warm retargeting and multiple hooks.">
            <a:extLst xmlns:a="http://schemas.openxmlformats.org/drawingml/2006/main">
              <a:ext uri="{FF2B5EF4-FFF2-40B4-BE49-F238E27FC236}">
                <a16:creationId xmlns:a16="http://schemas.microsoft.com/office/drawing/2014/main" id="{4E7B28EE-5C33-4F15-9636-A61132710EF8}"/>
              </a:ext>
            </a:extLst>
          </p:cNvPr>
          <p:cNvSpPr>
            <a:spLocks xmlns:a="http://schemas.openxmlformats.org/drawingml/2006/main" noGrp="1"/>
          </p:cNvSpPr>
          <p:nvPr/>
        </p:nvSpPr>
        <p:spPr>
          <a:xfrm xmlns:a="http://schemas.openxmlformats.org/drawingml/2006/main">
            <a:off x="5648325" y="3924300"/>
            <a:ext cx="57435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US prospecting, warm retargeting and multiple hooks.</a:t>
            </a:r>
          </a:p>
        </p:txBody>
      </p:sp>
      <p:sp>
        <p:nvSpPr>
          <p:cNvPr id="13" name="Decision framework">
            <a:extLst xmlns:a="http://schemas.openxmlformats.org/drawingml/2006/main">
              <a:ext uri="{FF2B5EF4-FFF2-40B4-BE49-F238E27FC236}">
                <a16:creationId xmlns:a16="http://schemas.microsoft.com/office/drawing/2014/main" id="{621F7F23-DB8D-4EEC-8FFA-FBA2619FF0CF}"/>
              </a:ext>
            </a:extLst>
          </p:cNvPr>
          <p:cNvSpPr>
            <a:spLocks xmlns:a="http://schemas.openxmlformats.org/drawingml/2006/main" noGrp="1"/>
          </p:cNvSpPr>
          <p:nvPr/>
        </p:nvSpPr>
        <p:spPr>
          <a:xfrm xmlns:a="http://schemas.openxmlformats.org/drawingml/2006/main">
            <a:off x="5648325" y="4543425"/>
            <a:ext cx="5743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F3F5F7"/>
                </a:solidFill>
                <a:latin typeface="Manrope"/>
                <a:ea typeface="Manrope"/>
                <a:cs typeface="Manrope"/>
              </a:defRPr>
            </a:defPPr>
          </a:lstStyle>
          <a:p xmlns:a="http://schemas.openxmlformats.org/drawingml/2006/main">
            <a:pPr>
              <a:lnSpc>
                <a:spcPct val="105000"/>
              </a:lnSpc>
              <a:buNone/>
              <a:defRPr sz="1800" b="1">
                <a:solidFill>
                  <a:srgbClr val="F3F5F7"/>
                </a:solidFill>
                <a:latin typeface="Manrope"/>
                <a:ea typeface="Manrope"/>
                <a:cs typeface="Manrope"/>
              </a:defRPr>
            </a:pPr>
            <a:r>
              <a:rPr sz="1800" b="1" spc="0">
                <a:solidFill>
                  <a:srgbClr val="F3F5F7"/>
                </a:solidFill>
                <a:latin typeface="Manrope"/>
                <a:ea typeface="Manrope"/>
                <a:cs typeface="Manrope"/>
              </a:rPr>
              <a:t>Decision framework</a:t>
            </a:r>
          </a:p>
        </p:txBody>
      </p:sp>
      <p:sp>
        <p:nvSpPr>
          <p:cNvPr id="14" name="Review watch quality and purchase intent. Refresh angles as fatigue gr">
            <a:extLst xmlns:a="http://schemas.openxmlformats.org/drawingml/2006/main">
              <a:ext uri="{FF2B5EF4-FFF2-40B4-BE49-F238E27FC236}">
                <a16:creationId xmlns:a16="http://schemas.microsoft.com/office/drawing/2014/main" id="{74F0B2ED-BF68-4E39-9B02-D48C61B76AD1}"/>
              </a:ext>
            </a:extLst>
          </p:cNvPr>
          <p:cNvSpPr>
            <a:spLocks xmlns:a="http://schemas.openxmlformats.org/drawingml/2006/main" noGrp="1"/>
          </p:cNvSpPr>
          <p:nvPr/>
        </p:nvSpPr>
        <p:spPr>
          <a:xfrm xmlns:a="http://schemas.openxmlformats.org/drawingml/2006/main">
            <a:off x="5648325" y="4991100"/>
            <a:ext cx="57435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A9B8CA"/>
                </a:solidFill>
                <a:latin typeface="Manrope"/>
                <a:ea typeface="Manrope"/>
                <a:cs typeface="Manrope"/>
              </a:defRPr>
            </a:defPPr>
          </a:lstStyle>
          <a:p xmlns:a="http://schemas.openxmlformats.org/drawingml/2006/main">
            <a:pPr>
              <a:lnSpc>
                <a:spcPct val="105000"/>
              </a:lnSpc>
              <a:buNone/>
              <a:defRPr sz="1575" b="0">
                <a:solidFill>
                  <a:srgbClr val="A9B8CA"/>
                </a:solidFill>
                <a:latin typeface="Manrope"/>
                <a:ea typeface="Manrope"/>
                <a:cs typeface="Manrope"/>
              </a:defRPr>
            </a:pPr>
            <a:r>
              <a:rPr sz="1575" b="0" spc="70">
                <a:solidFill>
                  <a:srgbClr val="A9B8CA"/>
                </a:solidFill>
                <a:latin typeface="Manrope"/>
                <a:ea typeface="Manrope"/>
                <a:cs typeface="Manrope"/>
              </a:rPr>
              <a:t>Review watch quality and purchase intent. Refresh angles as fatigue grows.</a:t>
            </a:r>
          </a:p>
        </p:txBody>
      </p:sp>
      <p:sp>
        <p:nvSpPr>
          <p:cNvPr id="15" name="Hook rate, 6-second view rate, CTR, CPA, CVR and ROAS">
            <a:extLst xmlns:a="http://schemas.openxmlformats.org/drawingml/2006/main">
              <a:ext uri="{FF2B5EF4-FFF2-40B4-BE49-F238E27FC236}">
                <a16:creationId xmlns:a16="http://schemas.microsoft.com/office/drawing/2014/main" id="{AE2D62B9-F9C3-4203-87F0-E03BCF9B50CA}"/>
              </a:ext>
            </a:extLst>
          </p:cNvPr>
          <p:cNvSpPr>
            <a:spLocks xmlns:a="http://schemas.openxmlformats.org/drawingml/2006/main" noGrp="1"/>
          </p:cNvSpPr>
          <p:nvPr/>
        </p:nvSpPr>
        <p:spPr>
          <a:xfrm xmlns:a="http://schemas.openxmlformats.org/drawingml/2006/main">
            <a:off x="609600" y="59150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A8D4FF"/>
                </a:solidFill>
                <a:latin typeface="Manrope"/>
                <a:ea typeface="Manrope"/>
                <a:cs typeface="Manrope"/>
              </a:defRPr>
            </a:defPPr>
          </a:lstStyle>
          <a:p xmlns:a="http://schemas.openxmlformats.org/drawingml/2006/main">
            <a:pPr>
              <a:lnSpc>
                <a:spcPct val="105000"/>
              </a:lnSpc>
              <a:buNone/>
              <a:defRPr sz="1650" b="0">
                <a:solidFill>
                  <a:srgbClr val="A8D4FF"/>
                </a:solidFill>
                <a:latin typeface="Manrope"/>
                <a:ea typeface="Manrope"/>
                <a:cs typeface="Manrope"/>
              </a:defRPr>
            </a:pPr>
            <a:r>
              <a:rPr sz="1650" b="0" spc="70">
                <a:solidFill>
                  <a:srgbClr val="A8D4FF"/>
                </a:solidFill>
                <a:latin typeface="Manrope"/>
                <a:ea typeface="Manrope"/>
                <a:cs typeface="Manrope"/>
              </a:rPr>
              <a:t>Hook rate, 6-second view rate, CTR, CPA, CVR and ROAS</a:t>
            </a:r>
          </a:p>
        </p:txBody>
      </p:sp>
    </p:spTree>
    <p:extLst>
      <p:ext uri="{BB962C8B-B14F-4D97-AF65-F5344CB8AC3E}">
        <p14:creationId xmlns:p14="http://schemas.microsoft.com/office/powerpoint/2010/main" val="1899961917"/>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fill="hold"/>
                                  <p:tgtEl>
                                    <p:spTgt spid="6"/>
                                  </p:tgtEl>
                                </p:cBhvr>
                              </p:animEffect>
                              <p:anim calcmode="lin" valueType="num">
                                <p:cBhvr additive="base">
                                  <p:cTn id="7" dur="550" fill="hold" decel="60000"/>
                                  <p:tgtEl>
                                    <p:spTgt spid="6"/>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50" fill="hold"/>
                                  <p:tgtEl>
                                    <p:spTgt spid="7"/>
                                  </p:tgtEl>
                                </p:cBhvr>
                              </p:animEffect>
                            </p:childTnLst>
                          </p:cTn>
                        </p:par>
                        <p:par>
                          <p:cTn id="11" presetID="10" presetClass="entr" presetSubtype="0" fill="hold" grpId="0" nodeType="withEffect">
                            <p:stCondLst>
                              <p:cond delay="38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50" fill="hold"/>
                                  <p:tgtEl>
                                    <p:spTgt spid="8"/>
                                  </p:tgtEl>
                                </p:cBhvr>
                              </p:animEffect>
                            </p:childTnLst>
                          </p:cTn>
                        </p:par>
                        <p:par>
                          <p:cTn id="14" presetID="10" presetClass="entr" presetSubtype="0" fill="hold" grpId="0" nodeType="withEffect">
                            <p:stCondLst>
                              <p:cond delay="495"/>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50" fill="hold"/>
                                  <p:tgtEl>
                                    <p:spTgt spid="9"/>
                                  </p:tgtEl>
                                </p:cBhvr>
                              </p:animEffect>
                            </p:childTnLst>
                          </p:cTn>
                        </p:par>
                        <p:par>
                          <p:cTn id="17" presetID="10" presetClass="entr" presetSubtype="0" fill="hold" grpId="0" nodeType="withEffect">
                            <p:stCondLst>
                              <p:cond delay="61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50" fill="hold"/>
                                  <p:tgtEl>
                                    <p:spTgt spid="10"/>
                                  </p:tgtEl>
                                </p:cBhvr>
                              </p:animEffect>
                            </p:childTnLst>
                          </p:cTn>
                        </p:par>
                        <p:par>
                          <p:cTn id="20" presetID="10" presetClass="entr" presetSubtype="0" fill="hold" grpId="0" nodeType="withEffect">
                            <p:stCondLst>
                              <p:cond delay="725"/>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fill="hold"/>
                                  <p:tgtEl>
                                    <p:spTgt spid="11"/>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50" fill="hold"/>
                                  <p:tgtEl>
                                    <p:spTgt spid="12"/>
                                  </p:tgtEl>
                                </p:cBhvr>
                              </p:animEffect>
                            </p:childTnLst>
                          </p:cTn>
                        </p:par>
                        <p:par>
                          <p:cTn id="26" presetID="10" presetClass="entr" presetSubtype="0" fill="hold" grpId="0" nodeType="withEffect">
                            <p:stCondLst>
                              <p:cond delay="955"/>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fill="hold"/>
                                  <p:tgtEl>
                                    <p:spTgt spid="13"/>
                                  </p:tgtEl>
                                </p:cBhvr>
                              </p:animEffect>
                            </p:childTnLst>
                          </p:cTn>
                        </p:par>
                        <p:par>
                          <p:cTn id="29" presetID="10" presetClass="entr" presetSubtype="0" fill="hold" grpId="0" nodeType="withEffect">
                            <p:stCondLst>
                              <p:cond delay="107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50" fill="hold"/>
                                  <p:tgtEl>
                                    <p:spTgt spid="14"/>
                                  </p:tgtEl>
                                </p:cBhvr>
                              </p:animEffect>
                            </p:childTnLst>
                          </p:cTn>
                        </p:par>
                        <p:par>
                          <p:cTn id="32" presetID="10" presetClass="entr" presetSubtype="0" fill="hold" grpId="0" nodeType="withEffect">
                            <p:stCondLst>
                              <p:cond delay="1185"/>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50" fill="hold"/>
                                  <p:tgtEl>
                                    <p:spTgt spid="1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P spid="9" grpId="0" build="allAtOnce"/>
      <p:bldP spid="10" grpId="0" build="allAtOnce"/>
      <p:bldP spid="11" grpId="0" build="allAtOnce"/>
      <p:bldP spid="12" grpId="0" build="allAtOnce"/>
      <p:bldP spid="13" grpId="0" build="allAtOnce"/>
      <p:bldP spid="14" grpId="0" build="allAtOnce"/>
      <p:bldP spid="15" grpId="0" build="allAtOnce"/>
    </p:bldLst>
  </p:timing>
</p:sld>
</file>

<file path=ppt/slides/slide20.xml><?xml version="1.0" encoding="utf-8"?>
<p:sld xmlns:p="http://schemas.openxmlformats.org/presentationml/2006/main">
  <p:cSld>
    <p:bg>
      <p:bgPr>
        <a:solidFill xmlns:a="http://schemas.openxmlformats.org/drawingml/2006/main">
          <a:srgbClr val="F3F5F7"/>
        </a:solidFill>
      </p:bgPr>
    </p:bg>
    <p:spTree>
      <p:nvGrpSpPr>
        <p:cNvPr id="1" name=""/>
        <p:cNvGrpSpPr/>
        <p:nvPr/>
      </p:nvGrpSpPr>
      <p:grpSpPr>
        <a:xfrm xmlns:a="http://schemas.openxmlformats.org/drawingml/2006/main"/>
      </p:grpSpPr>
      <p:sp>
        <p:nvSpPr>
          <p:cNvPr id="13" name="19 / WORKING PRINCIPLES">
            <a:extLst xmlns:a="http://schemas.openxmlformats.org/drawingml/2006/main">
              <a:ext uri="{FF2B5EF4-FFF2-40B4-BE49-F238E27FC236}">
                <a16:creationId xmlns:a16="http://schemas.microsoft.com/office/drawing/2014/main" id="{B26A4A60-8C5B-4553-96B4-ECEDE07547DF}"/>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15375B"/>
                </a:solidFill>
                <a:latin typeface="Manrope"/>
                <a:ea typeface="Manrope"/>
                <a:cs typeface="Manrope"/>
              </a:defRPr>
            </a:defPPr>
          </a:lstStyle>
          <a:p xmlns:a="http://schemas.openxmlformats.org/drawingml/2006/main">
            <a:pPr>
              <a:lnSpc>
                <a:spcPct val="105000"/>
              </a:lnSpc>
              <a:buNone/>
              <a:defRPr sz="1050" b="1">
                <a:solidFill>
                  <a:srgbClr val="15375B"/>
                </a:solidFill>
                <a:latin typeface="Manrope"/>
                <a:ea typeface="Manrope"/>
                <a:cs typeface="Manrope"/>
              </a:defRPr>
            </a:pPr>
            <a:r>
              <a:rPr sz="1050" b="1">
                <a:solidFill>
                  <a:srgbClr val="15375B"/>
                </a:solidFill>
                <a:latin typeface="Manrope"/>
                <a:ea typeface="Manrope"/>
                <a:cs typeface="Manrope"/>
              </a:rPr>
              <a:t>19 / WORKING PRINCIPLES</a:t>
            </a:r>
          </a:p>
        </p:txBody>
      </p:sp>
      <p:sp>
        <p:nvSpPr>
          <p:cNvPr id="2" name="The decisions behind the work">
            <a:extLst xmlns:a="http://schemas.openxmlformats.org/drawingml/2006/main">
              <a:ext uri="{FF2B5EF4-FFF2-40B4-BE49-F238E27FC236}">
                <a16:creationId xmlns:a16="http://schemas.microsoft.com/office/drawing/2014/main" id="{C7367052-1FDC-4B7A-A51C-025732B55526}"/>
              </a:ext>
            </a:extLst>
          </p:cNvPr>
          <p:cNvSpPr>
            <a:spLocks xmlns:a="http://schemas.openxmlformats.org/drawingml/2006/main" noGrp="1"/>
          </p:cNvSpPr>
          <p:nvPr/>
        </p:nvSpPr>
        <p:spPr>
          <a:xfrm xmlns:a="http://schemas.openxmlformats.org/drawingml/2006/main">
            <a:off x="609600" y="8572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080D15"/>
                </a:solidFill>
                <a:latin typeface="Sora"/>
                <a:ea typeface="Sora"/>
                <a:cs typeface="Sora"/>
              </a:defRPr>
            </a:defPPr>
          </a:lstStyle>
          <a:p xmlns:a="http://schemas.openxmlformats.org/drawingml/2006/main">
            <a:pPr>
              <a:lnSpc>
                <a:spcPct val="105000"/>
              </a:lnSpc>
              <a:buNone/>
              <a:defRPr sz="3600" b="1">
                <a:solidFill>
                  <a:srgbClr val="080D15"/>
                </a:solidFill>
                <a:latin typeface="Sora"/>
                <a:ea typeface="Sora"/>
                <a:cs typeface="Sora"/>
              </a:defRPr>
            </a:pPr>
            <a:r>
              <a:rPr sz="3600" b="1" spc="-30">
                <a:solidFill>
                  <a:srgbClr val="080D15"/>
                </a:solidFill>
                <a:latin typeface="Sora"/>
                <a:ea typeface="Sora"/>
                <a:cs typeface="Sora"/>
              </a:rPr>
              <a:t>The decisions behind the work</a:t>
            </a:r>
          </a:p>
        </p:txBody>
      </p:sp>
      <p:sp>
        <p:nvSpPr>
          <p:cNvPr id="3" name="KHAWAJA SAIM">
            <a:extLst xmlns:a="http://schemas.openxmlformats.org/drawingml/2006/main">
              <a:ext uri="{FF2B5EF4-FFF2-40B4-BE49-F238E27FC236}">
                <a16:creationId xmlns:a16="http://schemas.microsoft.com/office/drawing/2014/main" id="{87BBF9EE-2246-4FD8-8A9E-A48F273DADD2}"/>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15375B"/>
                </a:solidFill>
                <a:latin typeface="Manrope"/>
                <a:ea typeface="Manrope"/>
                <a:cs typeface="Manrope"/>
              </a:defRPr>
            </a:defPPr>
          </a:lstStyle>
          <a:p xmlns:a="http://schemas.openxmlformats.org/drawingml/2006/main">
            <a:pPr>
              <a:lnSpc>
                <a:spcPct val="105000"/>
              </a:lnSpc>
              <a:buNone/>
              <a:defRPr sz="900" b="1">
                <a:solidFill>
                  <a:srgbClr val="15375B"/>
                </a:solidFill>
                <a:latin typeface="Manrope"/>
                <a:ea typeface="Manrope"/>
                <a:cs typeface="Manrope"/>
              </a:defRPr>
            </a:pPr>
            <a:r>
              <a:rPr sz="900" b="1">
                <a:solidFill>
                  <a:srgbClr val="15375B"/>
                </a:solidFill>
                <a:latin typeface="Manrope"/>
                <a:ea typeface="Manrope"/>
                <a:cs typeface="Manrope"/>
              </a:rPr>
              <a:t>KHAWAJA SAIM</a:t>
            </a:r>
          </a:p>
        </p:txBody>
      </p:sp>
      <p:sp>
        <p:nvSpPr>
          <p:cNvPr id="4" name="20">
            <a:extLst xmlns:a="http://schemas.openxmlformats.org/drawingml/2006/main">
              <a:ext uri="{FF2B5EF4-FFF2-40B4-BE49-F238E27FC236}">
                <a16:creationId xmlns:a16="http://schemas.microsoft.com/office/drawing/2014/main" id="{868F072A-0A35-4DBD-8BBE-5E49BCB97675}"/>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15375B"/>
                </a:solidFill>
                <a:latin typeface="Manrope"/>
                <a:ea typeface="Manrope"/>
                <a:cs typeface="Manrope"/>
              </a:defRPr>
            </a:defPPr>
          </a:lstStyle>
          <a:p xmlns:a="http://schemas.openxmlformats.org/drawingml/2006/main">
            <a:pPr>
              <a:lnSpc>
                <a:spcPct val="105000"/>
              </a:lnSpc>
              <a:buNone/>
              <a:defRPr sz="1050" b="0">
                <a:solidFill>
                  <a:srgbClr val="15375B"/>
                </a:solidFill>
                <a:latin typeface="Manrope"/>
                <a:ea typeface="Manrope"/>
                <a:cs typeface="Manrope"/>
              </a:defRPr>
            </a:pPr>
            <a:r>
              <a:rPr sz="1050" b="0">
                <a:solidFill>
                  <a:srgbClr val="15375B"/>
                </a:solidFill>
                <a:latin typeface="Manrope"/>
                <a:ea typeface="Manrope"/>
                <a:cs typeface="Manrope"/>
              </a:rPr>
              <a:t>20</a:t>
            </a:r>
          </a:p>
        </p:txBody>
      </p:sp>
      <p:sp>
        <p:nvSpPr>
          <p:cNvPr id="5" name="Data before decisions">
            <a:extLst xmlns:a="http://schemas.openxmlformats.org/drawingml/2006/main">
              <a:ext uri="{FF2B5EF4-FFF2-40B4-BE49-F238E27FC236}">
                <a16:creationId xmlns:a16="http://schemas.microsoft.com/office/drawing/2014/main" id="{D263CE92-A708-4ACF-AECD-FBBA747F0E2F}"/>
              </a:ext>
            </a:extLst>
          </p:cNvPr>
          <p:cNvSpPr>
            <a:spLocks xmlns:a="http://schemas.openxmlformats.org/drawingml/2006/main" noGrp="1"/>
          </p:cNvSpPr>
          <p:nvPr/>
        </p:nvSpPr>
        <p:spPr>
          <a:xfrm xmlns:a="http://schemas.openxmlformats.org/drawingml/2006/main">
            <a:off x="609600" y="2543175"/>
            <a:ext cx="489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5375B"/>
                </a:solidFill>
                <a:latin typeface="Manrope"/>
                <a:ea typeface="Manrope"/>
                <a:cs typeface="Manrope"/>
              </a:defRPr>
            </a:defPPr>
          </a:lstStyle>
          <a:p xmlns:a="http://schemas.openxmlformats.org/drawingml/2006/main">
            <a:pPr>
              <a:lnSpc>
                <a:spcPct val="105000"/>
              </a:lnSpc>
              <a:buNone/>
              <a:defRPr sz="1875" b="1">
                <a:solidFill>
                  <a:srgbClr val="15375B"/>
                </a:solidFill>
                <a:latin typeface="Manrope"/>
                <a:ea typeface="Manrope"/>
                <a:cs typeface="Manrope"/>
              </a:defRPr>
            </a:pPr>
            <a:r>
              <a:rPr sz="1875" b="1" spc="0">
                <a:solidFill>
                  <a:srgbClr val="15375B"/>
                </a:solidFill>
                <a:latin typeface="Manrope"/>
                <a:ea typeface="Manrope"/>
                <a:cs typeface="Manrope"/>
              </a:rPr>
              <a:t>Data before decisions</a:t>
            </a:r>
          </a:p>
        </p:txBody>
      </p:sp>
      <p:sp>
        <p:nvSpPr>
          <p:cNvPr id="6" name="Campaign and audience data guide where budget and effort go.">
            <a:extLst xmlns:a="http://schemas.openxmlformats.org/drawingml/2006/main">
              <a:ext uri="{FF2B5EF4-FFF2-40B4-BE49-F238E27FC236}">
                <a16:creationId xmlns:a16="http://schemas.microsoft.com/office/drawing/2014/main" id="{55CF2175-1215-4DB0-9EC5-776E1CE0A634}"/>
              </a:ext>
            </a:extLst>
          </p:cNvPr>
          <p:cNvSpPr>
            <a:spLocks xmlns:a="http://schemas.openxmlformats.org/drawingml/2006/main" noGrp="1"/>
          </p:cNvSpPr>
          <p:nvPr/>
        </p:nvSpPr>
        <p:spPr>
          <a:xfrm xmlns:a="http://schemas.openxmlformats.org/drawingml/2006/main">
            <a:off x="609600" y="3057525"/>
            <a:ext cx="48958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06079"/>
                </a:solidFill>
                <a:latin typeface="Manrope"/>
                <a:ea typeface="Manrope"/>
                <a:cs typeface="Manrope"/>
              </a:defRPr>
            </a:defPPr>
          </a:lstStyle>
          <a:p xmlns:a="http://schemas.openxmlformats.org/drawingml/2006/main">
            <a:pPr>
              <a:lnSpc>
                <a:spcPct val="105000"/>
              </a:lnSpc>
              <a:buNone/>
              <a:defRPr sz="1650" b="0">
                <a:solidFill>
                  <a:srgbClr val="506079"/>
                </a:solidFill>
                <a:latin typeface="Manrope"/>
                <a:ea typeface="Manrope"/>
                <a:cs typeface="Manrope"/>
              </a:defRPr>
            </a:pPr>
            <a:r>
              <a:rPr sz="1650" b="0" spc="70">
                <a:solidFill>
                  <a:srgbClr val="506079"/>
                </a:solidFill>
                <a:latin typeface="Manrope"/>
                <a:ea typeface="Manrope"/>
                <a:cs typeface="Manrope"/>
              </a:rPr>
              <a:t>Campaign and audience data guide where budget and effort go.</a:t>
            </a:r>
          </a:p>
        </p:txBody>
      </p:sp>
      <p:sp>
        <p:nvSpPr>
          <p:cNvPr id="7" name="Channel flexibility">
            <a:extLst xmlns:a="http://schemas.openxmlformats.org/drawingml/2006/main">
              <a:ext uri="{FF2B5EF4-FFF2-40B4-BE49-F238E27FC236}">
                <a16:creationId xmlns:a16="http://schemas.microsoft.com/office/drawing/2014/main" id="{F36AB6CB-C6C9-459F-BA57-437162AFC675}"/>
              </a:ext>
            </a:extLst>
          </p:cNvPr>
          <p:cNvSpPr>
            <a:spLocks xmlns:a="http://schemas.openxmlformats.org/drawingml/2006/main" noGrp="1"/>
          </p:cNvSpPr>
          <p:nvPr/>
        </p:nvSpPr>
        <p:spPr>
          <a:xfrm xmlns:a="http://schemas.openxmlformats.org/drawingml/2006/main">
            <a:off x="6543675" y="2543175"/>
            <a:ext cx="489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5375B"/>
                </a:solidFill>
                <a:latin typeface="Manrope"/>
                <a:ea typeface="Manrope"/>
                <a:cs typeface="Manrope"/>
              </a:defRPr>
            </a:defPPr>
          </a:lstStyle>
          <a:p xmlns:a="http://schemas.openxmlformats.org/drawingml/2006/main">
            <a:pPr>
              <a:lnSpc>
                <a:spcPct val="105000"/>
              </a:lnSpc>
              <a:buNone/>
              <a:defRPr sz="1875" b="1">
                <a:solidFill>
                  <a:srgbClr val="15375B"/>
                </a:solidFill>
                <a:latin typeface="Manrope"/>
                <a:ea typeface="Manrope"/>
                <a:cs typeface="Manrope"/>
              </a:defRPr>
            </a:pPr>
            <a:r>
              <a:rPr sz="1875" b="1" spc="0">
                <a:solidFill>
                  <a:srgbClr val="15375B"/>
                </a:solidFill>
                <a:latin typeface="Manrope"/>
                <a:ea typeface="Manrope"/>
                <a:cs typeface="Manrope"/>
              </a:rPr>
              <a:t>Channel flexibility</a:t>
            </a:r>
          </a:p>
        </p:txBody>
      </p:sp>
      <p:sp>
        <p:nvSpPr>
          <p:cNvPr id="8" name="Choose platforms around the business objective and campaign response.">
            <a:extLst xmlns:a="http://schemas.openxmlformats.org/drawingml/2006/main">
              <a:ext uri="{FF2B5EF4-FFF2-40B4-BE49-F238E27FC236}">
                <a16:creationId xmlns:a16="http://schemas.microsoft.com/office/drawing/2014/main" id="{31954CF1-E7E4-4DA7-9D30-5D5BE0B206F4}"/>
              </a:ext>
            </a:extLst>
          </p:cNvPr>
          <p:cNvSpPr>
            <a:spLocks xmlns:a="http://schemas.openxmlformats.org/drawingml/2006/main" noGrp="1"/>
          </p:cNvSpPr>
          <p:nvPr/>
        </p:nvSpPr>
        <p:spPr>
          <a:xfrm xmlns:a="http://schemas.openxmlformats.org/drawingml/2006/main">
            <a:off x="6543675" y="3057525"/>
            <a:ext cx="48958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06079"/>
                </a:solidFill>
                <a:latin typeface="Manrope"/>
                <a:ea typeface="Manrope"/>
                <a:cs typeface="Manrope"/>
              </a:defRPr>
            </a:defPPr>
          </a:lstStyle>
          <a:p xmlns:a="http://schemas.openxmlformats.org/drawingml/2006/main">
            <a:pPr>
              <a:lnSpc>
                <a:spcPct val="105000"/>
              </a:lnSpc>
              <a:buNone/>
              <a:defRPr sz="1650" b="0">
                <a:solidFill>
                  <a:srgbClr val="506079"/>
                </a:solidFill>
                <a:latin typeface="Manrope"/>
                <a:ea typeface="Manrope"/>
                <a:cs typeface="Manrope"/>
              </a:defRPr>
            </a:pPr>
            <a:r>
              <a:rPr sz="1650" b="0" spc="70">
                <a:solidFill>
                  <a:srgbClr val="506079"/>
                </a:solidFill>
                <a:latin typeface="Manrope"/>
                <a:ea typeface="Manrope"/>
                <a:cs typeface="Manrope"/>
              </a:rPr>
              <a:t>Choose platforms around the business objective and campaign response.</a:t>
            </a:r>
          </a:p>
        </p:txBody>
      </p:sp>
      <p:sp>
        <p:nvSpPr>
          <p:cNvPr id="9" name="Economics first">
            <a:extLst xmlns:a="http://schemas.openxmlformats.org/drawingml/2006/main">
              <a:ext uri="{FF2B5EF4-FFF2-40B4-BE49-F238E27FC236}">
                <a16:creationId xmlns:a16="http://schemas.microsoft.com/office/drawing/2014/main" id="{9D50ED74-3AB0-47A2-AF67-7097B01C0AFA}"/>
              </a:ext>
            </a:extLst>
          </p:cNvPr>
          <p:cNvSpPr>
            <a:spLocks xmlns:a="http://schemas.openxmlformats.org/drawingml/2006/main" noGrp="1"/>
          </p:cNvSpPr>
          <p:nvPr/>
        </p:nvSpPr>
        <p:spPr>
          <a:xfrm xmlns:a="http://schemas.openxmlformats.org/drawingml/2006/main">
            <a:off x="609600" y="4610100"/>
            <a:ext cx="489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5375B"/>
                </a:solidFill>
                <a:latin typeface="Manrope"/>
                <a:ea typeface="Manrope"/>
                <a:cs typeface="Manrope"/>
              </a:defRPr>
            </a:defPPr>
          </a:lstStyle>
          <a:p xmlns:a="http://schemas.openxmlformats.org/drawingml/2006/main">
            <a:pPr>
              <a:lnSpc>
                <a:spcPct val="105000"/>
              </a:lnSpc>
              <a:buNone/>
              <a:defRPr sz="1875" b="1">
                <a:solidFill>
                  <a:srgbClr val="15375B"/>
                </a:solidFill>
                <a:latin typeface="Manrope"/>
                <a:ea typeface="Manrope"/>
                <a:cs typeface="Manrope"/>
              </a:defRPr>
            </a:pPr>
            <a:r>
              <a:rPr sz="1875" b="1" spc="0">
                <a:solidFill>
                  <a:srgbClr val="15375B"/>
                </a:solidFill>
                <a:latin typeface="Manrope"/>
                <a:ea typeface="Manrope"/>
                <a:cs typeface="Manrope"/>
              </a:rPr>
              <a:t>Economics first</a:t>
            </a:r>
          </a:p>
        </p:txBody>
      </p:sp>
      <p:sp>
        <p:nvSpPr>
          <p:cNvPr id="10" name="Review acquisition cost, conversion rate, revenue and ROAS.">
            <a:extLst xmlns:a="http://schemas.openxmlformats.org/drawingml/2006/main">
              <a:ext uri="{FF2B5EF4-FFF2-40B4-BE49-F238E27FC236}">
                <a16:creationId xmlns:a16="http://schemas.microsoft.com/office/drawing/2014/main" id="{A19FEACB-A1C2-4D18-BC7B-D978C00579D8}"/>
              </a:ext>
            </a:extLst>
          </p:cNvPr>
          <p:cNvSpPr>
            <a:spLocks xmlns:a="http://schemas.openxmlformats.org/drawingml/2006/main" noGrp="1"/>
          </p:cNvSpPr>
          <p:nvPr/>
        </p:nvSpPr>
        <p:spPr>
          <a:xfrm xmlns:a="http://schemas.openxmlformats.org/drawingml/2006/main">
            <a:off x="609600" y="5124450"/>
            <a:ext cx="48958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06079"/>
                </a:solidFill>
                <a:latin typeface="Manrope"/>
                <a:ea typeface="Manrope"/>
                <a:cs typeface="Manrope"/>
              </a:defRPr>
            </a:defPPr>
          </a:lstStyle>
          <a:p xmlns:a="http://schemas.openxmlformats.org/drawingml/2006/main">
            <a:pPr>
              <a:lnSpc>
                <a:spcPct val="105000"/>
              </a:lnSpc>
              <a:buNone/>
              <a:defRPr sz="1650" b="0">
                <a:solidFill>
                  <a:srgbClr val="506079"/>
                </a:solidFill>
                <a:latin typeface="Manrope"/>
                <a:ea typeface="Manrope"/>
                <a:cs typeface="Manrope"/>
              </a:defRPr>
            </a:pPr>
            <a:r>
              <a:rPr sz="1650" b="0" spc="70">
                <a:solidFill>
                  <a:srgbClr val="506079"/>
                </a:solidFill>
                <a:latin typeface="Manrope"/>
                <a:ea typeface="Manrope"/>
                <a:cs typeface="Manrope"/>
              </a:rPr>
              <a:t>Review acquisition cost, conversion rate, revenue and ROAS.</a:t>
            </a:r>
          </a:p>
        </p:txBody>
      </p:sp>
      <p:sp>
        <p:nvSpPr>
          <p:cNvPr id="11" name="Creative quality">
            <a:extLst xmlns:a="http://schemas.openxmlformats.org/drawingml/2006/main">
              <a:ext uri="{FF2B5EF4-FFF2-40B4-BE49-F238E27FC236}">
                <a16:creationId xmlns:a16="http://schemas.microsoft.com/office/drawing/2014/main" id="{C93D5FBB-9CC7-45A4-A3E6-9DDB9B9C47A5}"/>
              </a:ext>
            </a:extLst>
          </p:cNvPr>
          <p:cNvSpPr>
            <a:spLocks xmlns:a="http://schemas.openxmlformats.org/drawingml/2006/main" noGrp="1"/>
          </p:cNvSpPr>
          <p:nvPr/>
        </p:nvSpPr>
        <p:spPr>
          <a:xfrm xmlns:a="http://schemas.openxmlformats.org/drawingml/2006/main">
            <a:off x="6543675" y="4610100"/>
            <a:ext cx="489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5375B"/>
                </a:solidFill>
                <a:latin typeface="Manrope"/>
                <a:ea typeface="Manrope"/>
                <a:cs typeface="Manrope"/>
              </a:defRPr>
            </a:defPPr>
          </a:lstStyle>
          <a:p xmlns:a="http://schemas.openxmlformats.org/drawingml/2006/main">
            <a:pPr>
              <a:lnSpc>
                <a:spcPct val="105000"/>
              </a:lnSpc>
              <a:buNone/>
              <a:defRPr sz="1875" b="1">
                <a:solidFill>
                  <a:srgbClr val="15375B"/>
                </a:solidFill>
                <a:latin typeface="Manrope"/>
                <a:ea typeface="Manrope"/>
                <a:cs typeface="Manrope"/>
              </a:defRPr>
            </a:pPr>
            <a:r>
              <a:rPr sz="1875" b="1" spc="0">
                <a:solidFill>
                  <a:srgbClr val="15375B"/>
                </a:solidFill>
                <a:latin typeface="Manrope"/>
                <a:ea typeface="Manrope"/>
                <a:cs typeface="Manrope"/>
              </a:rPr>
              <a:t>Creative quality</a:t>
            </a:r>
          </a:p>
        </p:txBody>
      </p:sp>
      <p:sp>
        <p:nvSpPr>
          <p:cNvPr id="12" name="Test messages and formats that help the audience understand the offer.">
            <a:extLst xmlns:a="http://schemas.openxmlformats.org/drawingml/2006/main">
              <a:ext uri="{FF2B5EF4-FFF2-40B4-BE49-F238E27FC236}">
                <a16:creationId xmlns:a16="http://schemas.microsoft.com/office/drawing/2014/main" id="{AFA3DCC8-EAF1-49DE-B33B-7A314F4F758F}"/>
              </a:ext>
            </a:extLst>
          </p:cNvPr>
          <p:cNvSpPr>
            <a:spLocks xmlns:a="http://schemas.openxmlformats.org/drawingml/2006/main" noGrp="1"/>
          </p:cNvSpPr>
          <p:nvPr/>
        </p:nvSpPr>
        <p:spPr>
          <a:xfrm xmlns:a="http://schemas.openxmlformats.org/drawingml/2006/main">
            <a:off x="6543675" y="5124450"/>
            <a:ext cx="48958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06079"/>
                </a:solidFill>
                <a:latin typeface="Manrope"/>
                <a:ea typeface="Manrope"/>
                <a:cs typeface="Manrope"/>
              </a:defRPr>
            </a:defPPr>
          </a:lstStyle>
          <a:p xmlns:a="http://schemas.openxmlformats.org/drawingml/2006/main">
            <a:pPr>
              <a:lnSpc>
                <a:spcPct val="105000"/>
              </a:lnSpc>
              <a:buNone/>
              <a:defRPr sz="1650" b="0">
                <a:solidFill>
                  <a:srgbClr val="506079"/>
                </a:solidFill>
                <a:latin typeface="Manrope"/>
                <a:ea typeface="Manrope"/>
                <a:cs typeface="Manrope"/>
              </a:defRPr>
            </a:pPr>
            <a:r>
              <a:rPr sz="1650" b="0" spc="70">
                <a:solidFill>
                  <a:srgbClr val="506079"/>
                </a:solidFill>
                <a:latin typeface="Manrope"/>
                <a:ea typeface="Manrope"/>
                <a:cs typeface="Manrope"/>
              </a:rPr>
              <a:t>Test messages and formats that help the audience understand the offer.</a:t>
            </a:r>
          </a:p>
        </p:txBody>
      </p:sp>
    </p:spTree>
    <p:extLst>
      <p:ext uri="{BB962C8B-B14F-4D97-AF65-F5344CB8AC3E}">
        <p14:creationId xmlns:p14="http://schemas.microsoft.com/office/powerpoint/2010/main" val="630488872"/>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50" fill="hold"/>
                                  <p:tgtEl>
                                    <p:spTgt spid="2"/>
                                  </p:tgtEl>
                                </p:cBhvr>
                              </p:animEffect>
                              <p:anim calcmode="lin" valueType="num">
                                <p:cBhvr additive="base">
                                  <p:cTn id="7" dur="550" fill="hold" decel="60000"/>
                                  <p:tgtEl>
                                    <p:spTgt spid="2"/>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fill="hold"/>
                                  <p:tgtEl>
                                    <p:spTgt spid="5"/>
                                  </p:tgtEl>
                                </p:cBhvr>
                              </p:animEffect>
                            </p:childTnLst>
                          </p:cTn>
                        </p:par>
                        <p:par>
                          <p:cTn id="11" presetID="10" presetClass="entr" presetSubtype="0" fill="hold" grpId="0" nodeType="withEffect">
                            <p:stCondLst>
                              <p:cond delay="38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50" fill="hold"/>
                                  <p:tgtEl>
                                    <p:spTgt spid="6"/>
                                  </p:tgtEl>
                                </p:cBhvr>
                              </p:animEffect>
                            </p:childTnLst>
                          </p:cTn>
                        </p:par>
                        <p:par>
                          <p:cTn id="14" presetID="10" presetClass="entr" presetSubtype="0" fill="hold" grpId="0" nodeType="withEffect">
                            <p:stCondLst>
                              <p:cond delay="495"/>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50" fill="hold"/>
                                  <p:tgtEl>
                                    <p:spTgt spid="7"/>
                                  </p:tgtEl>
                                </p:cBhvr>
                              </p:animEffect>
                            </p:childTnLst>
                          </p:cTn>
                        </p:par>
                        <p:par>
                          <p:cTn id="17" presetID="10" presetClass="entr" presetSubtype="0" fill="hold" grpId="0" nodeType="withEffect">
                            <p:stCondLst>
                              <p:cond delay="61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50" fill="hold"/>
                                  <p:tgtEl>
                                    <p:spTgt spid="8"/>
                                  </p:tgtEl>
                                </p:cBhvr>
                              </p:animEffect>
                            </p:childTnLst>
                          </p:cTn>
                        </p:par>
                        <p:par>
                          <p:cTn id="20" presetID="10" presetClass="entr" presetSubtype="0" fill="hold" grpId="0" nodeType="withEffect">
                            <p:stCondLst>
                              <p:cond delay="725"/>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50" fill="hold"/>
                                  <p:tgtEl>
                                    <p:spTgt spid="9"/>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50" fill="hold"/>
                                  <p:tgtEl>
                                    <p:spTgt spid="10"/>
                                  </p:tgtEl>
                                </p:cBhvr>
                              </p:animEffect>
                            </p:childTnLst>
                          </p:cTn>
                        </p:par>
                        <p:par>
                          <p:cTn id="26" presetID="10" presetClass="entr" presetSubtype="0" fill="hold" grpId="0" nodeType="withEffect">
                            <p:stCondLst>
                              <p:cond delay="955"/>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50" fill="hold"/>
                                  <p:tgtEl>
                                    <p:spTgt spid="11"/>
                                  </p:tgtEl>
                                </p:cBhvr>
                              </p:animEffect>
                            </p:childTnLst>
                          </p:cTn>
                        </p:par>
                        <p:par>
                          <p:cTn id="29" presetID="10" presetClass="entr" presetSubtype="0" fill="hold" grpId="0" nodeType="withEffect">
                            <p:stCondLst>
                              <p:cond delay="107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50" fill="hold"/>
                                  <p:tgtEl>
                                    <p:spTgt spid="1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P spid="5" grpId="0" build="allAtOnce"/>
      <p:bldP spid="6" grpId="0" build="allAtOnce"/>
      <p:bldP spid="7" grpId="0" build="allAtOnce"/>
      <p:bldP spid="8" grpId="0" build="allAtOnce"/>
      <p:bldP spid="9" grpId="0" build="allAtOnce"/>
      <p:bldP spid="10" grpId="0" build="allAtOnce"/>
      <p:bldP spid="11" grpId="0" build="allAtOnce"/>
      <p:bldP spid="12" grpId="0" build="allAtOnce"/>
    </p:bldLst>
  </p:timing>
</p:sld>
</file>

<file path=ppt/slides/slide21.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A3BA41E-A6F3-4CF7-8603-749518D18BF2}"/>
              </a:ext>
            </a:extLst>
          </p:cNvPr>
          <p:cNvPicPr>
            <a:picLocks xmlns:a="http://schemas.openxmlformats.org/drawingml/2006/main" noChangeAspect="1"/>
          </p:cNvPicPr>
          <p:nvPr/>
        </p:nvPicPr>
        <p:blipFill>
          <a:blip xmlns:r="http://schemas.openxmlformats.org/officeDocument/2006/relationships" xmlns:a="http://schemas.openxmlformats.org/drawingml/2006/main" r:embed="R2a97c9e2307d4fd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ACB77CF-D1B7-4F3C-9927-9BEA411764A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D15">
              <a:alpha val="45000"/>
            </a:srgbClr>
          </a:solidFill>
          <a:ln xmlns:a="http://schemas.openxmlformats.org/drawingml/2006/main" w="0">
            <a:noFill/>
          </a:ln>
        </p:spPr>
      </p:sp>
      <p:sp>
        <p:nvSpPr>
          <p:cNvPr id="3" name="20 / LET’S WORK TOGETHER">
            <a:extLst xmlns:a="http://schemas.openxmlformats.org/drawingml/2006/main">
              <a:ext uri="{FF2B5EF4-FFF2-40B4-BE49-F238E27FC236}">
                <a16:creationId xmlns:a16="http://schemas.microsoft.com/office/drawing/2014/main" id="{CA4183FE-8851-43A3-B832-9C481EAE4EB4}"/>
              </a:ext>
            </a:extLst>
          </p:cNvPr>
          <p:cNvSpPr>
            <a:spLocks xmlns:a="http://schemas.openxmlformats.org/drawingml/2006/main" noGrp="1"/>
          </p:cNvSpPr>
          <p:nvPr/>
        </p:nvSpPr>
        <p:spPr>
          <a:xfrm xmlns:a="http://schemas.openxmlformats.org/drawingml/2006/main">
            <a:off x="609600" y="3810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1">
                <a:solidFill>
                  <a:srgbClr val="A9B8CA"/>
                </a:solidFill>
                <a:latin typeface="Manrope"/>
                <a:ea typeface="Manrope"/>
                <a:cs typeface="Manrope"/>
              </a:defRPr>
            </a:defPPr>
          </a:lstStyle>
          <a:p xmlns:a="http://schemas.openxmlformats.org/drawingml/2006/main">
            <a:pPr>
              <a:lnSpc>
                <a:spcPct val="105000"/>
              </a:lnSpc>
              <a:buNone/>
              <a:defRPr sz="1050" b="1">
                <a:solidFill>
                  <a:srgbClr val="A9B8CA"/>
                </a:solidFill>
                <a:latin typeface="Manrope"/>
                <a:ea typeface="Manrope"/>
                <a:cs typeface="Manrope"/>
              </a:defRPr>
            </a:pPr>
            <a:r>
              <a:rPr sz="1050" b="1">
                <a:solidFill>
                  <a:srgbClr val="A9B8CA"/>
                </a:solidFill>
                <a:latin typeface="Manrope"/>
                <a:ea typeface="Manrope"/>
                <a:cs typeface="Manrope"/>
              </a:rPr>
              <a:t>20 / LET’S WORK TOGETHER</a:t>
            </a:r>
          </a:p>
        </p:txBody>
      </p:sp>
      <p:sp>
        <p:nvSpPr>
          <p:cNvPr id="4" name="KHAWAJA SAIM">
            <a:extLst xmlns:a="http://schemas.openxmlformats.org/drawingml/2006/main">
              <a:ext uri="{FF2B5EF4-FFF2-40B4-BE49-F238E27FC236}">
                <a16:creationId xmlns:a16="http://schemas.microsoft.com/office/drawing/2014/main" id="{5FEA046E-8DF1-4285-A2DC-62683FBCD916}"/>
              </a:ext>
            </a:extLst>
          </p:cNvPr>
          <p:cNvSpPr>
            <a:spLocks xmlns:a="http://schemas.openxmlformats.org/drawingml/2006/main" noGrp="1"/>
          </p:cNvSpPr>
          <p:nvPr/>
        </p:nvSpPr>
        <p:spPr>
          <a:xfrm xmlns:a="http://schemas.openxmlformats.org/drawingml/2006/main">
            <a:off x="609600" y="64293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00" b="1">
                <a:solidFill>
                  <a:srgbClr val="A9B8CA"/>
                </a:solidFill>
                <a:latin typeface="Manrope"/>
                <a:ea typeface="Manrope"/>
                <a:cs typeface="Manrope"/>
              </a:defRPr>
            </a:defPPr>
          </a:lstStyle>
          <a:p xmlns:a="http://schemas.openxmlformats.org/drawingml/2006/main">
            <a:pPr>
              <a:lnSpc>
                <a:spcPct val="105000"/>
              </a:lnSpc>
              <a:buNone/>
              <a:defRPr sz="900" b="1">
                <a:solidFill>
                  <a:srgbClr val="A9B8CA"/>
                </a:solidFill>
                <a:latin typeface="Manrope"/>
                <a:ea typeface="Manrope"/>
                <a:cs typeface="Manrope"/>
              </a:defRPr>
            </a:pPr>
            <a:r>
              <a:rPr sz="900" b="1">
                <a:solidFill>
                  <a:srgbClr val="A9B8CA"/>
                </a:solidFill>
                <a:latin typeface="Manrope"/>
                <a:ea typeface="Manrope"/>
                <a:cs typeface="Manrope"/>
              </a:rPr>
              <a:t>KHAWAJA SAIM</a:t>
            </a:r>
          </a:p>
        </p:txBody>
      </p:sp>
      <p:sp>
        <p:nvSpPr>
          <p:cNvPr id="5" name="21">
            <a:extLst xmlns:a="http://schemas.openxmlformats.org/drawingml/2006/main">
              <a:ext uri="{FF2B5EF4-FFF2-40B4-BE49-F238E27FC236}">
                <a16:creationId xmlns:a16="http://schemas.microsoft.com/office/drawing/2014/main" id="{904F86A5-22C2-47F0-A12F-311A5504713A}"/>
              </a:ext>
            </a:extLst>
          </p:cNvPr>
          <p:cNvSpPr>
            <a:spLocks xmlns:a="http://schemas.openxmlformats.org/drawingml/2006/main" noGrp="1"/>
          </p:cNvSpPr>
          <p:nvPr/>
        </p:nvSpPr>
        <p:spPr>
          <a:xfrm xmlns:a="http://schemas.openxmlformats.org/drawingml/2006/main">
            <a:off x="1114425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A9B8CA"/>
                </a:solidFill>
                <a:latin typeface="Manrope"/>
                <a:ea typeface="Manrope"/>
                <a:cs typeface="Manrope"/>
              </a:defRPr>
            </a:defPPr>
          </a:lstStyle>
          <a:p xmlns:a="http://schemas.openxmlformats.org/drawingml/2006/main">
            <a:pPr>
              <a:lnSpc>
                <a:spcPct val="105000"/>
              </a:lnSpc>
              <a:buNone/>
              <a:defRPr sz="1050" b="0">
                <a:solidFill>
                  <a:srgbClr val="A9B8CA"/>
                </a:solidFill>
                <a:latin typeface="Manrope"/>
                <a:ea typeface="Manrope"/>
                <a:cs typeface="Manrope"/>
              </a:defRPr>
            </a:pPr>
            <a:r>
              <a:rPr sz="1050" b="0">
                <a:solidFill>
                  <a:srgbClr val="A9B8CA"/>
                </a:solidFill>
                <a:latin typeface="Manrope"/>
                <a:ea typeface="Manrope"/>
                <a:cs typeface="Manrope"/>
              </a:rPr>
              <a:t>21</a:t>
            </a:r>
          </a:p>
        </p:txBody>
      </p:sp>
      <p:sp>
        <p:nvSpPr>
          <p:cNvPr id="6" name="Your next&#10;growth campaign&#10;starts here.">
            <a:extLst xmlns:a="http://schemas.openxmlformats.org/drawingml/2006/main">
              <a:ext uri="{FF2B5EF4-FFF2-40B4-BE49-F238E27FC236}">
                <a16:creationId xmlns:a16="http://schemas.microsoft.com/office/drawing/2014/main" id="{AFA5BA90-F7C2-45CF-B3D8-7A19E8D83A34}"/>
              </a:ext>
            </a:extLst>
          </p:cNvPr>
          <p:cNvSpPr>
            <a:spLocks xmlns:a="http://schemas.openxmlformats.org/drawingml/2006/main" noGrp="1"/>
          </p:cNvSpPr>
          <p:nvPr/>
        </p:nvSpPr>
        <p:spPr>
          <a:xfrm xmlns:a="http://schemas.openxmlformats.org/drawingml/2006/main">
            <a:off x="600075" y="1038225"/>
            <a:ext cx="107632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175" b="1">
                <a:gradFill>
                  <a:gsLst>
                    <a:gs pos="0">
                      <a:srgbClr val="F4F8FF"/>
                    </a:gs>
                    <a:gs pos="55000">
                      <a:srgbClr val="B2DFFF"/>
                    </a:gs>
                    <a:gs pos="100000">
                      <a:srgbClr val="548EE1"/>
                    </a:gs>
                  </a:gsLst>
                  <a:lin ang="0"/>
                </a:gradFill>
                <a:latin typeface="Sora"/>
                <a:ea typeface="Sora"/>
                <a:cs typeface="Sora"/>
              </a:defRPr>
            </a:defPPr>
          </a:lstStyle>
          <a:p xmlns:a="http://schemas.openxmlformats.org/drawingml/2006/main">
            <a:pPr>
              <a:lnSpc>
                <a:spcPct val="105000"/>
              </a:lnSpc>
              <a:buNone/>
              <a:defRPr sz="5175" b="1">
                <a:solidFill>
                  <a:srgbClr val="F3F5F7"/>
                </a:solidFill>
                <a:latin typeface="Sora"/>
                <a:ea typeface="Sora"/>
                <a:cs typeface="Sora"/>
              </a:defRPr>
            </a:pPr>
            <a:r>
              <a:rPr sz="5175" b="1" spc="-30">
                <a:gradFill>
                  <a:gsLst>
                    <a:gs pos="0">
                      <a:srgbClr val="F4F8FF"/>
                    </a:gs>
                    <a:gs pos="55000">
                      <a:srgbClr val="B2DFFF"/>
                    </a:gs>
                    <a:gs pos="100000">
                      <a:srgbClr val="548EE1"/>
                    </a:gs>
                  </a:gsLst>
                  <a:lin ang="0"/>
                </a:gradFill>
                <a:latin typeface="Sora"/>
                <a:ea typeface="Sora"/>
                <a:cs typeface="Sora"/>
              </a:rPr>
              <a:t>Your next</a:t>
            </a:r>
          </a:p>
          <a:p xmlns:a="http://schemas.openxmlformats.org/drawingml/2006/main">
            <a:pPr>
              <a:lnSpc>
                <a:spcPct val="105000"/>
              </a:lnSpc>
              <a:buNone/>
              <a:defRPr sz="5175" b="1">
                <a:solidFill>
                  <a:srgbClr val="F3F5F7"/>
                </a:solidFill>
                <a:latin typeface="Sora"/>
                <a:ea typeface="Sora"/>
                <a:cs typeface="Sora"/>
              </a:defRPr>
            </a:pPr>
            <a:r>
              <a:rPr sz="5175" b="1" spc="-30">
                <a:gradFill>
                  <a:gsLst>
                    <a:gs pos="0">
                      <a:srgbClr val="F4F8FF"/>
                    </a:gs>
                    <a:gs pos="55000">
                      <a:srgbClr val="B2DFFF"/>
                    </a:gs>
                    <a:gs pos="100000">
                      <a:srgbClr val="548EE1"/>
                    </a:gs>
                  </a:gsLst>
                  <a:lin ang="0"/>
                </a:gradFill>
                <a:latin typeface="Sora"/>
                <a:ea typeface="Sora"/>
                <a:cs typeface="Sora"/>
              </a:rPr>
              <a:t>growth campaign</a:t>
            </a:r>
          </a:p>
          <a:p xmlns:a="http://schemas.openxmlformats.org/drawingml/2006/main">
            <a:pPr>
              <a:lnSpc>
                <a:spcPct val="105000"/>
              </a:lnSpc>
              <a:buNone/>
              <a:defRPr sz="5175" b="1">
                <a:solidFill>
                  <a:srgbClr val="F3F5F7"/>
                </a:solidFill>
                <a:latin typeface="Sora"/>
                <a:ea typeface="Sora"/>
                <a:cs typeface="Sora"/>
              </a:defRPr>
            </a:pPr>
            <a:r>
              <a:rPr sz="5175" b="1" spc="-30">
                <a:gradFill>
                  <a:gsLst>
                    <a:gs pos="0">
                      <a:srgbClr val="F4F8FF"/>
                    </a:gs>
                    <a:gs pos="55000">
                      <a:srgbClr val="B2DFFF"/>
                    </a:gs>
                    <a:gs pos="100000">
                      <a:srgbClr val="548EE1"/>
                    </a:gs>
                  </a:gsLst>
                  <a:lin ang="0"/>
                </a:gradFill>
                <a:latin typeface="Sora"/>
                <a:ea typeface="Sora"/>
                <a:cs typeface="Sora"/>
              </a:rPr>
              <a:t>starts here.</a:t>
            </a:r>
          </a:p>
        </p:txBody>
      </p:sp>
      <p:sp>
        <p:nvSpPr>
          <p:cNvPr id="7" name="Paid ads, social media, SEO and practical AI automation">
            <a:extLst xmlns:a="http://schemas.openxmlformats.org/drawingml/2006/main">
              <a:ext uri="{FF2B5EF4-FFF2-40B4-BE49-F238E27FC236}">
                <a16:creationId xmlns:a16="http://schemas.microsoft.com/office/drawing/2014/main" id="{E59162C3-110A-4D2D-8577-23C9106B23ED}"/>
              </a:ext>
            </a:extLst>
          </p:cNvPr>
          <p:cNvSpPr>
            <a:spLocks xmlns:a="http://schemas.openxmlformats.org/drawingml/2006/main" noGrp="1"/>
          </p:cNvSpPr>
          <p:nvPr/>
        </p:nvSpPr>
        <p:spPr>
          <a:xfrm xmlns:a="http://schemas.openxmlformats.org/drawingml/2006/main">
            <a:off x="638175" y="4191000"/>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A8D4FF"/>
                </a:solidFill>
                <a:latin typeface="Manrope"/>
                <a:ea typeface="Manrope"/>
                <a:cs typeface="Manrope"/>
              </a:defRPr>
            </a:defPPr>
          </a:lstStyle>
          <a:p xmlns:a="http://schemas.openxmlformats.org/drawingml/2006/main">
            <a:pPr>
              <a:lnSpc>
                <a:spcPct val="105000"/>
              </a:lnSpc>
              <a:buNone/>
              <a:defRPr sz="2025" b="0">
                <a:solidFill>
                  <a:srgbClr val="A8D4FF"/>
                </a:solidFill>
                <a:latin typeface="Manrope"/>
                <a:ea typeface="Manrope"/>
                <a:cs typeface="Manrope"/>
              </a:defRPr>
            </a:pPr>
            <a:r>
              <a:rPr sz="2025" b="0" spc="0">
                <a:solidFill>
                  <a:srgbClr val="A8D4FF"/>
                </a:solidFill>
                <a:latin typeface="Manrope"/>
                <a:ea typeface="Manrope"/>
                <a:cs typeface="Manrope"/>
              </a:rPr>
              <a:t>Paid ads, social media, SEO and practical AI automation</a:t>
            </a:r>
          </a:p>
        </p:txBody>
      </p:sp>
      <p:sp>
        <p:nvSpPr>
          <p:cNvPr id="8" name="khawajas245@gmail.com">
            <a:extLst xmlns:a="http://schemas.openxmlformats.org/drawingml/2006/main">
              <a:ext uri="{FF2B5EF4-FFF2-40B4-BE49-F238E27FC236}">
                <a16:creationId xmlns:a16="http://schemas.microsoft.com/office/drawing/2014/main" id="{8F8E9511-293C-4658-B7AF-CF1488E49774}"/>
              </a:ext>
            </a:extLst>
          </p:cNvPr>
          <p:cNvSpPr>
            <a:spLocks xmlns:a="http://schemas.openxmlformats.org/drawingml/2006/main" noGrp="1"/>
          </p:cNvSpPr>
          <p:nvPr/>
        </p:nvSpPr>
        <p:spPr>
          <a:xfrm xmlns:a="http://schemas.openxmlformats.org/drawingml/2006/main">
            <a:off x="638175" y="5038725"/>
            <a:ext cx="10096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F3F5F7"/>
                </a:solidFill>
                <a:latin typeface="Manrope"/>
                <a:ea typeface="Manrope"/>
                <a:cs typeface="Manrope"/>
              </a:defRPr>
            </a:defPPr>
          </a:lstStyle>
          <a:p xmlns:a="http://schemas.openxmlformats.org/drawingml/2006/main">
            <a:pPr>
              <a:lnSpc>
                <a:spcPct val="105000"/>
              </a:lnSpc>
              <a:buNone/>
              <a:defRPr sz="2400" b="0">
                <a:solidFill>
                  <a:srgbClr val="F3F5F7"/>
                </a:solidFill>
                <a:latin typeface="Manrope"/>
                <a:ea typeface="Manrope"/>
                <a:cs typeface="Manrope"/>
              </a:defRPr>
            </a:pPr>
            <a:r>
              <a:rPr sz="2400" b="0" spc="0">
                <a:solidFill>
                  <a:srgbClr val="F3F5F7"/>
                </a:solidFill>
                <a:latin typeface="Manrope"/>
                <a:ea typeface="Manrope"/>
                <a:cs typeface="Manrope"/>
                <a:hlinkClick xmlns:r="http://schemas.openxmlformats.org/officeDocument/2006/relationships" r:id="R28886c85673348e4"/>
              </a:rPr>
              <a:t>khawajas245@gmail.com</a:t>
            </a:r>
          </a:p>
        </p:txBody>
      </p:sp>
      <p:sp>
        <p:nvSpPr>
          <p:cNvPr id="9" name="+92 304 4828634">
            <a:extLst xmlns:a="http://schemas.openxmlformats.org/drawingml/2006/main">
              <a:ext uri="{FF2B5EF4-FFF2-40B4-BE49-F238E27FC236}">
                <a16:creationId xmlns:a16="http://schemas.microsoft.com/office/drawing/2014/main" id="{39F63E02-B558-4377-9A9F-D99CFE69228B}"/>
              </a:ext>
            </a:extLst>
          </p:cNvPr>
          <p:cNvSpPr>
            <a:spLocks xmlns:a="http://schemas.openxmlformats.org/drawingml/2006/main" noGrp="1"/>
          </p:cNvSpPr>
          <p:nvPr/>
        </p:nvSpPr>
        <p:spPr>
          <a:xfrm xmlns:a="http://schemas.openxmlformats.org/drawingml/2006/main">
            <a:off x="638175" y="56197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A9B8CA"/>
                </a:solidFill>
                <a:latin typeface="Manrope"/>
                <a:ea typeface="Manrope"/>
                <a:cs typeface="Manrope"/>
              </a:defRPr>
            </a:defPPr>
          </a:lstStyle>
          <a:p xmlns:a="http://schemas.openxmlformats.org/drawingml/2006/main">
            <a:pPr>
              <a:lnSpc>
                <a:spcPct val="105000"/>
              </a:lnSpc>
              <a:buNone/>
              <a:defRPr sz="2100" b="0">
                <a:solidFill>
                  <a:srgbClr val="A9B8CA"/>
                </a:solidFill>
                <a:latin typeface="Manrope"/>
                <a:ea typeface="Manrope"/>
                <a:cs typeface="Manrope"/>
              </a:defRPr>
            </a:pPr>
            <a:r>
              <a:rPr sz="2100" b="0" spc="0">
                <a:solidFill>
                  <a:srgbClr val="A9B8CA"/>
                </a:solidFill>
                <a:latin typeface="Manrope"/>
                <a:ea typeface="Manrope"/>
                <a:cs typeface="Manrope"/>
                <a:hlinkClick xmlns:r="http://schemas.openxmlformats.org/officeDocument/2006/relationships" r:id="Ra7bbac6157f34391"/>
              </a:rPr>
              <a:t>+92 304 4828634</a:t>
            </a:r>
          </a:p>
        </p:txBody>
      </p:sp>
      <p:sp>
        <p:nvSpPr>
          <p:cNvPr id="10" name="Khawaja Saim">
            <a:extLst xmlns:a="http://schemas.openxmlformats.org/drawingml/2006/main">
              <a:ext uri="{FF2B5EF4-FFF2-40B4-BE49-F238E27FC236}">
                <a16:creationId xmlns:a16="http://schemas.microsoft.com/office/drawing/2014/main" id="{4BBF49BD-9FC8-4A71-A3ED-4B6524BA4A0D}"/>
              </a:ext>
            </a:extLst>
          </p:cNvPr>
          <p:cNvSpPr>
            <a:spLocks xmlns:a="http://schemas.openxmlformats.org/drawingml/2006/main" noGrp="1"/>
          </p:cNvSpPr>
          <p:nvPr/>
        </p:nvSpPr>
        <p:spPr>
          <a:xfrm xmlns:a="http://schemas.openxmlformats.org/drawingml/2006/main">
            <a:off x="8677275" y="53816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75" b="0">
                <a:solidFill>
                  <a:srgbClr val="A8D4FF"/>
                </a:solidFill>
                <a:latin typeface="Caveat"/>
                <a:ea typeface="Caveat"/>
                <a:cs typeface="Caveat"/>
              </a:defRPr>
            </a:defPPr>
          </a:lstStyle>
          <a:p xmlns:a="http://schemas.openxmlformats.org/drawingml/2006/main">
            <a:pPr>
              <a:lnSpc>
                <a:spcPct val="105000"/>
              </a:lnSpc>
              <a:buNone/>
              <a:defRPr sz="3075" b="0">
                <a:solidFill>
                  <a:srgbClr val="A8D4FF"/>
                </a:solidFill>
                <a:latin typeface="Caveat"/>
                <a:ea typeface="Caveat"/>
                <a:cs typeface="Caveat"/>
              </a:defRPr>
            </a:pPr>
            <a:r>
              <a:rPr sz="3075" b="0" spc="0">
                <a:solidFill>
                  <a:srgbClr val="A8D4FF"/>
                </a:solidFill>
                <a:latin typeface="Caveat"/>
                <a:ea typeface="Caveat"/>
                <a:cs typeface="Caveat"/>
              </a:rPr>
              <a:t>Khawaja Saim</a:t>
            </a:r>
          </a:p>
        </p:txBody>
      </p:sp>
    </p:spTree>
    <p:extLst>
      <p:ext uri="{BB962C8B-B14F-4D97-AF65-F5344CB8AC3E}">
        <p14:creationId xmlns:p14="http://schemas.microsoft.com/office/powerpoint/2010/main" val="697840378"/>
      </p:ext>
    </p:extLst>
  </p:cSld>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grpId="0" nodeType="with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720" fill="hold"/>
                                  <p:tgtEl>
                                    <p:spTgt spid="6"/>
                                  </p:tgtEl>
                                </p:cBhvr>
                              </p:animEffect>
                              <p:anim calcmode="lin" valueType="num">
                                <p:cBhvr additive="base">
                                  <p:cTn id="7" dur="720" fill="hold" decel="60000"/>
                                  <p:tgtEl>
                                    <p:spTgt spid="6"/>
                                  </p:tgtEl>
                                  <p:attrNameLst>
                                    <p:attrName>ppt_y</p:attrName>
                                  </p:attrNameLst>
                                </p:cBhvr>
                                <p:tavLst>
                                  <p:tav tm="0">
                                    <p:val>
                                      <p:strVal val="#ppt_y+0.025"/>
                                    </p:val>
                                  </p:tav>
                                  <p:tav tm="100000">
                                    <p:val>
                                      <p:strVal val="#ppt_y"/>
                                    </p:val>
                                  </p:tav>
                                </p:tavLst>
                              </p:anim>
                            </p:childTnLst>
                          </p:cTn>
                        </p:par>
                        <p:par>
                          <p:cTn id="8" presetID="10" presetClass="entr" presetSubtype="0" fill="hold" grpId="0" nodeType="withEffect">
                            <p:stCondLst>
                              <p:cond delay="265"/>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50" fill="hold"/>
                                  <p:tgtEl>
                                    <p:spTgt spid="7"/>
                                  </p:tgtEl>
                                </p:cBhvr>
                              </p:animEffect>
                            </p:childTnLst>
                          </p:cTn>
                        </p:par>
                        <p:par>
                          <p:cTn id="11" presetID="10" presetClass="entr" presetSubtype="0" fill="hold" grpId="0" nodeType="withEffect">
                            <p:stCondLst>
                              <p:cond delay="38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50" fill="hold"/>
                                  <p:tgtEl>
                                    <p:spTgt spid="8"/>
                                  </p:tgtEl>
                                </p:cBhvr>
                              </p:animEffect>
                              <p:anim calcmode="lin" valueType="num">
                                <p:cBhvr additive="base">
                                  <p:cTn id="14" dur="550" fill="hold" decel="60000"/>
                                  <p:tgtEl>
                                    <p:spTgt spid="8"/>
                                  </p:tgtEl>
                                  <p:attrNameLst>
                                    <p:attrName>ppt_y</p:attrName>
                                  </p:attrNameLst>
                                </p:cBhvr>
                                <p:tavLst>
                                  <p:tav tm="0">
                                    <p:val>
                                      <p:strVal val="#ppt_y+0.025"/>
                                    </p:val>
                                  </p:tav>
                                  <p:tav tm="100000">
                                    <p:val>
                                      <p:strVal val="#ppt_y"/>
                                    </p:val>
                                  </p:tav>
                                </p:tavLst>
                              </p:anim>
                            </p:childTnLst>
                          </p:cTn>
                        </p:par>
                        <p:par>
                          <p:cTn id="15" presetID="10" presetClass="entr" presetSubtype="0" fill="hold" grpId="0" nodeType="withEffect">
                            <p:stCondLst>
                              <p:cond delay="495"/>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50" fill="hold"/>
                                  <p:tgtEl>
                                    <p:spTgt spid="9"/>
                                  </p:tgtEl>
                                </p:cBhvr>
                              </p:animEffect>
                            </p:childTnLst>
                          </p:cTn>
                        </p:par>
                        <p:par>
                          <p:cTn id="18" presetID="10" presetClass="entr" presetSubtype="0" fill="hold" grpId="0" nodeType="withEffect">
                            <p:stCondLst>
                              <p:cond delay="61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50" fill="hold"/>
                                  <p:tgtEl>
                                    <p:spTgt spid="10"/>
                                  </p:tgtEl>
                                </p:cBhvr>
                              </p:animEffect>
                              <p:anim calcmode="lin" valueType="num">
                                <p:cBhvr additive="base">
                                  <p:cTn id="21" dur="550" fill="hold" decel="60000"/>
                                  <p:tgtEl>
                                    <p:spTgt spid="10"/>
                                  </p:tgtEl>
                                  <p:attrNameLst>
                                    <p:attrName>ppt_y</p:attrName>
                                  </p:attrNameLst>
                                </p:cBhvr>
                                <p:tavLst>
                                  <p:tav tm="0">
                                    <p:val>
                                      <p:strVal val="#ppt_y+0.025"/>
                                    </p:val>
                                  </p:tav>
                                  <p:tav tm="100000">
                                    <p:val>
                                      <p:strVal val="#ppt_y"/>
                                    </p:val>
                                  </p:tav>
                                </p:tavLst>
                              </p:anim>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P spid="9" grpId="0" build="allAtOnce"/>
      <p:bldP spid="10" grpId="0" build="allAtOnce"/>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nrope"/>
        <a:ea typeface=""/>
        <a:cs typeface=""/>
      </a:majorFont>
      <a:minorFont>
        <a:latin typeface="Manrop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2026-10-12T11:36:40.5190000Z</dcterms:created>
  <dcterms:modified xsi:type="dcterms:W3CDTF">2026-10-12T11:36:40.5190000Z</dcterms:modified>
</coreProperties>
</file>